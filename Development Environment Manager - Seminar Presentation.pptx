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Quattrocento Sans" charset="-122" pitchFamily="34"/>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B"/>
              </a:gs>
              <a:gs pos="50000">
                <a:srgbClr val="1D293D"/>
              </a:gs>
              <a:gs pos="100000">
                <a:srgbClr val="314158"/>
              </a:gs>
            </a:gsLst>
            <a:lin ang="2700000" scaled="1"/>
          </a:gradFill>
          <a:ln/>
        </p:spPr>
      </p:sp>
      <p:sp>
        <p:nvSpPr>
          <p:cNvPr id="3" name="Shape 1"/>
          <p:cNvSpPr/>
          <p:nvPr/>
        </p:nvSpPr>
        <p:spPr>
          <a:xfrm>
            <a:off x="960120" y="960120"/>
            <a:ext cx="1510665" cy="1510665"/>
          </a:xfrm>
          <a:custGeom>
            <a:avLst/>
            <a:gdLst/>
            <a:ahLst/>
            <a:cxnLst/>
            <a:rect l="l" t="t" r="r" b="b"/>
            <a:pathLst>
              <a:path w="1510665" h="1510665">
                <a:moveTo>
                  <a:pt x="755333" y="0"/>
                </a:moveTo>
                <a:lnTo>
                  <a:pt x="755333" y="0"/>
                </a:lnTo>
                <a:cubicBezTo>
                  <a:pt x="1172212" y="0"/>
                  <a:pt x="1510665" y="338453"/>
                  <a:pt x="1510665" y="755333"/>
                </a:cubicBezTo>
                <a:lnTo>
                  <a:pt x="1510665" y="755333"/>
                </a:lnTo>
                <a:cubicBezTo>
                  <a:pt x="1510665" y="1172212"/>
                  <a:pt x="1172212" y="1510665"/>
                  <a:pt x="755333" y="1510665"/>
                </a:cubicBezTo>
                <a:lnTo>
                  <a:pt x="755333" y="1510665"/>
                </a:lnTo>
                <a:cubicBezTo>
                  <a:pt x="338453" y="1510665"/>
                  <a:pt x="0" y="1172212"/>
                  <a:pt x="0" y="755333"/>
                </a:cubicBezTo>
                <a:lnTo>
                  <a:pt x="0" y="755333"/>
                </a:lnTo>
                <a:cubicBezTo>
                  <a:pt x="0" y="338453"/>
                  <a:pt x="338453" y="0"/>
                  <a:pt x="755332" y="0"/>
                </a:cubicBezTo>
                <a:close/>
              </a:path>
            </a:pathLst>
          </a:custGeom>
          <a:solidFill>
            <a:srgbClr val="000000">
              <a:alpha val="0"/>
            </a:srgbClr>
          </a:solidFill>
          <a:ln w="20320">
            <a:solidFill>
              <a:srgbClr val="636363"/>
            </a:solidFill>
            <a:prstDash val="solid"/>
          </a:ln>
        </p:spPr>
      </p:sp>
      <p:sp>
        <p:nvSpPr>
          <p:cNvPr id="4" name="Shape 2"/>
          <p:cNvSpPr/>
          <p:nvPr/>
        </p:nvSpPr>
        <p:spPr>
          <a:xfrm>
            <a:off x="8385810" y="3051810"/>
            <a:ext cx="2274570" cy="2274570"/>
          </a:xfrm>
          <a:custGeom>
            <a:avLst/>
            <a:gdLst/>
            <a:ahLst/>
            <a:cxnLst/>
            <a:rect l="l" t="t" r="r" b="b"/>
            <a:pathLst>
              <a:path w="2274570" h="2274570">
                <a:moveTo>
                  <a:pt x="1137285" y="0"/>
                </a:moveTo>
                <a:lnTo>
                  <a:pt x="1137285" y="0"/>
                </a:lnTo>
                <a:cubicBezTo>
                  <a:pt x="1764970" y="0"/>
                  <a:pt x="2274570" y="509600"/>
                  <a:pt x="2274570" y="1137285"/>
                </a:cubicBezTo>
                <a:lnTo>
                  <a:pt x="2274570" y="1137285"/>
                </a:lnTo>
                <a:cubicBezTo>
                  <a:pt x="2274570" y="1764970"/>
                  <a:pt x="1764970" y="2274570"/>
                  <a:pt x="1137285" y="2274570"/>
                </a:cubicBezTo>
                <a:lnTo>
                  <a:pt x="1137285" y="2274570"/>
                </a:lnTo>
                <a:cubicBezTo>
                  <a:pt x="509600" y="2274570"/>
                  <a:pt x="0" y="1764970"/>
                  <a:pt x="0" y="1137285"/>
                </a:cubicBezTo>
                <a:lnTo>
                  <a:pt x="0" y="1137285"/>
                </a:lnTo>
                <a:cubicBezTo>
                  <a:pt x="0" y="509600"/>
                  <a:pt x="509600" y="0"/>
                  <a:pt x="1137285" y="0"/>
                </a:cubicBezTo>
                <a:close/>
              </a:path>
            </a:pathLst>
          </a:custGeom>
          <a:solidFill>
            <a:srgbClr val="000000">
              <a:alpha val="0"/>
            </a:srgbClr>
          </a:solidFill>
          <a:ln w="10160">
            <a:solidFill>
              <a:srgbClr val="636363"/>
            </a:solidFill>
            <a:prstDash val="solid"/>
          </a:ln>
        </p:spPr>
      </p:sp>
      <p:sp>
        <p:nvSpPr>
          <p:cNvPr id="5" name="Shape 3"/>
          <p:cNvSpPr/>
          <p:nvPr/>
        </p:nvSpPr>
        <p:spPr>
          <a:xfrm>
            <a:off x="9147810" y="1908810"/>
            <a:ext cx="1131570" cy="1131570"/>
          </a:xfrm>
          <a:custGeom>
            <a:avLst/>
            <a:gdLst/>
            <a:ahLst/>
            <a:cxnLst/>
            <a:rect l="l" t="t" r="r" b="b"/>
            <a:pathLst>
              <a:path w="1131570" h="1131570">
                <a:moveTo>
                  <a:pt x="565785" y="0"/>
                </a:moveTo>
                <a:lnTo>
                  <a:pt x="565785" y="0"/>
                </a:lnTo>
                <a:cubicBezTo>
                  <a:pt x="878050" y="0"/>
                  <a:pt x="1131570" y="253520"/>
                  <a:pt x="1131570" y="565785"/>
                </a:cubicBezTo>
                <a:lnTo>
                  <a:pt x="1131570" y="565785"/>
                </a:lnTo>
                <a:cubicBezTo>
                  <a:pt x="1131570" y="878050"/>
                  <a:pt x="878050" y="1131570"/>
                  <a:pt x="565785" y="1131570"/>
                </a:cubicBezTo>
                <a:lnTo>
                  <a:pt x="565785" y="1131570"/>
                </a:lnTo>
                <a:cubicBezTo>
                  <a:pt x="253520" y="1131570"/>
                  <a:pt x="0" y="878050"/>
                  <a:pt x="0" y="565785"/>
                </a:cubicBezTo>
                <a:lnTo>
                  <a:pt x="0" y="565785"/>
                </a:lnTo>
                <a:cubicBezTo>
                  <a:pt x="0" y="253520"/>
                  <a:pt x="253520" y="0"/>
                  <a:pt x="565785" y="0"/>
                </a:cubicBezTo>
                <a:close/>
              </a:path>
            </a:pathLst>
          </a:custGeom>
          <a:solidFill>
            <a:srgbClr val="000000">
              <a:alpha val="0"/>
            </a:srgbClr>
          </a:solidFill>
          <a:ln w="10160">
            <a:solidFill>
              <a:srgbClr val="636363"/>
            </a:solidFill>
            <a:prstDash val="solid"/>
          </a:ln>
        </p:spPr>
      </p:sp>
      <p:sp>
        <p:nvSpPr>
          <p:cNvPr id="6" name="Shape 4"/>
          <p:cNvSpPr/>
          <p:nvPr/>
        </p:nvSpPr>
        <p:spPr>
          <a:xfrm>
            <a:off x="5650706" y="1119188"/>
            <a:ext cx="892969" cy="714375"/>
          </a:xfrm>
          <a:custGeom>
            <a:avLst/>
            <a:gdLst/>
            <a:ahLst/>
            <a:cxnLst/>
            <a:rect l="l" t="t" r="r" b="b"/>
            <a:pathLst>
              <a:path w="892969" h="714375">
                <a:moveTo>
                  <a:pt x="89297" y="133945"/>
                </a:moveTo>
                <a:cubicBezTo>
                  <a:pt x="89297" y="84693"/>
                  <a:pt x="129341" y="44648"/>
                  <a:pt x="178594" y="44648"/>
                </a:cubicBezTo>
                <a:lnTo>
                  <a:pt x="714375" y="44648"/>
                </a:lnTo>
                <a:cubicBezTo>
                  <a:pt x="763628" y="44648"/>
                  <a:pt x="803672" y="84693"/>
                  <a:pt x="803672" y="133945"/>
                </a:cubicBezTo>
                <a:lnTo>
                  <a:pt x="803672" y="468809"/>
                </a:lnTo>
                <a:lnTo>
                  <a:pt x="714375" y="468809"/>
                </a:lnTo>
                <a:lnTo>
                  <a:pt x="714375" y="133945"/>
                </a:lnTo>
                <a:lnTo>
                  <a:pt x="178594" y="133945"/>
                </a:lnTo>
                <a:lnTo>
                  <a:pt x="178594" y="468809"/>
                </a:lnTo>
                <a:lnTo>
                  <a:pt x="89297" y="468809"/>
                </a:lnTo>
                <a:lnTo>
                  <a:pt x="89297" y="133945"/>
                </a:lnTo>
                <a:close/>
                <a:moveTo>
                  <a:pt x="0" y="562570"/>
                </a:moveTo>
                <a:cubicBezTo>
                  <a:pt x="0" y="547781"/>
                  <a:pt x="11999" y="535781"/>
                  <a:pt x="26789" y="535781"/>
                </a:cubicBezTo>
                <a:lnTo>
                  <a:pt x="866180" y="535781"/>
                </a:lnTo>
                <a:cubicBezTo>
                  <a:pt x="880969" y="535781"/>
                  <a:pt x="892969" y="547781"/>
                  <a:pt x="892969" y="562570"/>
                </a:cubicBezTo>
                <a:cubicBezTo>
                  <a:pt x="892969" y="621729"/>
                  <a:pt x="844972" y="669727"/>
                  <a:pt x="785813" y="669727"/>
                </a:cubicBezTo>
                <a:lnTo>
                  <a:pt x="107156" y="669727"/>
                </a:lnTo>
                <a:cubicBezTo>
                  <a:pt x="47997" y="669727"/>
                  <a:pt x="0" y="621729"/>
                  <a:pt x="0" y="562570"/>
                </a:cubicBezTo>
                <a:close/>
                <a:moveTo>
                  <a:pt x="392069" y="291610"/>
                </a:moveTo>
                <a:lnTo>
                  <a:pt x="348816" y="334863"/>
                </a:lnTo>
                <a:lnTo>
                  <a:pt x="392069" y="378116"/>
                </a:lnTo>
                <a:cubicBezTo>
                  <a:pt x="405185" y="391232"/>
                  <a:pt x="405185" y="412440"/>
                  <a:pt x="392069" y="425416"/>
                </a:cubicBezTo>
                <a:cubicBezTo>
                  <a:pt x="378954" y="438392"/>
                  <a:pt x="357746" y="438531"/>
                  <a:pt x="344770" y="425416"/>
                </a:cubicBezTo>
                <a:lnTo>
                  <a:pt x="277797" y="358443"/>
                </a:lnTo>
                <a:cubicBezTo>
                  <a:pt x="264682" y="345328"/>
                  <a:pt x="264682" y="324120"/>
                  <a:pt x="277797" y="311144"/>
                </a:cubicBezTo>
                <a:lnTo>
                  <a:pt x="344770" y="244171"/>
                </a:lnTo>
                <a:cubicBezTo>
                  <a:pt x="357885" y="231056"/>
                  <a:pt x="379093" y="231056"/>
                  <a:pt x="392069" y="244171"/>
                </a:cubicBezTo>
                <a:cubicBezTo>
                  <a:pt x="405045" y="257287"/>
                  <a:pt x="405185" y="278495"/>
                  <a:pt x="392069" y="291471"/>
                </a:cubicBezTo>
                <a:close/>
                <a:moveTo>
                  <a:pt x="548339" y="244171"/>
                </a:moveTo>
                <a:lnTo>
                  <a:pt x="615311" y="311144"/>
                </a:lnTo>
                <a:cubicBezTo>
                  <a:pt x="628427" y="324259"/>
                  <a:pt x="628427" y="345467"/>
                  <a:pt x="615311" y="358443"/>
                </a:cubicBezTo>
                <a:lnTo>
                  <a:pt x="548339" y="425416"/>
                </a:lnTo>
                <a:cubicBezTo>
                  <a:pt x="535223" y="438531"/>
                  <a:pt x="514015" y="438531"/>
                  <a:pt x="501039" y="425416"/>
                </a:cubicBezTo>
                <a:cubicBezTo>
                  <a:pt x="488063" y="412300"/>
                  <a:pt x="487924" y="391092"/>
                  <a:pt x="501039" y="378116"/>
                </a:cubicBezTo>
                <a:lnTo>
                  <a:pt x="544292" y="334863"/>
                </a:lnTo>
                <a:lnTo>
                  <a:pt x="501039" y="291610"/>
                </a:lnTo>
                <a:cubicBezTo>
                  <a:pt x="487924" y="278495"/>
                  <a:pt x="487924" y="257287"/>
                  <a:pt x="501039" y="244311"/>
                </a:cubicBezTo>
                <a:cubicBezTo>
                  <a:pt x="514155" y="231335"/>
                  <a:pt x="535363" y="231195"/>
                  <a:pt x="548339" y="244311"/>
                </a:cubicBezTo>
                <a:close/>
              </a:path>
            </a:pathLst>
          </a:custGeom>
          <a:solidFill>
            <a:srgbClr val="51A2FF"/>
          </a:solidFill>
          <a:ln/>
        </p:spPr>
      </p:sp>
      <p:sp>
        <p:nvSpPr>
          <p:cNvPr id="7" name="Text 5"/>
          <p:cNvSpPr/>
          <p:nvPr/>
        </p:nvSpPr>
        <p:spPr>
          <a:xfrm>
            <a:off x="1264206" y="2500313"/>
            <a:ext cx="9667875" cy="571500"/>
          </a:xfrm>
          <a:prstGeom prst="rect">
            <a:avLst/>
          </a:prstGeom>
          <a:noFill/>
          <a:ln/>
        </p:spPr>
        <p:txBody>
          <a:bodyPr wrap="square" lIns="0" tIns="0" rIns="0" bIns="0" rtlCol="0" anchor="ctr"/>
          <a:lstStyle/>
          <a:p>
            <a:pPr algn="ctr">
              <a:lnSpc>
                <a:spcPct val="80000"/>
              </a:lnSpc>
            </a:pPr>
            <a:r>
              <a:rPr lang="en-US" sz="4500" b="1" spc="113" kern="0" dirty="0">
                <a:solidFill>
                  <a:srgbClr val="FFFFFF"/>
                </a:solidFill>
                <a:latin typeface="Quattrocento Sans" pitchFamily="34" charset="0"/>
                <a:ea typeface="Quattrocento Sans" pitchFamily="34" charset="-122"/>
                <a:cs typeface="Quattrocento Sans" pitchFamily="34" charset="-120"/>
              </a:rPr>
              <a:t>Development Environment Manager</a:t>
            </a:r>
            <a:endParaRPr lang="en-US" sz="1600" dirty="0"/>
          </a:p>
        </p:txBody>
      </p:sp>
      <p:sp>
        <p:nvSpPr>
          <p:cNvPr id="8" name="Shape 6"/>
          <p:cNvSpPr/>
          <p:nvPr/>
        </p:nvSpPr>
        <p:spPr>
          <a:xfrm>
            <a:off x="5334000" y="3452813"/>
            <a:ext cx="1524000" cy="47625"/>
          </a:xfrm>
          <a:custGeom>
            <a:avLst/>
            <a:gdLst/>
            <a:ahLst/>
            <a:cxnLst/>
            <a:rect l="l" t="t" r="r" b="b"/>
            <a:pathLst>
              <a:path w="1524000" h="47625">
                <a:moveTo>
                  <a:pt x="0" y="0"/>
                </a:moveTo>
                <a:lnTo>
                  <a:pt x="1524000" y="0"/>
                </a:lnTo>
                <a:lnTo>
                  <a:pt x="1524000" y="47625"/>
                </a:lnTo>
                <a:lnTo>
                  <a:pt x="0" y="47625"/>
                </a:lnTo>
                <a:lnTo>
                  <a:pt x="0" y="0"/>
                </a:lnTo>
                <a:close/>
              </a:path>
            </a:pathLst>
          </a:custGeom>
          <a:solidFill>
            <a:srgbClr val="51A2FF"/>
          </a:solidFill>
          <a:ln/>
        </p:spPr>
      </p:sp>
      <p:sp>
        <p:nvSpPr>
          <p:cNvPr id="9" name="Text 7"/>
          <p:cNvSpPr/>
          <p:nvPr/>
        </p:nvSpPr>
        <p:spPr>
          <a:xfrm>
            <a:off x="1347549" y="3976687"/>
            <a:ext cx="9501188" cy="333375"/>
          </a:xfrm>
          <a:prstGeom prst="rect">
            <a:avLst/>
          </a:prstGeom>
          <a:noFill/>
          <a:ln/>
        </p:spPr>
        <p:txBody>
          <a:bodyPr wrap="square" lIns="0" tIns="0" rIns="0" bIns="0" rtlCol="0" anchor="ctr"/>
          <a:lstStyle/>
          <a:p>
            <a:pPr algn="ctr">
              <a:lnSpc>
                <a:spcPct val="120000"/>
              </a:lnSpc>
            </a:pPr>
            <a:r>
              <a:rPr lang="en-US" sz="1875" b="1" dirty="0">
                <a:solidFill>
                  <a:srgbClr val="8EC5FF"/>
                </a:solidFill>
                <a:latin typeface="Quattrocento Sans" pitchFamily="34" charset="0"/>
                <a:ea typeface="Quattrocento Sans" pitchFamily="34" charset="-122"/>
                <a:cs typeface="Quattrocento Sans" pitchFamily="34" charset="-120"/>
              </a:rPr>
              <a:t>Presented By:</a:t>
            </a:r>
            <a:pPr algn="ctr">
              <a:lnSpc>
                <a:spcPct val="120000"/>
              </a:lnSpc>
            </a:pPr>
            <a:r>
              <a:rPr lang="en-US" sz="1875" dirty="0">
                <a:solidFill>
                  <a:srgbClr val="E5E7EB"/>
                </a:solidFill>
                <a:latin typeface="Quattrocento Sans" pitchFamily="34" charset="0"/>
                <a:ea typeface="Quattrocento Sans" pitchFamily="34" charset="-122"/>
                <a:cs typeface="Quattrocento Sans" pitchFamily="34" charset="-120"/>
              </a:rPr>
              <a:t> Piyush Anand</a:t>
            </a:r>
            <a:endParaRPr lang="en-US" sz="1600" dirty="0"/>
          </a:p>
        </p:txBody>
      </p:sp>
      <p:sp>
        <p:nvSpPr>
          <p:cNvPr id="10" name="Text 8"/>
          <p:cNvSpPr/>
          <p:nvPr/>
        </p:nvSpPr>
        <p:spPr>
          <a:xfrm>
            <a:off x="1347549" y="4452938"/>
            <a:ext cx="9501188" cy="333375"/>
          </a:xfrm>
          <a:prstGeom prst="rect">
            <a:avLst/>
          </a:prstGeom>
          <a:noFill/>
          <a:ln/>
        </p:spPr>
        <p:txBody>
          <a:bodyPr wrap="square" lIns="0" tIns="0" rIns="0" bIns="0" rtlCol="0" anchor="ctr"/>
          <a:lstStyle/>
          <a:p>
            <a:pPr algn="ctr">
              <a:lnSpc>
                <a:spcPct val="120000"/>
              </a:lnSpc>
            </a:pPr>
            <a:r>
              <a:rPr lang="en-US" sz="1875" b="1" dirty="0">
                <a:solidFill>
                  <a:srgbClr val="8EC5FF"/>
                </a:solidFill>
                <a:latin typeface="Quattrocento Sans" pitchFamily="34" charset="0"/>
                <a:ea typeface="Quattrocento Sans" pitchFamily="34" charset="-122"/>
                <a:cs typeface="Quattrocento Sans" pitchFamily="34" charset="-120"/>
              </a:rPr>
              <a:t>Registration No:</a:t>
            </a:r>
            <a:pPr algn="ctr">
              <a:lnSpc>
                <a:spcPct val="120000"/>
              </a:lnSpc>
            </a:pPr>
            <a:r>
              <a:rPr lang="en-US" sz="1875" dirty="0">
                <a:solidFill>
                  <a:srgbClr val="E5E7EB"/>
                </a:solidFill>
                <a:latin typeface="Quattrocento Sans" pitchFamily="34" charset="0"/>
                <a:ea typeface="Quattrocento Sans" pitchFamily="34" charset="-122"/>
                <a:cs typeface="Quattrocento Sans" pitchFamily="34" charset="-120"/>
              </a:rPr>
              <a:t> 12219067</a:t>
            </a:r>
            <a:endParaRPr lang="en-US" sz="1600" dirty="0"/>
          </a:p>
        </p:txBody>
      </p:sp>
      <p:sp>
        <p:nvSpPr>
          <p:cNvPr id="11" name="Text 9"/>
          <p:cNvSpPr/>
          <p:nvPr/>
        </p:nvSpPr>
        <p:spPr>
          <a:xfrm>
            <a:off x="1347549" y="4929188"/>
            <a:ext cx="9501188" cy="333375"/>
          </a:xfrm>
          <a:prstGeom prst="rect">
            <a:avLst/>
          </a:prstGeom>
          <a:noFill/>
          <a:ln/>
        </p:spPr>
        <p:txBody>
          <a:bodyPr wrap="square" lIns="0" tIns="0" rIns="0" bIns="0" rtlCol="0" anchor="ctr"/>
          <a:lstStyle/>
          <a:p>
            <a:pPr algn="ctr">
              <a:lnSpc>
                <a:spcPct val="120000"/>
              </a:lnSpc>
            </a:pPr>
            <a:r>
              <a:rPr lang="en-US" sz="1875" b="1" dirty="0">
                <a:solidFill>
                  <a:srgbClr val="8EC5FF"/>
                </a:solidFill>
                <a:latin typeface="Quattrocento Sans" pitchFamily="34" charset="0"/>
                <a:ea typeface="Quattrocento Sans" pitchFamily="34" charset="-122"/>
                <a:cs typeface="Quattrocento Sans" pitchFamily="34" charset="-120"/>
              </a:rPr>
              <a:t>Section:</a:t>
            </a:r>
            <a:pPr algn="ctr">
              <a:lnSpc>
                <a:spcPct val="120000"/>
              </a:lnSpc>
            </a:pPr>
            <a:r>
              <a:rPr lang="en-US" sz="1875" dirty="0">
                <a:solidFill>
                  <a:srgbClr val="E5E7EB"/>
                </a:solidFill>
                <a:latin typeface="Quattrocento Sans" pitchFamily="34" charset="0"/>
                <a:ea typeface="Quattrocento Sans" pitchFamily="34" charset="-122"/>
                <a:cs typeface="Quattrocento Sans" pitchFamily="34" charset="-120"/>
              </a:rPr>
              <a:t> 222ST</a:t>
            </a:r>
            <a:endParaRPr lang="en-US" sz="1600" dirty="0"/>
          </a:p>
        </p:txBody>
      </p:sp>
      <p:sp>
        <p:nvSpPr>
          <p:cNvPr id="12" name="Text 10"/>
          <p:cNvSpPr/>
          <p:nvPr/>
        </p:nvSpPr>
        <p:spPr>
          <a:xfrm>
            <a:off x="1347549" y="5405438"/>
            <a:ext cx="9501188" cy="333375"/>
          </a:xfrm>
          <a:prstGeom prst="rect">
            <a:avLst/>
          </a:prstGeom>
          <a:noFill/>
          <a:ln/>
        </p:spPr>
        <p:txBody>
          <a:bodyPr wrap="square" lIns="0" tIns="0" rIns="0" bIns="0" rtlCol="0" anchor="ctr"/>
          <a:lstStyle/>
          <a:p>
            <a:pPr algn="ctr">
              <a:lnSpc>
                <a:spcPct val="120000"/>
              </a:lnSpc>
            </a:pPr>
            <a:r>
              <a:rPr lang="en-US" sz="1875" b="1" dirty="0">
                <a:solidFill>
                  <a:srgbClr val="8EC5FF"/>
                </a:solidFill>
                <a:latin typeface="Quattrocento Sans" pitchFamily="34" charset="0"/>
                <a:ea typeface="Quattrocento Sans" pitchFamily="34" charset="-122"/>
                <a:cs typeface="Quattrocento Sans" pitchFamily="34" charset="-120"/>
              </a:rPr>
              <a:t>Roll No:</a:t>
            </a:r>
            <a:pPr algn="ctr">
              <a:lnSpc>
                <a:spcPct val="120000"/>
              </a:lnSpc>
            </a:pPr>
            <a:r>
              <a:rPr lang="en-US" sz="1875" dirty="0">
                <a:solidFill>
                  <a:srgbClr val="E5E7EB"/>
                </a:solidFill>
                <a:latin typeface="Quattrocento Sans" pitchFamily="34" charset="0"/>
                <a:ea typeface="Quattrocento Sans" pitchFamily="34" charset="-122"/>
                <a:cs typeface="Quattrocento Sans" pitchFamily="34" charset="-120"/>
              </a:rPr>
              <a:t> 28</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1019175"/>
            <a:ext cx="2276475" cy="38100"/>
          </a:xfrm>
          <a:custGeom>
            <a:avLst/>
            <a:gdLst/>
            <a:ahLst/>
            <a:cxnLst/>
            <a:rect l="l" t="t" r="r" b="b"/>
            <a:pathLst>
              <a:path w="2276475" h="38100">
                <a:moveTo>
                  <a:pt x="0" y="0"/>
                </a:moveTo>
                <a:lnTo>
                  <a:pt x="2276475" y="0"/>
                </a:lnTo>
                <a:lnTo>
                  <a:pt x="2276475" y="38100"/>
                </a:lnTo>
                <a:lnTo>
                  <a:pt x="0" y="38100"/>
                </a:lnTo>
                <a:lnTo>
                  <a:pt x="0" y="0"/>
                </a:lnTo>
                <a:close/>
              </a:path>
            </a:pathLst>
          </a:custGeom>
          <a:solidFill>
            <a:srgbClr val="2B7FFF"/>
          </a:solidFill>
          <a:ln/>
        </p:spPr>
      </p:sp>
      <p:sp>
        <p:nvSpPr>
          <p:cNvPr id="3" name="Text 1"/>
          <p:cNvSpPr/>
          <p:nvPr/>
        </p:nvSpPr>
        <p:spPr>
          <a:xfrm>
            <a:off x="381000" y="381000"/>
            <a:ext cx="2490788" cy="619125"/>
          </a:xfrm>
          <a:prstGeom prst="rect">
            <a:avLst/>
          </a:prstGeom>
          <a:noFill/>
          <a:ln/>
        </p:spPr>
        <p:txBody>
          <a:bodyPr wrap="square" lIns="0" tIns="0" rIns="0" bIns="142875" rtlCol="0" anchor="ctr"/>
          <a:lstStyle/>
          <a:p>
            <a:pPr>
              <a:lnSpc>
                <a:spcPct val="90000"/>
              </a:lnSpc>
            </a:pPr>
            <a:r>
              <a:rPr lang="en-US" sz="3375" b="1" dirty="0">
                <a:solidFill>
                  <a:srgbClr val="1D293D"/>
                </a:solidFill>
                <a:latin typeface="Quattrocento Sans" pitchFamily="34" charset="0"/>
                <a:ea typeface="Quattrocento Sans" pitchFamily="34" charset="-122"/>
                <a:cs typeface="Quattrocento Sans" pitchFamily="34" charset="-120"/>
              </a:rPr>
              <a:t>Introduction</a:t>
            </a:r>
            <a:endParaRPr lang="en-US" sz="1600" dirty="0"/>
          </a:p>
        </p:txBody>
      </p:sp>
      <p:sp>
        <p:nvSpPr>
          <p:cNvPr id="4" name="Shape 2"/>
          <p:cNvSpPr/>
          <p:nvPr/>
        </p:nvSpPr>
        <p:spPr>
          <a:xfrm>
            <a:off x="381000" y="1323975"/>
            <a:ext cx="571500" cy="571500"/>
          </a:xfrm>
          <a:custGeom>
            <a:avLst/>
            <a:gdLst/>
            <a:ahLst/>
            <a:cxnLst/>
            <a:rect l="l" t="t" r="r" b="b"/>
            <a:pathLst>
              <a:path w="571500" h="571500">
                <a:moveTo>
                  <a:pt x="285750" y="0"/>
                </a:moveTo>
                <a:lnTo>
                  <a:pt x="285750" y="0"/>
                </a:lnTo>
                <a:cubicBezTo>
                  <a:pt x="443460" y="0"/>
                  <a:pt x="571500" y="128040"/>
                  <a:pt x="571500" y="285750"/>
                </a:cubicBezTo>
                <a:lnTo>
                  <a:pt x="571500" y="285750"/>
                </a:lnTo>
                <a:cubicBezTo>
                  <a:pt x="571500" y="443460"/>
                  <a:pt x="443460" y="571500"/>
                  <a:pt x="285750" y="571500"/>
                </a:cubicBezTo>
                <a:lnTo>
                  <a:pt x="285750" y="571500"/>
                </a:lnTo>
                <a:cubicBezTo>
                  <a:pt x="128040" y="571500"/>
                  <a:pt x="0" y="443460"/>
                  <a:pt x="0" y="285750"/>
                </a:cubicBezTo>
                <a:lnTo>
                  <a:pt x="0" y="285750"/>
                </a:lnTo>
                <a:cubicBezTo>
                  <a:pt x="0" y="128040"/>
                  <a:pt x="128040" y="0"/>
                  <a:pt x="285750" y="0"/>
                </a:cubicBezTo>
                <a:close/>
              </a:path>
            </a:pathLst>
          </a:custGeom>
          <a:solidFill>
            <a:srgbClr val="DBEAFE"/>
          </a:solidFill>
          <a:ln/>
        </p:spPr>
      </p:sp>
      <p:sp>
        <p:nvSpPr>
          <p:cNvPr id="5" name="Shape 3"/>
          <p:cNvSpPr/>
          <p:nvPr/>
        </p:nvSpPr>
        <p:spPr>
          <a:xfrm>
            <a:off x="546497" y="1490663"/>
            <a:ext cx="238125" cy="238125"/>
          </a:xfrm>
          <a:custGeom>
            <a:avLst/>
            <a:gdLst/>
            <a:ahLst/>
            <a:cxnLst/>
            <a:rect l="l" t="t" r="r" b="b"/>
            <a:pathLst>
              <a:path w="238125" h="238125">
                <a:moveTo>
                  <a:pt x="29766" y="14883"/>
                </a:moveTo>
                <a:cubicBezTo>
                  <a:pt x="13348" y="14883"/>
                  <a:pt x="0" y="28231"/>
                  <a:pt x="0" y="44648"/>
                </a:cubicBezTo>
                <a:lnTo>
                  <a:pt x="0" y="163711"/>
                </a:lnTo>
                <a:cubicBezTo>
                  <a:pt x="0" y="180129"/>
                  <a:pt x="13348" y="193477"/>
                  <a:pt x="29766" y="193477"/>
                </a:cubicBezTo>
                <a:lnTo>
                  <a:pt x="96738" y="193477"/>
                </a:lnTo>
                <a:lnTo>
                  <a:pt x="89297" y="215801"/>
                </a:lnTo>
                <a:lnTo>
                  <a:pt x="55811" y="215801"/>
                </a:lnTo>
                <a:cubicBezTo>
                  <a:pt x="49625" y="215801"/>
                  <a:pt x="44648" y="220777"/>
                  <a:pt x="44648" y="226963"/>
                </a:cubicBezTo>
                <a:cubicBezTo>
                  <a:pt x="44648" y="233149"/>
                  <a:pt x="49625" y="238125"/>
                  <a:pt x="55811" y="238125"/>
                </a:cubicBezTo>
                <a:lnTo>
                  <a:pt x="182314" y="238125"/>
                </a:lnTo>
                <a:cubicBezTo>
                  <a:pt x="188500" y="238125"/>
                  <a:pt x="193477" y="233149"/>
                  <a:pt x="193477" y="226963"/>
                </a:cubicBezTo>
                <a:cubicBezTo>
                  <a:pt x="193477" y="220777"/>
                  <a:pt x="188500" y="215801"/>
                  <a:pt x="182314" y="215801"/>
                </a:cubicBezTo>
                <a:lnTo>
                  <a:pt x="148828" y="215801"/>
                </a:lnTo>
                <a:lnTo>
                  <a:pt x="141387" y="193477"/>
                </a:lnTo>
                <a:lnTo>
                  <a:pt x="208359" y="193477"/>
                </a:lnTo>
                <a:cubicBezTo>
                  <a:pt x="224777" y="193477"/>
                  <a:pt x="238125" y="180129"/>
                  <a:pt x="238125" y="163711"/>
                </a:cubicBezTo>
                <a:lnTo>
                  <a:pt x="238125" y="44648"/>
                </a:lnTo>
                <a:cubicBezTo>
                  <a:pt x="238125" y="28231"/>
                  <a:pt x="224777" y="14883"/>
                  <a:pt x="208359" y="14883"/>
                </a:cubicBezTo>
                <a:lnTo>
                  <a:pt x="29766" y="14883"/>
                </a:lnTo>
                <a:close/>
                <a:moveTo>
                  <a:pt x="44648" y="44648"/>
                </a:moveTo>
                <a:lnTo>
                  <a:pt x="193477" y="44648"/>
                </a:lnTo>
                <a:cubicBezTo>
                  <a:pt x="201709" y="44648"/>
                  <a:pt x="208359" y="51299"/>
                  <a:pt x="208359" y="59531"/>
                </a:cubicBezTo>
                <a:lnTo>
                  <a:pt x="208359" y="133945"/>
                </a:lnTo>
                <a:cubicBezTo>
                  <a:pt x="208359" y="142177"/>
                  <a:pt x="201709" y="148828"/>
                  <a:pt x="193477" y="148828"/>
                </a:cubicBezTo>
                <a:lnTo>
                  <a:pt x="44648" y="148828"/>
                </a:lnTo>
                <a:cubicBezTo>
                  <a:pt x="36416" y="148828"/>
                  <a:pt x="29766" y="142177"/>
                  <a:pt x="29766" y="133945"/>
                </a:cubicBezTo>
                <a:lnTo>
                  <a:pt x="29766" y="59531"/>
                </a:lnTo>
                <a:cubicBezTo>
                  <a:pt x="29766" y="51299"/>
                  <a:pt x="36416" y="44648"/>
                  <a:pt x="44648" y="44648"/>
                </a:cubicBezTo>
                <a:close/>
              </a:path>
            </a:pathLst>
          </a:custGeom>
          <a:solidFill>
            <a:srgbClr val="155DFC"/>
          </a:solidFill>
          <a:ln/>
        </p:spPr>
      </p:sp>
      <p:sp>
        <p:nvSpPr>
          <p:cNvPr id="6" name="Text 4"/>
          <p:cNvSpPr/>
          <p:nvPr/>
        </p:nvSpPr>
        <p:spPr>
          <a:xfrm>
            <a:off x="1143000" y="1323975"/>
            <a:ext cx="10787063"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Development Environments</a:t>
            </a:r>
            <a:endParaRPr lang="en-US" sz="1600" dirty="0"/>
          </a:p>
        </p:txBody>
      </p:sp>
      <p:sp>
        <p:nvSpPr>
          <p:cNvPr id="7" name="Text 5"/>
          <p:cNvSpPr/>
          <p:nvPr/>
        </p:nvSpPr>
        <p:spPr>
          <a:xfrm>
            <a:off x="1143000" y="1752600"/>
            <a:ext cx="10775156" cy="695325"/>
          </a:xfrm>
          <a:prstGeom prst="rect">
            <a:avLst/>
          </a:prstGeom>
          <a:noFill/>
          <a:ln/>
        </p:spPr>
        <p:txBody>
          <a:bodyPr wrap="square" lIns="0" tIns="0" rIns="0" bIns="0" rtlCol="0" anchor="ctr"/>
          <a:lstStyle/>
          <a:p>
            <a:pPr>
              <a:lnSpc>
                <a:spcPct val="140000"/>
              </a:lnSpc>
            </a:pPr>
            <a:r>
              <a:rPr lang="en-US" sz="1688" dirty="0">
                <a:solidFill>
                  <a:srgbClr val="45556C"/>
                </a:solidFill>
                <a:latin typeface="Quattrocento Sans" pitchFamily="34" charset="0"/>
                <a:ea typeface="Quattrocento Sans" pitchFamily="34" charset="-122"/>
                <a:cs typeface="Quattrocento Sans" pitchFamily="34" charset="-120"/>
              </a:rPr>
              <a:t>A development environment includes all tools, configurations, and dependencies a developer needs to work effectively. This encompasses code editors, programming languages, libraries, and personalized settings.</a:t>
            </a:r>
            <a:endParaRPr lang="en-US" sz="1600" dirty="0"/>
          </a:p>
        </p:txBody>
      </p:sp>
      <p:sp>
        <p:nvSpPr>
          <p:cNvPr id="8" name="Shape 6"/>
          <p:cNvSpPr/>
          <p:nvPr/>
        </p:nvSpPr>
        <p:spPr>
          <a:xfrm>
            <a:off x="381000" y="2687241"/>
            <a:ext cx="571500" cy="571500"/>
          </a:xfrm>
          <a:custGeom>
            <a:avLst/>
            <a:gdLst/>
            <a:ahLst/>
            <a:cxnLst/>
            <a:rect l="l" t="t" r="r" b="b"/>
            <a:pathLst>
              <a:path w="571500" h="571500">
                <a:moveTo>
                  <a:pt x="285750" y="0"/>
                </a:moveTo>
                <a:lnTo>
                  <a:pt x="285750" y="0"/>
                </a:lnTo>
                <a:cubicBezTo>
                  <a:pt x="443460" y="0"/>
                  <a:pt x="571500" y="128040"/>
                  <a:pt x="571500" y="285750"/>
                </a:cubicBezTo>
                <a:lnTo>
                  <a:pt x="571500" y="285750"/>
                </a:lnTo>
                <a:cubicBezTo>
                  <a:pt x="571500" y="443460"/>
                  <a:pt x="443460" y="571500"/>
                  <a:pt x="285750" y="571500"/>
                </a:cubicBezTo>
                <a:lnTo>
                  <a:pt x="285750" y="571500"/>
                </a:lnTo>
                <a:cubicBezTo>
                  <a:pt x="128040" y="571500"/>
                  <a:pt x="0" y="443460"/>
                  <a:pt x="0" y="285750"/>
                </a:cubicBezTo>
                <a:lnTo>
                  <a:pt x="0" y="285750"/>
                </a:lnTo>
                <a:cubicBezTo>
                  <a:pt x="0" y="128040"/>
                  <a:pt x="128040" y="0"/>
                  <a:pt x="285750" y="0"/>
                </a:cubicBezTo>
                <a:close/>
              </a:path>
            </a:pathLst>
          </a:custGeom>
          <a:solidFill>
            <a:srgbClr val="DCFCE7"/>
          </a:solidFill>
          <a:ln/>
        </p:spPr>
      </p:sp>
      <p:sp>
        <p:nvSpPr>
          <p:cNvPr id="9" name="Shape 7"/>
          <p:cNvSpPr/>
          <p:nvPr/>
        </p:nvSpPr>
        <p:spPr>
          <a:xfrm>
            <a:off x="546497" y="2853928"/>
            <a:ext cx="238125" cy="238125"/>
          </a:xfrm>
          <a:custGeom>
            <a:avLst/>
            <a:gdLst/>
            <a:ahLst/>
            <a:cxnLst/>
            <a:rect l="l" t="t" r="r" b="b"/>
            <a:pathLst>
              <a:path w="238125" h="238125">
                <a:moveTo>
                  <a:pt x="223289" y="89297"/>
                </a:moveTo>
                <a:lnTo>
                  <a:pt x="226963" y="89297"/>
                </a:lnTo>
                <a:cubicBezTo>
                  <a:pt x="233149" y="89297"/>
                  <a:pt x="238125" y="84320"/>
                  <a:pt x="238125" y="78135"/>
                </a:cubicBezTo>
                <a:lnTo>
                  <a:pt x="238125" y="11162"/>
                </a:lnTo>
                <a:cubicBezTo>
                  <a:pt x="238125" y="6651"/>
                  <a:pt x="235427" y="2558"/>
                  <a:pt x="231242" y="837"/>
                </a:cubicBezTo>
                <a:cubicBezTo>
                  <a:pt x="227056" y="-884"/>
                  <a:pt x="222266" y="93"/>
                  <a:pt x="219056" y="3256"/>
                </a:cubicBezTo>
                <a:lnTo>
                  <a:pt x="195011" y="27347"/>
                </a:lnTo>
                <a:cubicBezTo>
                  <a:pt x="174408" y="10278"/>
                  <a:pt x="147898" y="0"/>
                  <a:pt x="119062" y="0"/>
                </a:cubicBezTo>
                <a:cubicBezTo>
                  <a:pt x="59066" y="0"/>
                  <a:pt x="9441" y="44369"/>
                  <a:pt x="1209" y="102087"/>
                </a:cubicBezTo>
                <a:cubicBezTo>
                  <a:pt x="47" y="110226"/>
                  <a:pt x="5674" y="117760"/>
                  <a:pt x="13813" y="118923"/>
                </a:cubicBezTo>
                <a:cubicBezTo>
                  <a:pt x="21952" y="120086"/>
                  <a:pt x="29487" y="114412"/>
                  <a:pt x="30649" y="106319"/>
                </a:cubicBezTo>
                <a:cubicBezTo>
                  <a:pt x="36835" y="63019"/>
                  <a:pt x="74089" y="29766"/>
                  <a:pt x="119062" y="29766"/>
                </a:cubicBezTo>
                <a:cubicBezTo>
                  <a:pt x="139712" y="29766"/>
                  <a:pt x="158688" y="36742"/>
                  <a:pt x="173803" y="48509"/>
                </a:cubicBezTo>
                <a:lnTo>
                  <a:pt x="152084" y="70228"/>
                </a:lnTo>
                <a:cubicBezTo>
                  <a:pt x="148875" y="73437"/>
                  <a:pt x="147944" y="78228"/>
                  <a:pt x="149665" y="82414"/>
                </a:cubicBezTo>
                <a:cubicBezTo>
                  <a:pt x="151386" y="86599"/>
                  <a:pt x="155479" y="89297"/>
                  <a:pt x="159990" y="89297"/>
                </a:cubicBezTo>
                <a:lnTo>
                  <a:pt x="223289" y="89297"/>
                </a:lnTo>
                <a:close/>
                <a:moveTo>
                  <a:pt x="236962" y="136038"/>
                </a:moveTo>
                <a:cubicBezTo>
                  <a:pt x="238125" y="127899"/>
                  <a:pt x="232451" y="120365"/>
                  <a:pt x="224358" y="119202"/>
                </a:cubicBezTo>
                <a:cubicBezTo>
                  <a:pt x="216266" y="118039"/>
                  <a:pt x="208685" y="123713"/>
                  <a:pt x="207522" y="131806"/>
                </a:cubicBezTo>
                <a:cubicBezTo>
                  <a:pt x="201337" y="175059"/>
                  <a:pt x="164083" y="208313"/>
                  <a:pt x="119109" y="208313"/>
                </a:cubicBezTo>
                <a:cubicBezTo>
                  <a:pt x="98459" y="208313"/>
                  <a:pt x="79484" y="201337"/>
                  <a:pt x="64368" y="189570"/>
                </a:cubicBezTo>
                <a:lnTo>
                  <a:pt x="86041" y="167897"/>
                </a:lnTo>
                <a:cubicBezTo>
                  <a:pt x="89250" y="164688"/>
                  <a:pt x="90181" y="159897"/>
                  <a:pt x="88460" y="155711"/>
                </a:cubicBezTo>
                <a:cubicBezTo>
                  <a:pt x="86739" y="151526"/>
                  <a:pt x="82646" y="148828"/>
                  <a:pt x="78135" y="148828"/>
                </a:cubicBezTo>
                <a:lnTo>
                  <a:pt x="11162" y="148828"/>
                </a:lnTo>
                <a:cubicBezTo>
                  <a:pt x="4976" y="148828"/>
                  <a:pt x="0" y="153805"/>
                  <a:pt x="0" y="159990"/>
                </a:cubicBezTo>
                <a:lnTo>
                  <a:pt x="0" y="226963"/>
                </a:lnTo>
                <a:cubicBezTo>
                  <a:pt x="0" y="231474"/>
                  <a:pt x="2698" y="235567"/>
                  <a:pt x="6883" y="237288"/>
                </a:cubicBezTo>
                <a:cubicBezTo>
                  <a:pt x="11069" y="239009"/>
                  <a:pt x="15859" y="238032"/>
                  <a:pt x="19069" y="234869"/>
                </a:cubicBezTo>
                <a:lnTo>
                  <a:pt x="43160" y="210778"/>
                </a:lnTo>
                <a:cubicBezTo>
                  <a:pt x="63717" y="227847"/>
                  <a:pt x="90227" y="238125"/>
                  <a:pt x="119062" y="238125"/>
                </a:cubicBezTo>
                <a:cubicBezTo>
                  <a:pt x="179059" y="238125"/>
                  <a:pt x="228684" y="193756"/>
                  <a:pt x="236916" y="136038"/>
                </a:cubicBezTo>
                <a:close/>
              </a:path>
            </a:pathLst>
          </a:custGeom>
          <a:solidFill>
            <a:srgbClr val="00A63E"/>
          </a:solidFill>
          <a:ln/>
        </p:spPr>
      </p:sp>
      <p:sp>
        <p:nvSpPr>
          <p:cNvPr id="10" name="Text 8"/>
          <p:cNvSpPr/>
          <p:nvPr/>
        </p:nvSpPr>
        <p:spPr>
          <a:xfrm>
            <a:off x="1143000" y="2687241"/>
            <a:ext cx="10787063"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Need for Consistent Setup</a:t>
            </a:r>
            <a:endParaRPr lang="en-US" sz="1600" dirty="0"/>
          </a:p>
        </p:txBody>
      </p:sp>
      <p:sp>
        <p:nvSpPr>
          <p:cNvPr id="11" name="Text 9"/>
          <p:cNvSpPr/>
          <p:nvPr/>
        </p:nvSpPr>
        <p:spPr>
          <a:xfrm>
            <a:off x="1143000" y="3115866"/>
            <a:ext cx="10775156" cy="695325"/>
          </a:xfrm>
          <a:prstGeom prst="rect">
            <a:avLst/>
          </a:prstGeom>
          <a:noFill/>
          <a:ln/>
        </p:spPr>
        <p:txBody>
          <a:bodyPr wrap="square" lIns="0" tIns="0" rIns="0" bIns="0" rtlCol="0" anchor="ctr"/>
          <a:lstStyle/>
          <a:p>
            <a:pPr>
              <a:lnSpc>
                <a:spcPct val="140000"/>
              </a:lnSpc>
            </a:pPr>
            <a:r>
              <a:rPr lang="en-US" sz="1688" dirty="0">
                <a:solidFill>
                  <a:srgbClr val="45556C"/>
                </a:solidFill>
                <a:latin typeface="Quattrocento Sans" pitchFamily="34" charset="0"/>
                <a:ea typeface="Quattrocento Sans" pitchFamily="34" charset="-122"/>
                <a:cs typeface="Quattrocento Sans" pitchFamily="34" charset="-120"/>
              </a:rPr>
              <a:t>Developers frequently switch between machines, reinstall operating systems, or work across multiple devices. Maintaining consistent environments manually is time-consuming and error-prone.</a:t>
            </a:r>
            <a:endParaRPr lang="en-US" sz="1600" dirty="0"/>
          </a:p>
        </p:txBody>
      </p:sp>
      <p:sp>
        <p:nvSpPr>
          <p:cNvPr id="12" name="Shape 10"/>
          <p:cNvSpPr/>
          <p:nvPr/>
        </p:nvSpPr>
        <p:spPr>
          <a:xfrm>
            <a:off x="381000" y="4050506"/>
            <a:ext cx="571500" cy="571500"/>
          </a:xfrm>
          <a:custGeom>
            <a:avLst/>
            <a:gdLst/>
            <a:ahLst/>
            <a:cxnLst/>
            <a:rect l="l" t="t" r="r" b="b"/>
            <a:pathLst>
              <a:path w="571500" h="571500">
                <a:moveTo>
                  <a:pt x="285750" y="0"/>
                </a:moveTo>
                <a:lnTo>
                  <a:pt x="285750" y="0"/>
                </a:lnTo>
                <a:cubicBezTo>
                  <a:pt x="443460" y="0"/>
                  <a:pt x="571500" y="128040"/>
                  <a:pt x="571500" y="285750"/>
                </a:cubicBezTo>
                <a:lnTo>
                  <a:pt x="571500" y="285750"/>
                </a:lnTo>
                <a:cubicBezTo>
                  <a:pt x="571500" y="443460"/>
                  <a:pt x="443460" y="571500"/>
                  <a:pt x="285750" y="571500"/>
                </a:cubicBezTo>
                <a:lnTo>
                  <a:pt x="285750" y="571500"/>
                </a:lnTo>
                <a:cubicBezTo>
                  <a:pt x="128040" y="571500"/>
                  <a:pt x="0" y="443460"/>
                  <a:pt x="0" y="285750"/>
                </a:cubicBezTo>
                <a:lnTo>
                  <a:pt x="0" y="285750"/>
                </a:lnTo>
                <a:cubicBezTo>
                  <a:pt x="0" y="128040"/>
                  <a:pt x="128040" y="0"/>
                  <a:pt x="285750" y="0"/>
                </a:cubicBezTo>
                <a:close/>
              </a:path>
            </a:pathLst>
          </a:custGeom>
          <a:solidFill>
            <a:srgbClr val="F3E8FF"/>
          </a:solidFill>
          <a:ln/>
        </p:spPr>
      </p:sp>
      <p:sp>
        <p:nvSpPr>
          <p:cNvPr id="13" name="Shape 11"/>
          <p:cNvSpPr/>
          <p:nvPr/>
        </p:nvSpPr>
        <p:spPr>
          <a:xfrm>
            <a:off x="516731" y="4217194"/>
            <a:ext cx="297656" cy="238125"/>
          </a:xfrm>
          <a:custGeom>
            <a:avLst/>
            <a:gdLst/>
            <a:ahLst/>
            <a:cxnLst/>
            <a:rect l="l" t="t" r="r" b="b"/>
            <a:pathLst>
              <a:path w="297656" h="238125">
                <a:moveTo>
                  <a:pt x="193430" y="97901"/>
                </a:moveTo>
                <a:cubicBezTo>
                  <a:pt x="199104" y="96366"/>
                  <a:pt x="205057" y="99064"/>
                  <a:pt x="207615" y="104319"/>
                </a:cubicBezTo>
                <a:lnTo>
                  <a:pt x="216266" y="121807"/>
                </a:lnTo>
                <a:cubicBezTo>
                  <a:pt x="221056" y="122458"/>
                  <a:pt x="225754" y="123760"/>
                  <a:pt x="230172" y="125574"/>
                </a:cubicBezTo>
                <a:lnTo>
                  <a:pt x="246450" y="114737"/>
                </a:lnTo>
                <a:cubicBezTo>
                  <a:pt x="251333" y="111482"/>
                  <a:pt x="257798" y="112133"/>
                  <a:pt x="261937" y="116272"/>
                </a:cubicBezTo>
                <a:lnTo>
                  <a:pt x="270867" y="125202"/>
                </a:lnTo>
                <a:cubicBezTo>
                  <a:pt x="275006" y="129341"/>
                  <a:pt x="275658" y="135852"/>
                  <a:pt x="272402" y="140689"/>
                </a:cubicBezTo>
                <a:lnTo>
                  <a:pt x="261565" y="156921"/>
                </a:lnTo>
                <a:cubicBezTo>
                  <a:pt x="262449" y="159107"/>
                  <a:pt x="263240" y="161385"/>
                  <a:pt x="263891" y="163757"/>
                </a:cubicBezTo>
                <a:cubicBezTo>
                  <a:pt x="264542" y="166129"/>
                  <a:pt x="264961" y="168455"/>
                  <a:pt x="265286" y="170827"/>
                </a:cubicBezTo>
                <a:lnTo>
                  <a:pt x="282820" y="179477"/>
                </a:lnTo>
                <a:cubicBezTo>
                  <a:pt x="288075" y="182082"/>
                  <a:pt x="290773" y="188035"/>
                  <a:pt x="289238" y="193663"/>
                </a:cubicBezTo>
                <a:lnTo>
                  <a:pt x="285983" y="205848"/>
                </a:lnTo>
                <a:cubicBezTo>
                  <a:pt x="284448" y="211475"/>
                  <a:pt x="279192" y="215289"/>
                  <a:pt x="273332" y="214917"/>
                </a:cubicBezTo>
                <a:lnTo>
                  <a:pt x="253798" y="213661"/>
                </a:lnTo>
                <a:cubicBezTo>
                  <a:pt x="250868" y="217429"/>
                  <a:pt x="247473" y="220917"/>
                  <a:pt x="243613" y="223893"/>
                </a:cubicBezTo>
                <a:lnTo>
                  <a:pt x="244869" y="243380"/>
                </a:lnTo>
                <a:cubicBezTo>
                  <a:pt x="245241" y="249241"/>
                  <a:pt x="241427" y="254543"/>
                  <a:pt x="235800" y="256031"/>
                </a:cubicBezTo>
                <a:lnTo>
                  <a:pt x="223614" y="259286"/>
                </a:lnTo>
                <a:cubicBezTo>
                  <a:pt x="217940" y="260821"/>
                  <a:pt x="212034" y="258124"/>
                  <a:pt x="209429" y="252868"/>
                </a:cubicBezTo>
                <a:lnTo>
                  <a:pt x="200778" y="235381"/>
                </a:lnTo>
                <a:cubicBezTo>
                  <a:pt x="195988" y="234730"/>
                  <a:pt x="191291" y="233428"/>
                  <a:pt x="186872" y="231614"/>
                </a:cubicBezTo>
                <a:lnTo>
                  <a:pt x="170594" y="242450"/>
                </a:lnTo>
                <a:cubicBezTo>
                  <a:pt x="165711" y="245706"/>
                  <a:pt x="159246" y="245055"/>
                  <a:pt x="155107" y="240916"/>
                </a:cubicBezTo>
                <a:lnTo>
                  <a:pt x="146177" y="231986"/>
                </a:lnTo>
                <a:cubicBezTo>
                  <a:pt x="142038" y="227847"/>
                  <a:pt x="141387" y="221382"/>
                  <a:pt x="144642" y="216498"/>
                </a:cubicBezTo>
                <a:lnTo>
                  <a:pt x="155479" y="200220"/>
                </a:lnTo>
                <a:cubicBezTo>
                  <a:pt x="154595" y="198034"/>
                  <a:pt x="153805" y="195755"/>
                  <a:pt x="153153" y="193384"/>
                </a:cubicBezTo>
                <a:cubicBezTo>
                  <a:pt x="152502" y="191012"/>
                  <a:pt x="152084" y="188640"/>
                  <a:pt x="151758" y="186314"/>
                </a:cubicBezTo>
                <a:lnTo>
                  <a:pt x="134224" y="177664"/>
                </a:lnTo>
                <a:cubicBezTo>
                  <a:pt x="128969" y="175059"/>
                  <a:pt x="126318" y="169106"/>
                  <a:pt x="127806" y="163478"/>
                </a:cubicBezTo>
                <a:lnTo>
                  <a:pt x="131062" y="151293"/>
                </a:lnTo>
                <a:cubicBezTo>
                  <a:pt x="132597" y="145666"/>
                  <a:pt x="137852" y="141852"/>
                  <a:pt x="143712" y="142224"/>
                </a:cubicBezTo>
                <a:lnTo>
                  <a:pt x="163199" y="143480"/>
                </a:lnTo>
                <a:cubicBezTo>
                  <a:pt x="166129" y="139712"/>
                  <a:pt x="169525" y="136224"/>
                  <a:pt x="173385" y="133248"/>
                </a:cubicBezTo>
                <a:lnTo>
                  <a:pt x="172129" y="113807"/>
                </a:lnTo>
                <a:cubicBezTo>
                  <a:pt x="171757" y="107947"/>
                  <a:pt x="175571" y="102645"/>
                  <a:pt x="181198" y="101157"/>
                </a:cubicBezTo>
                <a:lnTo>
                  <a:pt x="193384" y="97901"/>
                </a:lnTo>
                <a:close/>
                <a:moveTo>
                  <a:pt x="208545" y="158130"/>
                </a:moveTo>
                <a:cubicBezTo>
                  <a:pt x="197251" y="158143"/>
                  <a:pt x="188092" y="167323"/>
                  <a:pt x="188105" y="178617"/>
                </a:cubicBezTo>
                <a:cubicBezTo>
                  <a:pt x="188118" y="189911"/>
                  <a:pt x="197298" y="199070"/>
                  <a:pt x="208592" y="199058"/>
                </a:cubicBezTo>
                <a:cubicBezTo>
                  <a:pt x="219886" y="199045"/>
                  <a:pt x="229045" y="189865"/>
                  <a:pt x="229033" y="178570"/>
                </a:cubicBezTo>
                <a:cubicBezTo>
                  <a:pt x="229020" y="167276"/>
                  <a:pt x="219840" y="158117"/>
                  <a:pt x="208545" y="158130"/>
                </a:cubicBezTo>
                <a:close/>
                <a:moveTo>
                  <a:pt x="104598" y="-21161"/>
                </a:moveTo>
                <a:lnTo>
                  <a:pt x="116784" y="-17906"/>
                </a:lnTo>
                <a:cubicBezTo>
                  <a:pt x="122411" y="-16371"/>
                  <a:pt x="126225" y="-11069"/>
                  <a:pt x="125853" y="-5255"/>
                </a:cubicBezTo>
                <a:lnTo>
                  <a:pt x="124597" y="14185"/>
                </a:lnTo>
                <a:cubicBezTo>
                  <a:pt x="128457" y="17162"/>
                  <a:pt x="131852" y="20603"/>
                  <a:pt x="134782" y="24417"/>
                </a:cubicBezTo>
                <a:lnTo>
                  <a:pt x="154316" y="23161"/>
                </a:lnTo>
                <a:cubicBezTo>
                  <a:pt x="160130" y="22789"/>
                  <a:pt x="165432" y="26603"/>
                  <a:pt x="166967" y="32231"/>
                </a:cubicBezTo>
                <a:lnTo>
                  <a:pt x="170222" y="44416"/>
                </a:lnTo>
                <a:cubicBezTo>
                  <a:pt x="171710" y="50043"/>
                  <a:pt x="169059" y="55997"/>
                  <a:pt x="163804" y="58601"/>
                </a:cubicBezTo>
                <a:lnTo>
                  <a:pt x="146270" y="67252"/>
                </a:lnTo>
                <a:cubicBezTo>
                  <a:pt x="145945" y="69624"/>
                  <a:pt x="145479" y="71996"/>
                  <a:pt x="144875" y="74321"/>
                </a:cubicBezTo>
                <a:cubicBezTo>
                  <a:pt x="144270" y="76646"/>
                  <a:pt x="143433" y="78972"/>
                  <a:pt x="142549" y="81158"/>
                </a:cubicBezTo>
                <a:lnTo>
                  <a:pt x="153386" y="97436"/>
                </a:lnTo>
                <a:cubicBezTo>
                  <a:pt x="156642" y="102319"/>
                  <a:pt x="155990" y="108784"/>
                  <a:pt x="151851" y="112923"/>
                </a:cubicBezTo>
                <a:lnTo>
                  <a:pt x="142922" y="121853"/>
                </a:lnTo>
                <a:cubicBezTo>
                  <a:pt x="138782" y="125992"/>
                  <a:pt x="132318" y="126643"/>
                  <a:pt x="127434" y="123388"/>
                </a:cubicBezTo>
                <a:lnTo>
                  <a:pt x="111156" y="112551"/>
                </a:lnTo>
                <a:cubicBezTo>
                  <a:pt x="106738" y="114365"/>
                  <a:pt x="102040" y="115667"/>
                  <a:pt x="97250" y="116318"/>
                </a:cubicBezTo>
                <a:lnTo>
                  <a:pt x="88599" y="133806"/>
                </a:lnTo>
                <a:cubicBezTo>
                  <a:pt x="85995" y="139061"/>
                  <a:pt x="80042" y="141712"/>
                  <a:pt x="74414" y="140224"/>
                </a:cubicBezTo>
                <a:lnTo>
                  <a:pt x="62229" y="136968"/>
                </a:lnTo>
                <a:cubicBezTo>
                  <a:pt x="56555" y="135434"/>
                  <a:pt x="52787" y="130132"/>
                  <a:pt x="53160" y="124318"/>
                </a:cubicBezTo>
                <a:lnTo>
                  <a:pt x="54415" y="104831"/>
                </a:lnTo>
                <a:cubicBezTo>
                  <a:pt x="50555" y="101854"/>
                  <a:pt x="47160" y="98413"/>
                  <a:pt x="44230" y="94599"/>
                </a:cubicBezTo>
                <a:lnTo>
                  <a:pt x="24696" y="95855"/>
                </a:lnTo>
                <a:cubicBezTo>
                  <a:pt x="18883" y="96227"/>
                  <a:pt x="13581" y="92413"/>
                  <a:pt x="12046" y="86785"/>
                </a:cubicBezTo>
                <a:lnTo>
                  <a:pt x="8790" y="74600"/>
                </a:lnTo>
                <a:cubicBezTo>
                  <a:pt x="7302" y="68973"/>
                  <a:pt x="9953" y="63019"/>
                  <a:pt x="15208" y="60415"/>
                </a:cubicBezTo>
                <a:lnTo>
                  <a:pt x="32742" y="51764"/>
                </a:lnTo>
                <a:cubicBezTo>
                  <a:pt x="33068" y="49392"/>
                  <a:pt x="33533" y="47067"/>
                  <a:pt x="34137" y="44695"/>
                </a:cubicBezTo>
                <a:cubicBezTo>
                  <a:pt x="34789" y="42323"/>
                  <a:pt x="35533" y="40044"/>
                  <a:pt x="36463" y="37858"/>
                </a:cubicBezTo>
                <a:lnTo>
                  <a:pt x="25626" y="21627"/>
                </a:lnTo>
                <a:cubicBezTo>
                  <a:pt x="22371" y="16743"/>
                  <a:pt x="23022" y="10278"/>
                  <a:pt x="27161" y="6139"/>
                </a:cubicBezTo>
                <a:lnTo>
                  <a:pt x="36091" y="-2791"/>
                </a:lnTo>
                <a:cubicBezTo>
                  <a:pt x="40230" y="-6930"/>
                  <a:pt x="46695" y="-7581"/>
                  <a:pt x="51578" y="-4325"/>
                </a:cubicBezTo>
                <a:lnTo>
                  <a:pt x="67856" y="6511"/>
                </a:lnTo>
                <a:cubicBezTo>
                  <a:pt x="72275" y="4697"/>
                  <a:pt x="76972" y="3395"/>
                  <a:pt x="81762" y="2744"/>
                </a:cubicBezTo>
                <a:lnTo>
                  <a:pt x="90413" y="-14743"/>
                </a:lnTo>
                <a:cubicBezTo>
                  <a:pt x="93018" y="-19999"/>
                  <a:pt x="98924" y="-22650"/>
                  <a:pt x="104598" y="-21161"/>
                </a:cubicBezTo>
                <a:close/>
                <a:moveTo>
                  <a:pt x="89483" y="39067"/>
                </a:moveTo>
                <a:cubicBezTo>
                  <a:pt x="78189" y="39067"/>
                  <a:pt x="69019" y="48237"/>
                  <a:pt x="69019" y="59531"/>
                </a:cubicBezTo>
                <a:cubicBezTo>
                  <a:pt x="69019" y="70826"/>
                  <a:pt x="78189" y="79995"/>
                  <a:pt x="89483" y="79995"/>
                </a:cubicBezTo>
                <a:cubicBezTo>
                  <a:pt x="100777" y="79995"/>
                  <a:pt x="109947" y="70826"/>
                  <a:pt x="109947" y="59531"/>
                </a:cubicBezTo>
                <a:cubicBezTo>
                  <a:pt x="109947" y="48237"/>
                  <a:pt x="100777" y="39067"/>
                  <a:pt x="89483" y="39067"/>
                </a:cubicBezTo>
                <a:close/>
              </a:path>
            </a:pathLst>
          </a:custGeom>
          <a:solidFill>
            <a:srgbClr val="9810FA"/>
          </a:solidFill>
          <a:ln/>
        </p:spPr>
      </p:sp>
      <p:sp>
        <p:nvSpPr>
          <p:cNvPr id="14" name="Text 12"/>
          <p:cNvSpPr/>
          <p:nvPr/>
        </p:nvSpPr>
        <p:spPr>
          <a:xfrm>
            <a:off x="1143000" y="4050506"/>
            <a:ext cx="10787063"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Overview of Development Environment Manager</a:t>
            </a:r>
            <a:endParaRPr lang="en-US" sz="1600" dirty="0"/>
          </a:p>
        </p:txBody>
      </p:sp>
      <p:sp>
        <p:nvSpPr>
          <p:cNvPr id="15" name="Text 13"/>
          <p:cNvSpPr/>
          <p:nvPr/>
        </p:nvSpPr>
        <p:spPr>
          <a:xfrm>
            <a:off x="1143000" y="4479131"/>
            <a:ext cx="10775156" cy="695325"/>
          </a:xfrm>
          <a:prstGeom prst="rect">
            <a:avLst/>
          </a:prstGeom>
          <a:noFill/>
          <a:ln/>
        </p:spPr>
        <p:txBody>
          <a:bodyPr wrap="square" lIns="0" tIns="0" rIns="0" bIns="0" rtlCol="0" anchor="ctr"/>
          <a:lstStyle/>
          <a:p>
            <a:pPr>
              <a:lnSpc>
                <a:spcPct val="140000"/>
              </a:lnSpc>
            </a:pPr>
            <a:r>
              <a:rPr lang="en-US" sz="1688" dirty="0">
                <a:solidFill>
                  <a:srgbClr val="45556C"/>
                </a:solidFill>
                <a:latin typeface="Quattrocento Sans" pitchFamily="34" charset="0"/>
                <a:ea typeface="Quattrocento Sans" pitchFamily="34" charset="-122"/>
                <a:cs typeface="Quattrocento Sans" pitchFamily="34" charset="-120"/>
              </a:rPr>
              <a:t>A script-based solution using native PowerShell and Shell scripts to backup and restore developer environments. Stores VS Code settings, extensions, and package lists in simple text and JSON files for cross-platform recovery.</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73701" y="999651"/>
            <a:ext cx="3727669" cy="37370"/>
          </a:xfrm>
          <a:custGeom>
            <a:avLst/>
            <a:gdLst/>
            <a:ahLst/>
            <a:cxnLst/>
            <a:rect l="l" t="t" r="r" b="b"/>
            <a:pathLst>
              <a:path w="3727669" h="37370">
                <a:moveTo>
                  <a:pt x="0" y="0"/>
                </a:moveTo>
                <a:lnTo>
                  <a:pt x="3727669" y="0"/>
                </a:lnTo>
                <a:lnTo>
                  <a:pt x="3727669" y="37370"/>
                </a:lnTo>
                <a:lnTo>
                  <a:pt x="0" y="37370"/>
                </a:lnTo>
                <a:lnTo>
                  <a:pt x="0" y="0"/>
                </a:lnTo>
                <a:close/>
              </a:path>
            </a:pathLst>
          </a:custGeom>
          <a:solidFill>
            <a:srgbClr val="2B7FFF"/>
          </a:solidFill>
          <a:ln/>
        </p:spPr>
      </p:sp>
      <p:sp>
        <p:nvSpPr>
          <p:cNvPr id="3" name="Text 1"/>
          <p:cNvSpPr/>
          <p:nvPr/>
        </p:nvSpPr>
        <p:spPr>
          <a:xfrm>
            <a:off x="373701" y="373701"/>
            <a:ext cx="3937876" cy="607264"/>
          </a:xfrm>
          <a:prstGeom prst="rect">
            <a:avLst/>
          </a:prstGeom>
          <a:noFill/>
          <a:ln/>
        </p:spPr>
        <p:txBody>
          <a:bodyPr wrap="square" lIns="0" tIns="0" rIns="0" bIns="140138" rtlCol="0" anchor="ctr"/>
          <a:lstStyle/>
          <a:p>
            <a:pPr>
              <a:lnSpc>
                <a:spcPct val="90000"/>
              </a:lnSpc>
            </a:pPr>
            <a:r>
              <a:rPr lang="en-US" sz="3310" b="1" dirty="0">
                <a:solidFill>
                  <a:srgbClr val="1D293D"/>
                </a:solidFill>
                <a:latin typeface="Quattrocento Sans" pitchFamily="34" charset="0"/>
                <a:ea typeface="Quattrocento Sans" pitchFamily="34" charset="-122"/>
                <a:cs typeface="Quattrocento Sans" pitchFamily="34" charset="-120"/>
              </a:rPr>
              <a:t>Background of Topic</a:t>
            </a:r>
            <a:endParaRPr lang="en-US" sz="1600" dirty="0"/>
          </a:p>
        </p:txBody>
      </p:sp>
      <p:sp>
        <p:nvSpPr>
          <p:cNvPr id="4" name="Shape 2"/>
          <p:cNvSpPr/>
          <p:nvPr/>
        </p:nvSpPr>
        <p:spPr>
          <a:xfrm>
            <a:off x="392386" y="1298611"/>
            <a:ext cx="5558805" cy="2615908"/>
          </a:xfrm>
          <a:custGeom>
            <a:avLst/>
            <a:gdLst/>
            <a:ahLst/>
            <a:cxnLst/>
            <a:rect l="l" t="t" r="r" b="b"/>
            <a:pathLst>
              <a:path w="5558805" h="2615908">
                <a:moveTo>
                  <a:pt x="37370" y="0"/>
                </a:moveTo>
                <a:lnTo>
                  <a:pt x="5465391" y="0"/>
                </a:lnTo>
                <a:cubicBezTo>
                  <a:pt x="5516982" y="0"/>
                  <a:pt x="5558805" y="41823"/>
                  <a:pt x="5558805" y="93414"/>
                </a:cubicBezTo>
                <a:lnTo>
                  <a:pt x="5558805" y="2522494"/>
                </a:lnTo>
                <a:cubicBezTo>
                  <a:pt x="5558805" y="2574085"/>
                  <a:pt x="5516982" y="2615908"/>
                  <a:pt x="5465391" y="2615908"/>
                </a:cubicBezTo>
                <a:lnTo>
                  <a:pt x="37370" y="2615908"/>
                </a:lnTo>
                <a:cubicBezTo>
                  <a:pt x="16731" y="2615908"/>
                  <a:pt x="0" y="2599177"/>
                  <a:pt x="0" y="2578538"/>
                </a:cubicBezTo>
                <a:lnTo>
                  <a:pt x="0" y="37370"/>
                </a:lnTo>
                <a:cubicBezTo>
                  <a:pt x="0" y="16745"/>
                  <a:pt x="16745" y="0"/>
                  <a:pt x="37370" y="0"/>
                </a:cubicBezTo>
                <a:close/>
              </a:path>
            </a:pathLst>
          </a:custGeom>
          <a:solidFill>
            <a:srgbClr val="FEF2F2"/>
          </a:solidFill>
          <a:ln/>
        </p:spPr>
      </p:sp>
      <p:sp>
        <p:nvSpPr>
          <p:cNvPr id="5" name="Shape 3"/>
          <p:cNvSpPr/>
          <p:nvPr/>
        </p:nvSpPr>
        <p:spPr>
          <a:xfrm>
            <a:off x="392386" y="1298611"/>
            <a:ext cx="37370" cy="2615908"/>
          </a:xfrm>
          <a:custGeom>
            <a:avLst/>
            <a:gdLst/>
            <a:ahLst/>
            <a:cxnLst/>
            <a:rect l="l" t="t" r="r" b="b"/>
            <a:pathLst>
              <a:path w="37370" h="2615908">
                <a:moveTo>
                  <a:pt x="37370" y="0"/>
                </a:moveTo>
                <a:lnTo>
                  <a:pt x="37370" y="0"/>
                </a:lnTo>
                <a:lnTo>
                  <a:pt x="37370" y="2615908"/>
                </a:lnTo>
                <a:lnTo>
                  <a:pt x="37370" y="2615908"/>
                </a:lnTo>
                <a:cubicBezTo>
                  <a:pt x="16731" y="2615908"/>
                  <a:pt x="0" y="2599177"/>
                  <a:pt x="0" y="2578538"/>
                </a:cubicBezTo>
                <a:lnTo>
                  <a:pt x="0" y="37370"/>
                </a:lnTo>
                <a:cubicBezTo>
                  <a:pt x="0" y="16745"/>
                  <a:pt x="16745" y="0"/>
                  <a:pt x="37370" y="0"/>
                </a:cubicBezTo>
                <a:close/>
              </a:path>
            </a:pathLst>
          </a:custGeom>
          <a:solidFill>
            <a:srgbClr val="FF6467"/>
          </a:solidFill>
          <a:ln/>
        </p:spPr>
      </p:sp>
      <p:sp>
        <p:nvSpPr>
          <p:cNvPr id="6" name="Shape 4"/>
          <p:cNvSpPr/>
          <p:nvPr/>
        </p:nvSpPr>
        <p:spPr>
          <a:xfrm>
            <a:off x="682005" y="1555531"/>
            <a:ext cx="280276" cy="280276"/>
          </a:xfrm>
          <a:custGeom>
            <a:avLst/>
            <a:gdLst/>
            <a:ahLst/>
            <a:cxnLst/>
            <a:rect l="l" t="t" r="r" b="b"/>
            <a:pathLst>
              <a:path w="280276" h="280276">
                <a:moveTo>
                  <a:pt x="275130" y="82441"/>
                </a:moveTo>
                <a:lnTo>
                  <a:pt x="222578" y="134992"/>
                </a:lnTo>
                <a:cubicBezTo>
                  <a:pt x="217542" y="140028"/>
                  <a:pt x="210043" y="141506"/>
                  <a:pt x="203474" y="138769"/>
                </a:cubicBezTo>
                <a:cubicBezTo>
                  <a:pt x="196905" y="136032"/>
                  <a:pt x="192690" y="129682"/>
                  <a:pt x="192690" y="122621"/>
                </a:cubicBezTo>
                <a:lnTo>
                  <a:pt x="192690" y="87586"/>
                </a:lnTo>
                <a:lnTo>
                  <a:pt x="17517" y="87586"/>
                </a:lnTo>
                <a:cubicBezTo>
                  <a:pt x="7828" y="87586"/>
                  <a:pt x="0" y="79758"/>
                  <a:pt x="0" y="70069"/>
                </a:cubicBezTo>
                <a:cubicBezTo>
                  <a:pt x="0" y="60380"/>
                  <a:pt x="7828" y="52552"/>
                  <a:pt x="17517" y="52552"/>
                </a:cubicBezTo>
                <a:lnTo>
                  <a:pt x="192690" y="52552"/>
                </a:lnTo>
                <a:lnTo>
                  <a:pt x="192690" y="17517"/>
                </a:lnTo>
                <a:cubicBezTo>
                  <a:pt x="192690" y="10456"/>
                  <a:pt x="196959" y="4051"/>
                  <a:pt x="203528" y="1314"/>
                </a:cubicBezTo>
                <a:cubicBezTo>
                  <a:pt x="210097" y="-1423"/>
                  <a:pt x="217597" y="109"/>
                  <a:pt x="222633" y="5091"/>
                </a:cubicBezTo>
                <a:lnTo>
                  <a:pt x="275185" y="57643"/>
                </a:lnTo>
                <a:cubicBezTo>
                  <a:pt x="282028" y="64485"/>
                  <a:pt x="282028" y="75598"/>
                  <a:pt x="275185" y="82441"/>
                </a:cubicBezTo>
                <a:close/>
                <a:moveTo>
                  <a:pt x="57643" y="275130"/>
                </a:moveTo>
                <a:lnTo>
                  <a:pt x="5091" y="222578"/>
                </a:lnTo>
                <a:cubicBezTo>
                  <a:pt x="-1752" y="215736"/>
                  <a:pt x="-1752" y="204623"/>
                  <a:pt x="5091" y="197781"/>
                </a:cubicBezTo>
                <a:lnTo>
                  <a:pt x="57643" y="145229"/>
                </a:lnTo>
                <a:cubicBezTo>
                  <a:pt x="62679" y="140193"/>
                  <a:pt x="70178" y="138715"/>
                  <a:pt x="76747" y="141452"/>
                </a:cubicBezTo>
                <a:cubicBezTo>
                  <a:pt x="83316" y="144189"/>
                  <a:pt x="87586" y="150594"/>
                  <a:pt x="87586" y="157655"/>
                </a:cubicBezTo>
                <a:lnTo>
                  <a:pt x="87586" y="192690"/>
                </a:lnTo>
                <a:lnTo>
                  <a:pt x="262759" y="192690"/>
                </a:lnTo>
                <a:cubicBezTo>
                  <a:pt x="272448" y="192690"/>
                  <a:pt x="280276" y="200518"/>
                  <a:pt x="280276" y="210207"/>
                </a:cubicBezTo>
                <a:cubicBezTo>
                  <a:pt x="280276" y="219896"/>
                  <a:pt x="272448" y="227724"/>
                  <a:pt x="262759" y="227724"/>
                </a:cubicBezTo>
                <a:lnTo>
                  <a:pt x="87586" y="227724"/>
                </a:lnTo>
                <a:lnTo>
                  <a:pt x="87586" y="262759"/>
                </a:lnTo>
                <a:cubicBezTo>
                  <a:pt x="87586" y="269820"/>
                  <a:pt x="83316" y="276225"/>
                  <a:pt x="76747" y="278962"/>
                </a:cubicBezTo>
                <a:cubicBezTo>
                  <a:pt x="70178" y="281699"/>
                  <a:pt x="62679" y="280166"/>
                  <a:pt x="57643" y="275185"/>
                </a:cubicBezTo>
                <a:close/>
              </a:path>
            </a:pathLst>
          </a:custGeom>
          <a:solidFill>
            <a:srgbClr val="FB2C36"/>
          </a:solidFill>
          <a:ln/>
        </p:spPr>
      </p:sp>
      <p:sp>
        <p:nvSpPr>
          <p:cNvPr id="7" name="Text 5"/>
          <p:cNvSpPr/>
          <p:nvPr/>
        </p:nvSpPr>
        <p:spPr>
          <a:xfrm>
            <a:off x="1135117" y="1532175"/>
            <a:ext cx="4376975" cy="326989"/>
          </a:xfrm>
          <a:prstGeom prst="rect">
            <a:avLst/>
          </a:prstGeom>
          <a:noFill/>
          <a:ln/>
        </p:spPr>
        <p:txBody>
          <a:bodyPr wrap="square" lIns="0" tIns="0" rIns="0" bIns="0" rtlCol="0" anchor="ctr"/>
          <a:lstStyle/>
          <a:p>
            <a:pPr>
              <a:lnSpc>
                <a:spcPct val="120000"/>
              </a:lnSpc>
            </a:pPr>
            <a:r>
              <a:rPr lang="en-US" sz="1839" b="1" dirty="0">
                <a:solidFill>
                  <a:srgbClr val="1D293D"/>
                </a:solidFill>
                <a:latin typeface="Quattrocento Sans" pitchFamily="34" charset="0"/>
                <a:ea typeface="Quattrocento Sans" pitchFamily="34" charset="-122"/>
                <a:cs typeface="Quattrocento Sans" pitchFamily="34" charset="-120"/>
              </a:rPr>
              <a:t>Common Issues When Switching Systems</a:t>
            </a:r>
            <a:endParaRPr lang="en-US" sz="1600" dirty="0"/>
          </a:p>
        </p:txBody>
      </p:sp>
      <p:sp>
        <p:nvSpPr>
          <p:cNvPr id="8" name="Shape 6"/>
          <p:cNvSpPr/>
          <p:nvPr/>
        </p:nvSpPr>
        <p:spPr>
          <a:xfrm>
            <a:off x="696310" y="2048349"/>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6467"/>
          </a:solidFill>
          <a:ln/>
        </p:spPr>
      </p:sp>
      <p:sp>
        <p:nvSpPr>
          <p:cNvPr id="9" name="Text 7"/>
          <p:cNvSpPr/>
          <p:nvPr/>
        </p:nvSpPr>
        <p:spPr>
          <a:xfrm>
            <a:off x="942428" y="1999301"/>
            <a:ext cx="3858464"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Reinstalling all development tools from scratch</a:t>
            </a:r>
            <a:endParaRPr lang="en-US" sz="1600" dirty="0"/>
          </a:p>
        </p:txBody>
      </p:sp>
      <p:sp>
        <p:nvSpPr>
          <p:cNvPr id="10" name="Shape 8"/>
          <p:cNvSpPr/>
          <p:nvPr/>
        </p:nvSpPr>
        <p:spPr>
          <a:xfrm>
            <a:off x="691639" y="2422051"/>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6467"/>
          </a:solidFill>
          <a:ln/>
        </p:spPr>
      </p:sp>
      <p:sp>
        <p:nvSpPr>
          <p:cNvPr id="11" name="Text 9"/>
          <p:cNvSpPr/>
          <p:nvPr/>
        </p:nvSpPr>
        <p:spPr>
          <a:xfrm>
            <a:off x="937523" y="2373002"/>
            <a:ext cx="4876800" cy="560552"/>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Remembering which extensions and packages were installed</a:t>
            </a:r>
            <a:endParaRPr lang="en-US" sz="1600" dirty="0"/>
          </a:p>
        </p:txBody>
      </p:sp>
      <p:sp>
        <p:nvSpPr>
          <p:cNvPr id="12" name="Shape 10"/>
          <p:cNvSpPr/>
          <p:nvPr/>
        </p:nvSpPr>
        <p:spPr>
          <a:xfrm>
            <a:off x="696310" y="3076028"/>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6467"/>
          </a:solidFill>
          <a:ln/>
        </p:spPr>
      </p:sp>
      <p:sp>
        <p:nvSpPr>
          <p:cNvPr id="13" name="Text 11"/>
          <p:cNvSpPr/>
          <p:nvPr/>
        </p:nvSpPr>
        <p:spPr>
          <a:xfrm>
            <a:off x="942428" y="3026979"/>
            <a:ext cx="4138740"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Recreating custom configurations and preferences</a:t>
            </a:r>
            <a:endParaRPr lang="en-US" sz="1600" dirty="0"/>
          </a:p>
        </p:txBody>
      </p:sp>
      <p:sp>
        <p:nvSpPr>
          <p:cNvPr id="14" name="Shape 12"/>
          <p:cNvSpPr/>
          <p:nvPr/>
        </p:nvSpPr>
        <p:spPr>
          <a:xfrm>
            <a:off x="696310" y="3449729"/>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6467"/>
          </a:solidFill>
          <a:ln/>
        </p:spPr>
      </p:sp>
      <p:sp>
        <p:nvSpPr>
          <p:cNvPr id="15" name="Text 13"/>
          <p:cNvSpPr/>
          <p:nvPr/>
        </p:nvSpPr>
        <p:spPr>
          <a:xfrm>
            <a:off x="942428" y="3400680"/>
            <a:ext cx="4521784"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Ensuring version compatibility across different systems</a:t>
            </a:r>
            <a:endParaRPr lang="en-US" sz="1600" dirty="0"/>
          </a:p>
        </p:txBody>
      </p:sp>
      <p:sp>
        <p:nvSpPr>
          <p:cNvPr id="16" name="Shape 14"/>
          <p:cNvSpPr/>
          <p:nvPr/>
        </p:nvSpPr>
        <p:spPr>
          <a:xfrm>
            <a:off x="6254239" y="1298611"/>
            <a:ext cx="5558805" cy="2615908"/>
          </a:xfrm>
          <a:custGeom>
            <a:avLst/>
            <a:gdLst/>
            <a:ahLst/>
            <a:cxnLst/>
            <a:rect l="l" t="t" r="r" b="b"/>
            <a:pathLst>
              <a:path w="5558805" h="2615908">
                <a:moveTo>
                  <a:pt x="37370" y="0"/>
                </a:moveTo>
                <a:lnTo>
                  <a:pt x="5465391" y="0"/>
                </a:lnTo>
                <a:cubicBezTo>
                  <a:pt x="5516982" y="0"/>
                  <a:pt x="5558805" y="41823"/>
                  <a:pt x="5558805" y="93414"/>
                </a:cubicBezTo>
                <a:lnTo>
                  <a:pt x="5558805" y="2522494"/>
                </a:lnTo>
                <a:cubicBezTo>
                  <a:pt x="5558805" y="2574085"/>
                  <a:pt x="5516982" y="2615908"/>
                  <a:pt x="5465391" y="2615908"/>
                </a:cubicBezTo>
                <a:lnTo>
                  <a:pt x="37370" y="2615908"/>
                </a:lnTo>
                <a:cubicBezTo>
                  <a:pt x="16731" y="2615908"/>
                  <a:pt x="0" y="2599177"/>
                  <a:pt x="0" y="2578538"/>
                </a:cubicBezTo>
                <a:lnTo>
                  <a:pt x="0" y="37370"/>
                </a:lnTo>
                <a:cubicBezTo>
                  <a:pt x="0" y="16745"/>
                  <a:pt x="16745" y="0"/>
                  <a:pt x="37370" y="0"/>
                </a:cubicBezTo>
                <a:close/>
              </a:path>
            </a:pathLst>
          </a:custGeom>
          <a:solidFill>
            <a:srgbClr val="FFF7ED"/>
          </a:solidFill>
          <a:ln/>
        </p:spPr>
      </p:sp>
      <p:sp>
        <p:nvSpPr>
          <p:cNvPr id="17" name="Shape 15"/>
          <p:cNvSpPr/>
          <p:nvPr/>
        </p:nvSpPr>
        <p:spPr>
          <a:xfrm>
            <a:off x="6254239" y="1298611"/>
            <a:ext cx="37370" cy="2615908"/>
          </a:xfrm>
          <a:custGeom>
            <a:avLst/>
            <a:gdLst/>
            <a:ahLst/>
            <a:cxnLst/>
            <a:rect l="l" t="t" r="r" b="b"/>
            <a:pathLst>
              <a:path w="37370" h="2615908">
                <a:moveTo>
                  <a:pt x="37370" y="0"/>
                </a:moveTo>
                <a:lnTo>
                  <a:pt x="37370" y="0"/>
                </a:lnTo>
                <a:lnTo>
                  <a:pt x="37370" y="2615908"/>
                </a:lnTo>
                <a:lnTo>
                  <a:pt x="37370" y="2615908"/>
                </a:lnTo>
                <a:cubicBezTo>
                  <a:pt x="16731" y="2615908"/>
                  <a:pt x="0" y="2599177"/>
                  <a:pt x="0" y="2578538"/>
                </a:cubicBezTo>
                <a:lnTo>
                  <a:pt x="0" y="37370"/>
                </a:lnTo>
                <a:cubicBezTo>
                  <a:pt x="0" y="16745"/>
                  <a:pt x="16745" y="0"/>
                  <a:pt x="37370" y="0"/>
                </a:cubicBezTo>
                <a:close/>
              </a:path>
            </a:pathLst>
          </a:custGeom>
          <a:solidFill>
            <a:srgbClr val="FF8904"/>
          </a:solidFill>
          <a:ln/>
        </p:spPr>
      </p:sp>
      <p:sp>
        <p:nvSpPr>
          <p:cNvPr id="18" name="Shape 16"/>
          <p:cNvSpPr/>
          <p:nvPr/>
        </p:nvSpPr>
        <p:spPr>
          <a:xfrm>
            <a:off x="6543857" y="1555531"/>
            <a:ext cx="280276" cy="280276"/>
          </a:xfrm>
          <a:custGeom>
            <a:avLst/>
            <a:gdLst/>
            <a:ahLst/>
            <a:cxnLst/>
            <a:rect l="l" t="t" r="r" b="b"/>
            <a:pathLst>
              <a:path w="280276" h="280276">
                <a:moveTo>
                  <a:pt x="140138" y="0"/>
                </a:moveTo>
                <a:cubicBezTo>
                  <a:pt x="217482" y="0"/>
                  <a:pt x="280276" y="62794"/>
                  <a:pt x="280276" y="140138"/>
                </a:cubicBezTo>
                <a:cubicBezTo>
                  <a:pt x="280276" y="217482"/>
                  <a:pt x="217482" y="280276"/>
                  <a:pt x="140138" y="280276"/>
                </a:cubicBezTo>
                <a:cubicBezTo>
                  <a:pt x="62794" y="280276"/>
                  <a:pt x="0" y="217482"/>
                  <a:pt x="0" y="140138"/>
                </a:cubicBezTo>
                <a:cubicBezTo>
                  <a:pt x="0" y="62794"/>
                  <a:pt x="62794" y="0"/>
                  <a:pt x="140138" y="0"/>
                </a:cubicBezTo>
                <a:close/>
                <a:moveTo>
                  <a:pt x="127000" y="65690"/>
                </a:moveTo>
                <a:lnTo>
                  <a:pt x="127000" y="140138"/>
                </a:lnTo>
                <a:cubicBezTo>
                  <a:pt x="127000" y="144517"/>
                  <a:pt x="129190" y="148623"/>
                  <a:pt x="132857" y="151086"/>
                </a:cubicBezTo>
                <a:lnTo>
                  <a:pt x="185409" y="186121"/>
                </a:lnTo>
                <a:cubicBezTo>
                  <a:pt x="191431" y="190172"/>
                  <a:pt x="199587" y="188529"/>
                  <a:pt x="203638" y="182453"/>
                </a:cubicBezTo>
                <a:cubicBezTo>
                  <a:pt x="207689" y="176377"/>
                  <a:pt x="206047" y="168275"/>
                  <a:pt x="199970" y="164224"/>
                </a:cubicBezTo>
                <a:lnTo>
                  <a:pt x="153276" y="133131"/>
                </a:lnTo>
                <a:lnTo>
                  <a:pt x="153276" y="65690"/>
                </a:lnTo>
                <a:cubicBezTo>
                  <a:pt x="153276" y="58409"/>
                  <a:pt x="147419" y="52552"/>
                  <a:pt x="140138" y="52552"/>
                </a:cubicBezTo>
                <a:cubicBezTo>
                  <a:pt x="132857" y="52552"/>
                  <a:pt x="127000" y="58409"/>
                  <a:pt x="127000" y="65690"/>
                </a:cubicBezTo>
                <a:close/>
              </a:path>
            </a:pathLst>
          </a:custGeom>
          <a:solidFill>
            <a:srgbClr val="FF6900"/>
          </a:solidFill>
          <a:ln/>
        </p:spPr>
      </p:sp>
      <p:sp>
        <p:nvSpPr>
          <p:cNvPr id="19" name="Text 17"/>
          <p:cNvSpPr/>
          <p:nvPr/>
        </p:nvSpPr>
        <p:spPr>
          <a:xfrm>
            <a:off x="6996970" y="1532175"/>
            <a:ext cx="3293241" cy="326989"/>
          </a:xfrm>
          <a:prstGeom prst="rect">
            <a:avLst/>
          </a:prstGeom>
          <a:noFill/>
          <a:ln/>
        </p:spPr>
        <p:txBody>
          <a:bodyPr wrap="square" lIns="0" tIns="0" rIns="0" bIns="0" rtlCol="0" anchor="ctr"/>
          <a:lstStyle/>
          <a:p>
            <a:pPr>
              <a:lnSpc>
                <a:spcPct val="120000"/>
              </a:lnSpc>
            </a:pPr>
            <a:r>
              <a:rPr lang="en-US" sz="1839" b="1" dirty="0">
                <a:solidFill>
                  <a:srgbClr val="1D293D"/>
                </a:solidFill>
                <a:latin typeface="Quattrocento Sans" pitchFamily="34" charset="0"/>
                <a:ea typeface="Quattrocento Sans" pitchFamily="34" charset="-122"/>
                <a:cs typeface="Quattrocento Sans" pitchFamily="34" charset="-120"/>
              </a:rPr>
              <a:t>Time Loss Due to Manual Setup</a:t>
            </a:r>
            <a:endParaRPr lang="en-US" sz="1600" dirty="0"/>
          </a:p>
        </p:txBody>
      </p:sp>
      <p:sp>
        <p:nvSpPr>
          <p:cNvPr id="20" name="Shape 18"/>
          <p:cNvSpPr/>
          <p:nvPr/>
        </p:nvSpPr>
        <p:spPr>
          <a:xfrm>
            <a:off x="6558163" y="2048349"/>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8904"/>
          </a:solidFill>
          <a:ln/>
        </p:spPr>
      </p:sp>
      <p:sp>
        <p:nvSpPr>
          <p:cNvPr id="21" name="Text 19"/>
          <p:cNvSpPr/>
          <p:nvPr/>
        </p:nvSpPr>
        <p:spPr>
          <a:xfrm>
            <a:off x="6804280" y="1999301"/>
            <a:ext cx="3531476"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Hours spent reinstalling software and tools</a:t>
            </a:r>
            <a:endParaRPr lang="en-US" sz="1600" dirty="0"/>
          </a:p>
        </p:txBody>
      </p:sp>
      <p:sp>
        <p:nvSpPr>
          <p:cNvPr id="22" name="Shape 20"/>
          <p:cNvSpPr/>
          <p:nvPr/>
        </p:nvSpPr>
        <p:spPr>
          <a:xfrm>
            <a:off x="6558163" y="2422051"/>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8904"/>
          </a:solidFill>
          <a:ln/>
        </p:spPr>
      </p:sp>
      <p:sp>
        <p:nvSpPr>
          <p:cNvPr id="23" name="Text 21"/>
          <p:cNvSpPr/>
          <p:nvPr/>
        </p:nvSpPr>
        <p:spPr>
          <a:xfrm>
            <a:off x="6804280" y="2373002"/>
            <a:ext cx="4026630"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Searching for correct versions and dependencies</a:t>
            </a:r>
            <a:endParaRPr lang="en-US" sz="1600" dirty="0"/>
          </a:p>
        </p:txBody>
      </p:sp>
      <p:sp>
        <p:nvSpPr>
          <p:cNvPr id="24" name="Shape 22"/>
          <p:cNvSpPr/>
          <p:nvPr/>
        </p:nvSpPr>
        <p:spPr>
          <a:xfrm>
            <a:off x="6558163" y="2795752"/>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8904"/>
          </a:solidFill>
          <a:ln/>
        </p:spPr>
      </p:sp>
      <p:sp>
        <p:nvSpPr>
          <p:cNvPr id="25" name="Text 23"/>
          <p:cNvSpPr/>
          <p:nvPr/>
        </p:nvSpPr>
        <p:spPr>
          <a:xfrm>
            <a:off x="6804280" y="2746703"/>
            <a:ext cx="3083034"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Debugging configuration mismatches</a:t>
            </a:r>
            <a:endParaRPr lang="en-US" sz="1600" dirty="0"/>
          </a:p>
        </p:txBody>
      </p:sp>
      <p:sp>
        <p:nvSpPr>
          <p:cNvPr id="26" name="Shape 24"/>
          <p:cNvSpPr/>
          <p:nvPr/>
        </p:nvSpPr>
        <p:spPr>
          <a:xfrm>
            <a:off x="6558163" y="3169453"/>
            <a:ext cx="102184" cy="163494"/>
          </a:xfrm>
          <a:custGeom>
            <a:avLst/>
            <a:gdLst/>
            <a:ahLst/>
            <a:cxnLst/>
            <a:rect l="l" t="t" r="r" b="b"/>
            <a:pathLst>
              <a:path w="102184" h="163494">
                <a:moveTo>
                  <a:pt x="99342" y="74530"/>
                </a:moveTo>
                <a:cubicBezTo>
                  <a:pt x="103333" y="78522"/>
                  <a:pt x="103333" y="85004"/>
                  <a:pt x="99342" y="88996"/>
                </a:cubicBezTo>
                <a:lnTo>
                  <a:pt x="38032" y="150306"/>
                </a:lnTo>
                <a:cubicBezTo>
                  <a:pt x="34040" y="154298"/>
                  <a:pt x="27558" y="154298"/>
                  <a:pt x="23566" y="150306"/>
                </a:cubicBezTo>
                <a:cubicBezTo>
                  <a:pt x="19575" y="146315"/>
                  <a:pt x="19575" y="139832"/>
                  <a:pt x="23566" y="135841"/>
                </a:cubicBezTo>
                <a:lnTo>
                  <a:pt x="77660" y="81747"/>
                </a:lnTo>
                <a:lnTo>
                  <a:pt x="23598" y="27654"/>
                </a:lnTo>
                <a:cubicBezTo>
                  <a:pt x="19607" y="23662"/>
                  <a:pt x="19607" y="17180"/>
                  <a:pt x="23598" y="13188"/>
                </a:cubicBezTo>
                <a:cubicBezTo>
                  <a:pt x="27590" y="9197"/>
                  <a:pt x="34072" y="9197"/>
                  <a:pt x="38064" y="13188"/>
                </a:cubicBezTo>
                <a:lnTo>
                  <a:pt x="99374" y="74498"/>
                </a:lnTo>
                <a:close/>
              </a:path>
            </a:pathLst>
          </a:custGeom>
          <a:solidFill>
            <a:srgbClr val="FF8904"/>
          </a:solidFill>
          <a:ln/>
        </p:spPr>
      </p:sp>
      <p:sp>
        <p:nvSpPr>
          <p:cNvPr id="27" name="Text 25"/>
          <p:cNvSpPr/>
          <p:nvPr/>
        </p:nvSpPr>
        <p:spPr>
          <a:xfrm>
            <a:off x="6804280" y="3120405"/>
            <a:ext cx="3951890" cy="280276"/>
          </a:xfrm>
          <a:prstGeom prst="rect">
            <a:avLst/>
          </a:prstGeom>
          <a:noFill/>
          <a:ln/>
        </p:spPr>
        <p:txBody>
          <a:bodyPr wrap="square" lIns="0" tIns="0" rIns="0" bIns="0" rtlCol="0" anchor="ctr"/>
          <a:lstStyle/>
          <a:p>
            <a:pPr>
              <a:lnSpc>
                <a:spcPct val="130000"/>
              </a:lnSpc>
            </a:pPr>
            <a:r>
              <a:rPr lang="en-US" sz="1471" dirty="0">
                <a:solidFill>
                  <a:srgbClr val="314158"/>
                </a:solidFill>
                <a:latin typeface="Quattrocento Sans" pitchFamily="34" charset="0"/>
                <a:ea typeface="Quattrocento Sans" pitchFamily="34" charset="-122"/>
                <a:cs typeface="Quattrocento Sans" pitchFamily="34" charset="-120"/>
              </a:rPr>
              <a:t>Lost productivity during environment recreation</a:t>
            </a:r>
            <a:endParaRPr lang="en-US" sz="1600" dirty="0"/>
          </a:p>
        </p:txBody>
      </p:sp>
      <p:sp>
        <p:nvSpPr>
          <p:cNvPr id="28" name="Shape 26"/>
          <p:cNvSpPr/>
          <p:nvPr/>
        </p:nvSpPr>
        <p:spPr>
          <a:xfrm>
            <a:off x="392386" y="4194795"/>
            <a:ext cx="11425913" cy="2288920"/>
          </a:xfrm>
          <a:custGeom>
            <a:avLst/>
            <a:gdLst/>
            <a:ahLst/>
            <a:cxnLst/>
            <a:rect l="l" t="t" r="r" b="b"/>
            <a:pathLst>
              <a:path w="11425913" h="2288920">
                <a:moveTo>
                  <a:pt x="37370" y="0"/>
                </a:moveTo>
                <a:lnTo>
                  <a:pt x="11332479" y="0"/>
                </a:lnTo>
                <a:cubicBezTo>
                  <a:pt x="11384081" y="0"/>
                  <a:pt x="11425913" y="41832"/>
                  <a:pt x="11425913" y="93434"/>
                </a:cubicBezTo>
                <a:lnTo>
                  <a:pt x="11425913" y="2195486"/>
                </a:lnTo>
                <a:cubicBezTo>
                  <a:pt x="11425913" y="2247088"/>
                  <a:pt x="11384081" y="2288920"/>
                  <a:pt x="11332479" y="2288920"/>
                </a:cubicBezTo>
                <a:lnTo>
                  <a:pt x="37370" y="2288920"/>
                </a:lnTo>
                <a:cubicBezTo>
                  <a:pt x="16731" y="2288920"/>
                  <a:pt x="0" y="2272188"/>
                  <a:pt x="0" y="2251549"/>
                </a:cubicBezTo>
                <a:lnTo>
                  <a:pt x="0" y="37370"/>
                </a:lnTo>
                <a:cubicBezTo>
                  <a:pt x="0" y="16745"/>
                  <a:pt x="16745" y="0"/>
                  <a:pt x="37370" y="0"/>
                </a:cubicBezTo>
                <a:close/>
              </a:path>
            </a:pathLst>
          </a:custGeom>
          <a:solidFill>
            <a:srgbClr val="EFF6FF"/>
          </a:solidFill>
          <a:ln/>
        </p:spPr>
      </p:sp>
      <p:sp>
        <p:nvSpPr>
          <p:cNvPr id="29" name="Shape 27"/>
          <p:cNvSpPr/>
          <p:nvPr/>
        </p:nvSpPr>
        <p:spPr>
          <a:xfrm>
            <a:off x="392386" y="4194795"/>
            <a:ext cx="37370" cy="2288920"/>
          </a:xfrm>
          <a:custGeom>
            <a:avLst/>
            <a:gdLst/>
            <a:ahLst/>
            <a:cxnLst/>
            <a:rect l="l" t="t" r="r" b="b"/>
            <a:pathLst>
              <a:path w="37370" h="2288920">
                <a:moveTo>
                  <a:pt x="37370" y="0"/>
                </a:moveTo>
                <a:lnTo>
                  <a:pt x="37370" y="0"/>
                </a:lnTo>
                <a:lnTo>
                  <a:pt x="37370" y="2288920"/>
                </a:lnTo>
                <a:lnTo>
                  <a:pt x="37370" y="2288920"/>
                </a:lnTo>
                <a:cubicBezTo>
                  <a:pt x="16731" y="2288920"/>
                  <a:pt x="0" y="2272188"/>
                  <a:pt x="0" y="2251549"/>
                </a:cubicBezTo>
                <a:lnTo>
                  <a:pt x="0" y="37370"/>
                </a:lnTo>
                <a:cubicBezTo>
                  <a:pt x="0" y="16745"/>
                  <a:pt x="16745" y="0"/>
                  <a:pt x="37370" y="0"/>
                </a:cubicBezTo>
                <a:close/>
              </a:path>
            </a:pathLst>
          </a:custGeom>
          <a:solidFill>
            <a:srgbClr val="51A2FF"/>
          </a:solidFill>
          <a:ln/>
        </p:spPr>
      </p:sp>
      <p:sp>
        <p:nvSpPr>
          <p:cNvPr id="30" name="Shape 28"/>
          <p:cNvSpPr/>
          <p:nvPr/>
        </p:nvSpPr>
        <p:spPr>
          <a:xfrm>
            <a:off x="682005" y="4451715"/>
            <a:ext cx="280276" cy="280276"/>
          </a:xfrm>
          <a:custGeom>
            <a:avLst/>
            <a:gdLst/>
            <a:ahLst/>
            <a:cxnLst/>
            <a:rect l="l" t="t" r="r" b="b"/>
            <a:pathLst>
              <a:path w="280276" h="280276">
                <a:moveTo>
                  <a:pt x="260186" y="55"/>
                </a:moveTo>
                <a:cubicBezTo>
                  <a:pt x="265605" y="-383"/>
                  <a:pt x="270915" y="1697"/>
                  <a:pt x="274747" y="5529"/>
                </a:cubicBezTo>
                <a:cubicBezTo>
                  <a:pt x="278579" y="9361"/>
                  <a:pt x="280659" y="14671"/>
                  <a:pt x="280221" y="20090"/>
                </a:cubicBezTo>
                <a:cubicBezTo>
                  <a:pt x="278031" y="47078"/>
                  <a:pt x="270696" y="89174"/>
                  <a:pt x="254876" y="129409"/>
                </a:cubicBezTo>
                <a:cubicBezTo>
                  <a:pt x="253891" y="131872"/>
                  <a:pt x="251865" y="133733"/>
                  <a:pt x="249292" y="134500"/>
                </a:cubicBezTo>
                <a:lnTo>
                  <a:pt x="205006" y="147802"/>
                </a:lnTo>
                <a:cubicBezTo>
                  <a:pt x="202872" y="148459"/>
                  <a:pt x="201448" y="150375"/>
                  <a:pt x="201448" y="152619"/>
                </a:cubicBezTo>
                <a:cubicBezTo>
                  <a:pt x="201448" y="155411"/>
                  <a:pt x="203693" y="157655"/>
                  <a:pt x="206484" y="157655"/>
                </a:cubicBezTo>
                <a:lnTo>
                  <a:pt x="227615" y="157655"/>
                </a:lnTo>
                <a:cubicBezTo>
                  <a:pt x="234184" y="157655"/>
                  <a:pt x="238399" y="164662"/>
                  <a:pt x="235005" y="170300"/>
                </a:cubicBezTo>
                <a:cubicBezTo>
                  <a:pt x="232815" y="173968"/>
                  <a:pt x="230461" y="177526"/>
                  <a:pt x="228053" y="181030"/>
                </a:cubicBezTo>
                <a:cubicBezTo>
                  <a:pt x="226958" y="182617"/>
                  <a:pt x="225316" y="183767"/>
                  <a:pt x="223454" y="184369"/>
                </a:cubicBezTo>
                <a:lnTo>
                  <a:pt x="169972" y="200353"/>
                </a:lnTo>
                <a:cubicBezTo>
                  <a:pt x="167837" y="201010"/>
                  <a:pt x="166414" y="202926"/>
                  <a:pt x="166414" y="205171"/>
                </a:cubicBezTo>
                <a:cubicBezTo>
                  <a:pt x="166414" y="207963"/>
                  <a:pt x="168658" y="210207"/>
                  <a:pt x="171450" y="210207"/>
                </a:cubicBezTo>
                <a:lnTo>
                  <a:pt x="180209" y="210207"/>
                </a:lnTo>
                <a:cubicBezTo>
                  <a:pt x="188201" y="210207"/>
                  <a:pt x="191704" y="219732"/>
                  <a:pt x="185026" y="224111"/>
                </a:cubicBezTo>
                <a:cubicBezTo>
                  <a:pt x="147802" y="248745"/>
                  <a:pt x="109647" y="247814"/>
                  <a:pt x="85178" y="241245"/>
                </a:cubicBezTo>
                <a:cubicBezTo>
                  <a:pt x="78225" y="239384"/>
                  <a:pt x="72040" y="235826"/>
                  <a:pt x="66347" y="231447"/>
                </a:cubicBezTo>
                <a:lnTo>
                  <a:pt x="26276" y="271517"/>
                </a:lnTo>
                <a:cubicBezTo>
                  <a:pt x="21459" y="276334"/>
                  <a:pt x="13576" y="276334"/>
                  <a:pt x="8759" y="271517"/>
                </a:cubicBezTo>
                <a:cubicBezTo>
                  <a:pt x="3941" y="266700"/>
                  <a:pt x="3941" y="258817"/>
                  <a:pt x="8759" y="254000"/>
                </a:cubicBezTo>
                <a:lnTo>
                  <a:pt x="52552" y="210207"/>
                </a:lnTo>
                <a:lnTo>
                  <a:pt x="52825" y="210481"/>
                </a:lnTo>
                <a:cubicBezTo>
                  <a:pt x="53209" y="209769"/>
                  <a:pt x="53701" y="209112"/>
                  <a:pt x="54303" y="208510"/>
                </a:cubicBezTo>
                <a:lnTo>
                  <a:pt x="140138" y="122621"/>
                </a:lnTo>
                <a:cubicBezTo>
                  <a:pt x="144955" y="117803"/>
                  <a:pt x="144955" y="109921"/>
                  <a:pt x="140138" y="105103"/>
                </a:cubicBezTo>
                <a:cubicBezTo>
                  <a:pt x="135321" y="100286"/>
                  <a:pt x="127438" y="100286"/>
                  <a:pt x="122621" y="105103"/>
                </a:cubicBezTo>
                <a:lnTo>
                  <a:pt x="49103" y="178566"/>
                </a:lnTo>
                <a:cubicBezTo>
                  <a:pt x="44231" y="183438"/>
                  <a:pt x="35965" y="180975"/>
                  <a:pt x="35418" y="174078"/>
                </a:cubicBezTo>
                <a:cubicBezTo>
                  <a:pt x="33064" y="144955"/>
                  <a:pt x="40509" y="106691"/>
                  <a:pt x="75160" y="72040"/>
                </a:cubicBezTo>
                <a:cubicBezTo>
                  <a:pt x="125029" y="22170"/>
                  <a:pt x="214313" y="3777"/>
                  <a:pt x="260131" y="55"/>
                </a:cubicBezTo>
                <a:close/>
              </a:path>
            </a:pathLst>
          </a:custGeom>
          <a:solidFill>
            <a:srgbClr val="2B7FFF"/>
          </a:solidFill>
          <a:ln/>
        </p:spPr>
      </p:sp>
      <p:sp>
        <p:nvSpPr>
          <p:cNvPr id="31" name="Text 29"/>
          <p:cNvSpPr/>
          <p:nvPr/>
        </p:nvSpPr>
        <p:spPr>
          <a:xfrm>
            <a:off x="1135117" y="4428359"/>
            <a:ext cx="4582510" cy="326989"/>
          </a:xfrm>
          <a:prstGeom prst="rect">
            <a:avLst/>
          </a:prstGeom>
          <a:noFill/>
          <a:ln/>
        </p:spPr>
        <p:txBody>
          <a:bodyPr wrap="square" lIns="0" tIns="0" rIns="0" bIns="0" rtlCol="0" anchor="ctr"/>
          <a:lstStyle/>
          <a:p>
            <a:pPr>
              <a:lnSpc>
                <a:spcPct val="120000"/>
              </a:lnSpc>
            </a:pPr>
            <a:r>
              <a:rPr lang="en-US" sz="1839" b="1" dirty="0">
                <a:solidFill>
                  <a:srgbClr val="1D293D"/>
                </a:solidFill>
                <a:latin typeface="Quattrocento Sans" pitchFamily="34" charset="0"/>
                <a:ea typeface="Quattrocento Sans" pitchFamily="34" charset="-122"/>
                <a:cs typeface="Quattrocento Sans" pitchFamily="34" charset="-120"/>
              </a:rPr>
              <a:t>Need for Lightweight Environment Recovery</a:t>
            </a:r>
            <a:endParaRPr lang="en-US" sz="1600" dirty="0"/>
          </a:p>
        </p:txBody>
      </p:sp>
      <p:sp>
        <p:nvSpPr>
          <p:cNvPr id="32" name="Shape 30"/>
          <p:cNvSpPr/>
          <p:nvPr/>
        </p:nvSpPr>
        <p:spPr>
          <a:xfrm>
            <a:off x="2031766" y="4895485"/>
            <a:ext cx="747402" cy="747402"/>
          </a:xfrm>
          <a:custGeom>
            <a:avLst/>
            <a:gdLst/>
            <a:ahLst/>
            <a:cxnLst/>
            <a:rect l="l" t="t" r="r" b="b"/>
            <a:pathLst>
              <a:path w="747402" h="747402">
                <a:moveTo>
                  <a:pt x="373701" y="0"/>
                </a:moveTo>
                <a:lnTo>
                  <a:pt x="373701" y="0"/>
                </a:lnTo>
                <a:cubicBezTo>
                  <a:pt x="579952" y="0"/>
                  <a:pt x="747402" y="167450"/>
                  <a:pt x="747402" y="373701"/>
                </a:cubicBezTo>
                <a:lnTo>
                  <a:pt x="747402" y="373701"/>
                </a:lnTo>
                <a:cubicBezTo>
                  <a:pt x="747402" y="579952"/>
                  <a:pt x="579952" y="747402"/>
                  <a:pt x="373701" y="747402"/>
                </a:cubicBezTo>
                <a:lnTo>
                  <a:pt x="373701" y="747402"/>
                </a:lnTo>
                <a:cubicBezTo>
                  <a:pt x="167450" y="747402"/>
                  <a:pt x="0" y="579952"/>
                  <a:pt x="0" y="373701"/>
                </a:cubicBezTo>
                <a:lnTo>
                  <a:pt x="0" y="373701"/>
                </a:lnTo>
                <a:cubicBezTo>
                  <a:pt x="0" y="167450"/>
                  <a:pt x="167450" y="0"/>
                  <a:pt x="373701" y="0"/>
                </a:cubicBezTo>
                <a:close/>
              </a:path>
            </a:pathLst>
          </a:custGeom>
          <a:solidFill>
            <a:srgbClr val="FFFFFF"/>
          </a:solidFill>
          <a:ln/>
          <a:effectLst>
            <a:outerShdw sx="100000" sy="100000" kx="0" ky="0" algn="bl" rotWithShape="0" blurRad="56055" dist="37370" dir="5400000">
              <a:srgbClr val="000000">
                <a:alpha val="10196"/>
              </a:srgbClr>
            </a:outerShdw>
          </a:effectLst>
        </p:spPr>
      </p:sp>
      <p:sp>
        <p:nvSpPr>
          <p:cNvPr id="33" name="Shape 31"/>
          <p:cNvSpPr/>
          <p:nvPr/>
        </p:nvSpPr>
        <p:spPr>
          <a:xfrm>
            <a:off x="2285183" y="5129048"/>
            <a:ext cx="245241" cy="280276"/>
          </a:xfrm>
          <a:custGeom>
            <a:avLst/>
            <a:gdLst/>
            <a:ahLst/>
            <a:cxnLst/>
            <a:rect l="l" t="t" r="r" b="b"/>
            <a:pathLst>
              <a:path w="245241" h="280276">
                <a:moveTo>
                  <a:pt x="185464" y="-5419"/>
                </a:moveTo>
                <a:cubicBezTo>
                  <a:pt x="191978" y="-712"/>
                  <a:pt x="194387" y="7828"/>
                  <a:pt x="191431" y="15273"/>
                </a:cubicBezTo>
                <a:lnTo>
                  <a:pt x="148513" y="122621"/>
                </a:lnTo>
                <a:lnTo>
                  <a:pt x="227724" y="122621"/>
                </a:lnTo>
                <a:cubicBezTo>
                  <a:pt x="235114" y="122621"/>
                  <a:pt x="241683" y="127219"/>
                  <a:pt x="244201" y="134171"/>
                </a:cubicBezTo>
                <a:cubicBezTo>
                  <a:pt x="246719" y="141123"/>
                  <a:pt x="244584" y="148897"/>
                  <a:pt x="238946" y="153604"/>
                </a:cubicBezTo>
                <a:lnTo>
                  <a:pt x="81291" y="284984"/>
                </a:lnTo>
                <a:cubicBezTo>
                  <a:pt x="75105" y="290129"/>
                  <a:pt x="66292" y="290403"/>
                  <a:pt x="59778" y="285695"/>
                </a:cubicBezTo>
                <a:cubicBezTo>
                  <a:pt x="53263" y="280988"/>
                  <a:pt x="50855" y="272448"/>
                  <a:pt x="53811" y="265003"/>
                </a:cubicBezTo>
                <a:lnTo>
                  <a:pt x="96728" y="157655"/>
                </a:lnTo>
                <a:lnTo>
                  <a:pt x="17517" y="157655"/>
                </a:lnTo>
                <a:cubicBezTo>
                  <a:pt x="10127" y="157655"/>
                  <a:pt x="3558" y="153057"/>
                  <a:pt x="1040" y="146105"/>
                </a:cubicBezTo>
                <a:cubicBezTo>
                  <a:pt x="-1478" y="139153"/>
                  <a:pt x="657" y="131379"/>
                  <a:pt x="6295" y="126672"/>
                </a:cubicBezTo>
                <a:lnTo>
                  <a:pt x="163950" y="-4708"/>
                </a:lnTo>
                <a:cubicBezTo>
                  <a:pt x="170136" y="-9853"/>
                  <a:pt x="178950" y="-10127"/>
                  <a:pt x="185464" y="-5419"/>
                </a:cubicBezTo>
                <a:close/>
              </a:path>
            </a:pathLst>
          </a:custGeom>
          <a:solidFill>
            <a:srgbClr val="F0B100"/>
          </a:solidFill>
          <a:ln/>
        </p:spPr>
      </p:sp>
      <p:sp>
        <p:nvSpPr>
          <p:cNvPr id="34" name="Text 32"/>
          <p:cNvSpPr/>
          <p:nvPr/>
        </p:nvSpPr>
        <p:spPr>
          <a:xfrm>
            <a:off x="597922" y="5736313"/>
            <a:ext cx="3615559" cy="280276"/>
          </a:xfrm>
          <a:prstGeom prst="rect">
            <a:avLst/>
          </a:prstGeom>
          <a:noFill/>
          <a:ln/>
        </p:spPr>
        <p:txBody>
          <a:bodyPr wrap="square" lIns="0" tIns="0" rIns="0" bIns="0" rtlCol="0" anchor="ctr"/>
          <a:lstStyle/>
          <a:p>
            <a:pPr algn="ctr">
              <a:lnSpc>
                <a:spcPct val="130000"/>
              </a:lnSpc>
            </a:pPr>
            <a:r>
              <a:rPr lang="en-US" sz="1471" b="1" dirty="0">
                <a:solidFill>
                  <a:srgbClr val="1D293D"/>
                </a:solidFill>
                <a:latin typeface="Quattrocento Sans" pitchFamily="34" charset="0"/>
                <a:ea typeface="Quattrocento Sans" pitchFamily="34" charset="-122"/>
                <a:cs typeface="Quattrocento Sans" pitchFamily="34" charset="-120"/>
              </a:rPr>
              <a:t>Fast Recovery</a:t>
            </a:r>
            <a:endParaRPr lang="en-US" sz="1600" dirty="0"/>
          </a:p>
        </p:txBody>
      </p:sp>
      <p:sp>
        <p:nvSpPr>
          <p:cNvPr id="35" name="Text 33"/>
          <p:cNvSpPr/>
          <p:nvPr/>
        </p:nvSpPr>
        <p:spPr>
          <a:xfrm>
            <a:off x="603761" y="6016589"/>
            <a:ext cx="3603880" cy="233563"/>
          </a:xfrm>
          <a:prstGeom prst="rect">
            <a:avLst/>
          </a:prstGeom>
          <a:noFill/>
          <a:ln/>
        </p:spPr>
        <p:txBody>
          <a:bodyPr wrap="square" lIns="0" tIns="0" rIns="0" bIns="0" rtlCol="0" anchor="ctr"/>
          <a:lstStyle/>
          <a:p>
            <a:pPr algn="ctr">
              <a:lnSpc>
                <a:spcPct val="120000"/>
              </a:lnSpc>
            </a:pPr>
            <a:r>
              <a:rPr lang="en-US" sz="1287" dirty="0">
                <a:solidFill>
                  <a:srgbClr val="45556C"/>
                </a:solidFill>
                <a:latin typeface="Quattrocento Sans" pitchFamily="34" charset="0"/>
                <a:ea typeface="Quattrocento Sans" pitchFamily="34" charset="-122"/>
                <a:cs typeface="Quattrocento Sans" pitchFamily="34" charset="-120"/>
              </a:rPr>
              <a:t>Quick restoration process</a:t>
            </a:r>
            <a:endParaRPr lang="en-US" sz="1600" dirty="0"/>
          </a:p>
        </p:txBody>
      </p:sp>
      <p:sp>
        <p:nvSpPr>
          <p:cNvPr id="36" name="Shape 34"/>
          <p:cNvSpPr/>
          <p:nvPr/>
        </p:nvSpPr>
        <p:spPr>
          <a:xfrm>
            <a:off x="5740400" y="4895485"/>
            <a:ext cx="747402" cy="747402"/>
          </a:xfrm>
          <a:custGeom>
            <a:avLst/>
            <a:gdLst/>
            <a:ahLst/>
            <a:cxnLst/>
            <a:rect l="l" t="t" r="r" b="b"/>
            <a:pathLst>
              <a:path w="747402" h="747402">
                <a:moveTo>
                  <a:pt x="373701" y="0"/>
                </a:moveTo>
                <a:lnTo>
                  <a:pt x="373701" y="0"/>
                </a:lnTo>
                <a:cubicBezTo>
                  <a:pt x="579952" y="0"/>
                  <a:pt x="747402" y="167450"/>
                  <a:pt x="747402" y="373701"/>
                </a:cubicBezTo>
                <a:lnTo>
                  <a:pt x="747402" y="373701"/>
                </a:lnTo>
                <a:cubicBezTo>
                  <a:pt x="747402" y="579952"/>
                  <a:pt x="579952" y="747402"/>
                  <a:pt x="373701" y="747402"/>
                </a:cubicBezTo>
                <a:lnTo>
                  <a:pt x="373701" y="747402"/>
                </a:lnTo>
                <a:cubicBezTo>
                  <a:pt x="167450" y="747402"/>
                  <a:pt x="0" y="579952"/>
                  <a:pt x="0" y="373701"/>
                </a:cubicBezTo>
                <a:lnTo>
                  <a:pt x="0" y="373701"/>
                </a:lnTo>
                <a:cubicBezTo>
                  <a:pt x="0" y="167450"/>
                  <a:pt x="167450" y="0"/>
                  <a:pt x="373701" y="0"/>
                </a:cubicBezTo>
                <a:close/>
              </a:path>
            </a:pathLst>
          </a:custGeom>
          <a:solidFill>
            <a:srgbClr val="FFFFFF"/>
          </a:solidFill>
          <a:ln/>
          <a:effectLst>
            <a:outerShdw sx="100000" sy="100000" kx="0" ky="0" algn="bl" rotWithShape="0" blurRad="56055" dist="37370" dir="5400000">
              <a:srgbClr val="000000">
                <a:alpha val="10196"/>
              </a:srgbClr>
            </a:outerShdw>
          </a:effectLst>
        </p:spPr>
      </p:sp>
      <p:sp>
        <p:nvSpPr>
          <p:cNvPr id="37" name="Shape 35"/>
          <p:cNvSpPr/>
          <p:nvPr/>
        </p:nvSpPr>
        <p:spPr>
          <a:xfrm>
            <a:off x="5976299" y="5129048"/>
            <a:ext cx="280276" cy="280276"/>
          </a:xfrm>
          <a:custGeom>
            <a:avLst/>
            <a:gdLst/>
            <a:ahLst/>
            <a:cxnLst/>
            <a:rect l="l" t="t" r="r" b="b"/>
            <a:pathLst>
              <a:path w="280276" h="280276">
                <a:moveTo>
                  <a:pt x="192690" y="0"/>
                </a:moveTo>
                <a:cubicBezTo>
                  <a:pt x="215134" y="0"/>
                  <a:pt x="236647" y="8923"/>
                  <a:pt x="252467" y="24743"/>
                </a:cubicBezTo>
                <a:lnTo>
                  <a:pt x="255478" y="27754"/>
                </a:lnTo>
                <a:cubicBezTo>
                  <a:pt x="271353" y="43629"/>
                  <a:pt x="280276" y="65142"/>
                  <a:pt x="280276" y="87531"/>
                </a:cubicBezTo>
                <a:cubicBezTo>
                  <a:pt x="280276" y="100724"/>
                  <a:pt x="277156" y="113588"/>
                  <a:pt x="271408" y="125194"/>
                </a:cubicBezTo>
                <a:cubicBezTo>
                  <a:pt x="270368" y="127219"/>
                  <a:pt x="268506" y="128752"/>
                  <a:pt x="266317" y="129409"/>
                </a:cubicBezTo>
                <a:lnTo>
                  <a:pt x="205006" y="147802"/>
                </a:lnTo>
                <a:cubicBezTo>
                  <a:pt x="202872" y="148459"/>
                  <a:pt x="201448" y="150375"/>
                  <a:pt x="201448" y="152619"/>
                </a:cubicBezTo>
                <a:cubicBezTo>
                  <a:pt x="201448" y="155411"/>
                  <a:pt x="203693" y="157655"/>
                  <a:pt x="206484" y="157655"/>
                </a:cubicBezTo>
                <a:lnTo>
                  <a:pt x="224111" y="157655"/>
                </a:lnTo>
                <a:cubicBezTo>
                  <a:pt x="231939" y="157655"/>
                  <a:pt x="235826" y="167071"/>
                  <a:pt x="230297" y="172600"/>
                </a:cubicBezTo>
                <a:lnTo>
                  <a:pt x="218035" y="184862"/>
                </a:lnTo>
                <a:cubicBezTo>
                  <a:pt x="216995" y="185902"/>
                  <a:pt x="215736" y="186613"/>
                  <a:pt x="214367" y="187051"/>
                </a:cubicBezTo>
                <a:lnTo>
                  <a:pt x="170027" y="200353"/>
                </a:lnTo>
                <a:cubicBezTo>
                  <a:pt x="167892" y="201010"/>
                  <a:pt x="166469" y="202926"/>
                  <a:pt x="166469" y="205171"/>
                </a:cubicBezTo>
                <a:cubicBezTo>
                  <a:pt x="166469" y="207963"/>
                  <a:pt x="168713" y="210207"/>
                  <a:pt x="171505" y="210207"/>
                </a:cubicBezTo>
                <a:cubicBezTo>
                  <a:pt x="178731" y="210207"/>
                  <a:pt x="181851" y="218801"/>
                  <a:pt x="175775" y="222743"/>
                </a:cubicBezTo>
                <a:cubicBezTo>
                  <a:pt x="153276" y="237304"/>
                  <a:pt x="126891" y="245241"/>
                  <a:pt x="99684" y="245241"/>
                </a:cubicBezTo>
                <a:lnTo>
                  <a:pt x="52606" y="245241"/>
                </a:lnTo>
                <a:lnTo>
                  <a:pt x="26331" y="271517"/>
                </a:lnTo>
                <a:cubicBezTo>
                  <a:pt x="21513" y="276334"/>
                  <a:pt x="13631" y="276334"/>
                  <a:pt x="8813" y="271517"/>
                </a:cubicBezTo>
                <a:cubicBezTo>
                  <a:pt x="3996" y="266700"/>
                  <a:pt x="3996" y="258817"/>
                  <a:pt x="8813" y="254000"/>
                </a:cubicBezTo>
                <a:lnTo>
                  <a:pt x="140138" y="122621"/>
                </a:lnTo>
                <a:cubicBezTo>
                  <a:pt x="144955" y="117803"/>
                  <a:pt x="144955" y="109921"/>
                  <a:pt x="140138" y="105103"/>
                </a:cubicBezTo>
                <a:cubicBezTo>
                  <a:pt x="135321" y="100286"/>
                  <a:pt x="127438" y="100286"/>
                  <a:pt x="122621" y="105103"/>
                </a:cubicBezTo>
                <a:lnTo>
                  <a:pt x="43519" y="184205"/>
                </a:lnTo>
                <a:cubicBezTo>
                  <a:pt x="40399" y="187325"/>
                  <a:pt x="35034" y="185135"/>
                  <a:pt x="35034" y="180701"/>
                </a:cubicBezTo>
                <a:cubicBezTo>
                  <a:pt x="35034" y="143532"/>
                  <a:pt x="49815" y="107895"/>
                  <a:pt x="76091" y="81619"/>
                </a:cubicBezTo>
                <a:lnTo>
                  <a:pt x="132912" y="24743"/>
                </a:lnTo>
                <a:cubicBezTo>
                  <a:pt x="148732" y="8923"/>
                  <a:pt x="170246" y="0"/>
                  <a:pt x="192690" y="0"/>
                </a:cubicBezTo>
                <a:close/>
              </a:path>
            </a:pathLst>
          </a:custGeom>
          <a:solidFill>
            <a:srgbClr val="00C950"/>
          </a:solidFill>
          <a:ln/>
        </p:spPr>
      </p:sp>
      <p:sp>
        <p:nvSpPr>
          <p:cNvPr id="38" name="Text 36"/>
          <p:cNvSpPr/>
          <p:nvPr/>
        </p:nvSpPr>
        <p:spPr>
          <a:xfrm>
            <a:off x="4306555" y="5736313"/>
            <a:ext cx="3615559" cy="280276"/>
          </a:xfrm>
          <a:prstGeom prst="rect">
            <a:avLst/>
          </a:prstGeom>
          <a:noFill/>
          <a:ln/>
        </p:spPr>
        <p:txBody>
          <a:bodyPr wrap="square" lIns="0" tIns="0" rIns="0" bIns="0" rtlCol="0" anchor="ctr"/>
          <a:lstStyle/>
          <a:p>
            <a:pPr algn="ctr">
              <a:lnSpc>
                <a:spcPct val="130000"/>
              </a:lnSpc>
            </a:pPr>
            <a:r>
              <a:rPr lang="en-US" sz="1471" b="1" dirty="0">
                <a:solidFill>
                  <a:srgbClr val="1D293D"/>
                </a:solidFill>
                <a:latin typeface="Quattrocento Sans" pitchFamily="34" charset="0"/>
                <a:ea typeface="Quattrocento Sans" pitchFamily="34" charset="-122"/>
                <a:cs typeface="Quattrocento Sans" pitchFamily="34" charset="-120"/>
              </a:rPr>
              <a:t>Lightweight</a:t>
            </a:r>
            <a:endParaRPr lang="en-US" sz="1600" dirty="0"/>
          </a:p>
        </p:txBody>
      </p:sp>
      <p:sp>
        <p:nvSpPr>
          <p:cNvPr id="39" name="Text 37"/>
          <p:cNvSpPr/>
          <p:nvPr/>
        </p:nvSpPr>
        <p:spPr>
          <a:xfrm>
            <a:off x="4312394" y="6016589"/>
            <a:ext cx="3603880" cy="233563"/>
          </a:xfrm>
          <a:prstGeom prst="rect">
            <a:avLst/>
          </a:prstGeom>
          <a:noFill/>
          <a:ln/>
        </p:spPr>
        <p:txBody>
          <a:bodyPr wrap="square" lIns="0" tIns="0" rIns="0" bIns="0" rtlCol="0" anchor="ctr"/>
          <a:lstStyle/>
          <a:p>
            <a:pPr algn="ctr">
              <a:lnSpc>
                <a:spcPct val="120000"/>
              </a:lnSpc>
            </a:pPr>
            <a:r>
              <a:rPr lang="en-US" sz="1287" dirty="0">
                <a:solidFill>
                  <a:srgbClr val="45556C"/>
                </a:solidFill>
                <a:latin typeface="Quattrocento Sans" pitchFamily="34" charset="0"/>
                <a:ea typeface="Quattrocento Sans" pitchFamily="34" charset="-122"/>
                <a:cs typeface="Quattrocento Sans" pitchFamily="34" charset="-120"/>
              </a:rPr>
              <a:t>No heavy dependencies</a:t>
            </a:r>
            <a:endParaRPr lang="en-US" sz="1600" dirty="0"/>
          </a:p>
        </p:txBody>
      </p:sp>
      <p:sp>
        <p:nvSpPr>
          <p:cNvPr id="40" name="Shape 38"/>
          <p:cNvSpPr/>
          <p:nvPr/>
        </p:nvSpPr>
        <p:spPr>
          <a:xfrm>
            <a:off x="9449034" y="4895485"/>
            <a:ext cx="747402" cy="747402"/>
          </a:xfrm>
          <a:custGeom>
            <a:avLst/>
            <a:gdLst/>
            <a:ahLst/>
            <a:cxnLst/>
            <a:rect l="l" t="t" r="r" b="b"/>
            <a:pathLst>
              <a:path w="747402" h="747402">
                <a:moveTo>
                  <a:pt x="373701" y="0"/>
                </a:moveTo>
                <a:lnTo>
                  <a:pt x="373701" y="0"/>
                </a:lnTo>
                <a:cubicBezTo>
                  <a:pt x="579952" y="0"/>
                  <a:pt x="747402" y="167450"/>
                  <a:pt x="747402" y="373701"/>
                </a:cubicBezTo>
                <a:lnTo>
                  <a:pt x="747402" y="373701"/>
                </a:lnTo>
                <a:cubicBezTo>
                  <a:pt x="747402" y="579952"/>
                  <a:pt x="579952" y="747402"/>
                  <a:pt x="373701" y="747402"/>
                </a:cubicBezTo>
                <a:lnTo>
                  <a:pt x="373701" y="747402"/>
                </a:lnTo>
                <a:cubicBezTo>
                  <a:pt x="167450" y="747402"/>
                  <a:pt x="0" y="579952"/>
                  <a:pt x="0" y="373701"/>
                </a:cubicBezTo>
                <a:lnTo>
                  <a:pt x="0" y="373701"/>
                </a:lnTo>
                <a:cubicBezTo>
                  <a:pt x="0" y="167450"/>
                  <a:pt x="167450" y="0"/>
                  <a:pt x="373701" y="0"/>
                </a:cubicBezTo>
                <a:close/>
              </a:path>
            </a:pathLst>
          </a:custGeom>
          <a:solidFill>
            <a:srgbClr val="FFFFFF"/>
          </a:solidFill>
          <a:ln/>
          <a:effectLst>
            <a:outerShdw sx="100000" sy="100000" kx="0" ky="0" algn="bl" rotWithShape="0" blurRad="56055" dist="37370" dir="5400000">
              <a:srgbClr val="000000">
                <a:alpha val="10196"/>
              </a:srgbClr>
            </a:outerShdw>
          </a:effectLst>
        </p:spPr>
      </p:sp>
      <p:sp>
        <p:nvSpPr>
          <p:cNvPr id="41" name="Shape 39"/>
          <p:cNvSpPr/>
          <p:nvPr/>
        </p:nvSpPr>
        <p:spPr>
          <a:xfrm>
            <a:off x="9667415" y="5129048"/>
            <a:ext cx="315310" cy="280276"/>
          </a:xfrm>
          <a:custGeom>
            <a:avLst/>
            <a:gdLst/>
            <a:ahLst/>
            <a:cxnLst/>
            <a:rect l="l" t="t" r="r" b="b"/>
            <a:pathLst>
              <a:path w="315310" h="280276">
                <a:moveTo>
                  <a:pt x="157655" y="17517"/>
                </a:moveTo>
                <a:cubicBezTo>
                  <a:pt x="113424" y="17517"/>
                  <a:pt x="78006" y="37662"/>
                  <a:pt x="52223" y="61639"/>
                </a:cubicBezTo>
                <a:cubicBezTo>
                  <a:pt x="26604" y="85451"/>
                  <a:pt x="9470" y="113862"/>
                  <a:pt x="1314" y="133405"/>
                </a:cubicBezTo>
                <a:cubicBezTo>
                  <a:pt x="-493" y="137729"/>
                  <a:pt x="-493" y="142547"/>
                  <a:pt x="1314" y="146871"/>
                </a:cubicBezTo>
                <a:cubicBezTo>
                  <a:pt x="9470" y="166414"/>
                  <a:pt x="26604" y="194879"/>
                  <a:pt x="52223" y="218637"/>
                </a:cubicBezTo>
                <a:cubicBezTo>
                  <a:pt x="78006" y="242559"/>
                  <a:pt x="113424" y="262759"/>
                  <a:pt x="157655" y="262759"/>
                </a:cubicBezTo>
                <a:cubicBezTo>
                  <a:pt x="201886" y="262759"/>
                  <a:pt x="237304" y="242614"/>
                  <a:pt x="263087" y="218637"/>
                </a:cubicBezTo>
                <a:cubicBezTo>
                  <a:pt x="288706" y="194825"/>
                  <a:pt x="305840" y="166414"/>
                  <a:pt x="313997" y="146871"/>
                </a:cubicBezTo>
                <a:cubicBezTo>
                  <a:pt x="315803" y="142547"/>
                  <a:pt x="315803" y="137729"/>
                  <a:pt x="313997" y="133405"/>
                </a:cubicBezTo>
                <a:cubicBezTo>
                  <a:pt x="305840" y="113862"/>
                  <a:pt x="288706" y="85397"/>
                  <a:pt x="263087" y="61639"/>
                </a:cubicBezTo>
                <a:cubicBezTo>
                  <a:pt x="237304" y="37717"/>
                  <a:pt x="201886" y="17517"/>
                  <a:pt x="157655" y="17517"/>
                </a:cubicBezTo>
                <a:close/>
                <a:moveTo>
                  <a:pt x="78828" y="140138"/>
                </a:moveTo>
                <a:cubicBezTo>
                  <a:pt x="78828" y="96632"/>
                  <a:pt x="114149" y="61310"/>
                  <a:pt x="157655" y="61310"/>
                </a:cubicBezTo>
                <a:cubicBezTo>
                  <a:pt x="201161" y="61310"/>
                  <a:pt x="236483" y="96632"/>
                  <a:pt x="236483" y="140138"/>
                </a:cubicBezTo>
                <a:cubicBezTo>
                  <a:pt x="236483" y="183644"/>
                  <a:pt x="201161" y="218966"/>
                  <a:pt x="157655" y="218966"/>
                </a:cubicBezTo>
                <a:cubicBezTo>
                  <a:pt x="114149" y="218966"/>
                  <a:pt x="78828" y="183644"/>
                  <a:pt x="78828" y="140138"/>
                </a:cubicBezTo>
                <a:close/>
                <a:moveTo>
                  <a:pt x="157655" y="105103"/>
                </a:moveTo>
                <a:cubicBezTo>
                  <a:pt x="157655" y="124427"/>
                  <a:pt x="141944" y="140138"/>
                  <a:pt x="122621" y="140138"/>
                </a:cubicBezTo>
                <a:cubicBezTo>
                  <a:pt x="116325" y="140138"/>
                  <a:pt x="110413" y="138496"/>
                  <a:pt x="105268" y="135540"/>
                </a:cubicBezTo>
                <a:cubicBezTo>
                  <a:pt x="104720" y="141506"/>
                  <a:pt x="105213" y="147638"/>
                  <a:pt x="106855" y="153714"/>
                </a:cubicBezTo>
                <a:cubicBezTo>
                  <a:pt x="114355" y="181741"/>
                  <a:pt x="143203" y="198383"/>
                  <a:pt x="171231" y="190883"/>
                </a:cubicBezTo>
                <a:cubicBezTo>
                  <a:pt x="199259" y="183384"/>
                  <a:pt x="215900" y="154535"/>
                  <a:pt x="208400" y="126507"/>
                </a:cubicBezTo>
                <a:cubicBezTo>
                  <a:pt x="201722" y="101491"/>
                  <a:pt x="178019" y="85561"/>
                  <a:pt x="153057" y="87750"/>
                </a:cubicBezTo>
                <a:cubicBezTo>
                  <a:pt x="155958" y="92841"/>
                  <a:pt x="157655" y="98753"/>
                  <a:pt x="157655" y="105103"/>
                </a:cubicBezTo>
                <a:close/>
              </a:path>
            </a:pathLst>
          </a:custGeom>
          <a:solidFill>
            <a:srgbClr val="AD46FF"/>
          </a:solidFill>
          <a:ln/>
        </p:spPr>
      </p:sp>
      <p:sp>
        <p:nvSpPr>
          <p:cNvPr id="42" name="Text 40"/>
          <p:cNvSpPr/>
          <p:nvPr/>
        </p:nvSpPr>
        <p:spPr>
          <a:xfrm>
            <a:off x="8015189" y="5736313"/>
            <a:ext cx="3615559" cy="280276"/>
          </a:xfrm>
          <a:prstGeom prst="rect">
            <a:avLst/>
          </a:prstGeom>
          <a:noFill/>
          <a:ln/>
        </p:spPr>
        <p:txBody>
          <a:bodyPr wrap="square" lIns="0" tIns="0" rIns="0" bIns="0" rtlCol="0" anchor="ctr"/>
          <a:lstStyle/>
          <a:p>
            <a:pPr algn="ctr">
              <a:lnSpc>
                <a:spcPct val="130000"/>
              </a:lnSpc>
            </a:pPr>
            <a:r>
              <a:rPr lang="en-US" sz="1471" b="1" dirty="0">
                <a:solidFill>
                  <a:srgbClr val="1D293D"/>
                </a:solidFill>
                <a:latin typeface="Quattrocento Sans" pitchFamily="34" charset="0"/>
                <a:ea typeface="Quattrocento Sans" pitchFamily="34" charset="-122"/>
                <a:cs typeface="Quattrocento Sans" pitchFamily="34" charset="-120"/>
              </a:rPr>
              <a:t>Transparent</a:t>
            </a:r>
            <a:endParaRPr lang="en-US" sz="1600" dirty="0"/>
          </a:p>
        </p:txBody>
      </p:sp>
      <p:sp>
        <p:nvSpPr>
          <p:cNvPr id="43" name="Text 41"/>
          <p:cNvSpPr/>
          <p:nvPr/>
        </p:nvSpPr>
        <p:spPr>
          <a:xfrm>
            <a:off x="8021028" y="6016589"/>
            <a:ext cx="3603880" cy="233563"/>
          </a:xfrm>
          <a:prstGeom prst="rect">
            <a:avLst/>
          </a:prstGeom>
          <a:noFill/>
          <a:ln/>
        </p:spPr>
        <p:txBody>
          <a:bodyPr wrap="square" lIns="0" tIns="0" rIns="0" bIns="0" rtlCol="0" anchor="ctr"/>
          <a:lstStyle/>
          <a:p>
            <a:pPr algn="ctr">
              <a:lnSpc>
                <a:spcPct val="120000"/>
              </a:lnSpc>
            </a:pPr>
            <a:r>
              <a:rPr lang="en-US" sz="1287" dirty="0">
                <a:solidFill>
                  <a:srgbClr val="45556C"/>
                </a:solidFill>
                <a:latin typeface="Quattrocento Sans" pitchFamily="34" charset="0"/>
                <a:ea typeface="Quattrocento Sans" pitchFamily="34" charset="-122"/>
                <a:cs typeface="Quattrocento Sans" pitchFamily="34" charset="-120"/>
              </a:rPr>
              <a:t>Easy to understand</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9116" y="960636"/>
            <a:ext cx="4246551" cy="35912"/>
          </a:xfrm>
          <a:custGeom>
            <a:avLst/>
            <a:gdLst/>
            <a:ahLst/>
            <a:cxnLst/>
            <a:rect l="l" t="t" r="r" b="b"/>
            <a:pathLst>
              <a:path w="4246551" h="35912">
                <a:moveTo>
                  <a:pt x="0" y="0"/>
                </a:moveTo>
                <a:lnTo>
                  <a:pt x="4246551" y="0"/>
                </a:lnTo>
                <a:lnTo>
                  <a:pt x="4246551" y="35912"/>
                </a:lnTo>
                <a:lnTo>
                  <a:pt x="0" y="35912"/>
                </a:lnTo>
                <a:lnTo>
                  <a:pt x="0" y="0"/>
                </a:lnTo>
                <a:close/>
              </a:path>
            </a:pathLst>
          </a:custGeom>
          <a:solidFill>
            <a:srgbClr val="2B7FFF"/>
          </a:solidFill>
          <a:ln/>
        </p:spPr>
      </p:sp>
      <p:sp>
        <p:nvSpPr>
          <p:cNvPr id="3" name="Text 1"/>
          <p:cNvSpPr/>
          <p:nvPr/>
        </p:nvSpPr>
        <p:spPr>
          <a:xfrm>
            <a:off x="359116" y="359116"/>
            <a:ext cx="4448554" cy="583564"/>
          </a:xfrm>
          <a:prstGeom prst="rect">
            <a:avLst/>
          </a:prstGeom>
          <a:noFill/>
          <a:ln/>
        </p:spPr>
        <p:txBody>
          <a:bodyPr wrap="square" lIns="0" tIns="0" rIns="0" bIns="134669" rtlCol="0" anchor="ctr"/>
          <a:lstStyle/>
          <a:p>
            <a:pPr>
              <a:lnSpc>
                <a:spcPct val="90000"/>
              </a:lnSpc>
            </a:pPr>
            <a:r>
              <a:rPr lang="en-US" sz="3181" b="1" dirty="0">
                <a:solidFill>
                  <a:srgbClr val="1D293D"/>
                </a:solidFill>
                <a:latin typeface="Quattrocento Sans" pitchFamily="34" charset="0"/>
                <a:ea typeface="Quattrocento Sans" pitchFamily="34" charset="-122"/>
                <a:cs typeface="Quattrocento Sans" pitchFamily="34" charset="-120"/>
              </a:rPr>
              <a:t>Importance and Context</a:t>
            </a:r>
            <a:endParaRPr lang="en-US" sz="1600" dirty="0"/>
          </a:p>
        </p:txBody>
      </p:sp>
      <p:sp>
        <p:nvSpPr>
          <p:cNvPr id="4" name="Shape 2"/>
          <p:cNvSpPr/>
          <p:nvPr/>
        </p:nvSpPr>
        <p:spPr>
          <a:xfrm>
            <a:off x="359116" y="1247929"/>
            <a:ext cx="11473767" cy="1436465"/>
          </a:xfrm>
          <a:custGeom>
            <a:avLst/>
            <a:gdLst/>
            <a:ahLst/>
            <a:cxnLst/>
            <a:rect l="l" t="t" r="r" b="b"/>
            <a:pathLst>
              <a:path w="11473767" h="1436465">
                <a:moveTo>
                  <a:pt x="89779" y="0"/>
                </a:moveTo>
                <a:lnTo>
                  <a:pt x="11383988" y="0"/>
                </a:lnTo>
                <a:cubicBezTo>
                  <a:pt x="11433572" y="0"/>
                  <a:pt x="11473767" y="40195"/>
                  <a:pt x="11473767" y="89779"/>
                </a:cubicBezTo>
                <a:lnTo>
                  <a:pt x="11473767" y="1346686"/>
                </a:lnTo>
                <a:cubicBezTo>
                  <a:pt x="11473767" y="1396270"/>
                  <a:pt x="11433572" y="1436465"/>
                  <a:pt x="11383988" y="1436465"/>
                </a:cubicBezTo>
                <a:lnTo>
                  <a:pt x="89779" y="1436465"/>
                </a:lnTo>
                <a:cubicBezTo>
                  <a:pt x="40195" y="1436465"/>
                  <a:pt x="0" y="1396270"/>
                  <a:pt x="0" y="1346686"/>
                </a:cubicBezTo>
                <a:lnTo>
                  <a:pt x="0" y="89779"/>
                </a:lnTo>
                <a:cubicBezTo>
                  <a:pt x="0" y="40195"/>
                  <a:pt x="40195" y="0"/>
                  <a:pt x="89779" y="0"/>
                </a:cubicBezTo>
                <a:close/>
              </a:path>
            </a:pathLst>
          </a:custGeom>
          <a:gradFill rotWithShape="1" flip="none">
            <a:gsLst>
              <a:gs pos="0">
                <a:srgbClr val="EFF6FF"/>
              </a:gs>
              <a:gs pos="100000">
                <a:srgbClr val="DBEAFE"/>
              </a:gs>
            </a:gsLst>
            <a:lin ang="0" scaled="1"/>
          </a:gradFill>
          <a:ln/>
        </p:spPr>
      </p:sp>
      <p:sp>
        <p:nvSpPr>
          <p:cNvPr id="5" name="Shape 3"/>
          <p:cNvSpPr/>
          <p:nvPr/>
        </p:nvSpPr>
        <p:spPr>
          <a:xfrm>
            <a:off x="583564" y="1651935"/>
            <a:ext cx="628454" cy="628454"/>
          </a:xfrm>
          <a:custGeom>
            <a:avLst/>
            <a:gdLst/>
            <a:ahLst/>
            <a:cxnLst/>
            <a:rect l="l" t="t" r="r" b="b"/>
            <a:pathLst>
              <a:path w="628454" h="628454">
                <a:moveTo>
                  <a:pt x="314227" y="0"/>
                </a:moveTo>
                <a:lnTo>
                  <a:pt x="314227" y="0"/>
                </a:lnTo>
                <a:cubicBezTo>
                  <a:pt x="487769" y="0"/>
                  <a:pt x="628454" y="140684"/>
                  <a:pt x="628454" y="314227"/>
                </a:cubicBezTo>
                <a:lnTo>
                  <a:pt x="628454" y="314227"/>
                </a:lnTo>
                <a:cubicBezTo>
                  <a:pt x="628454" y="487769"/>
                  <a:pt x="487769" y="628454"/>
                  <a:pt x="314227" y="628454"/>
                </a:cubicBezTo>
                <a:lnTo>
                  <a:pt x="314227" y="628454"/>
                </a:lnTo>
                <a:cubicBezTo>
                  <a:pt x="140684" y="628454"/>
                  <a:pt x="0" y="487769"/>
                  <a:pt x="0" y="314227"/>
                </a:cubicBezTo>
                <a:lnTo>
                  <a:pt x="0" y="314227"/>
                </a:lnTo>
                <a:cubicBezTo>
                  <a:pt x="0" y="140684"/>
                  <a:pt x="140684" y="0"/>
                  <a:pt x="314227" y="0"/>
                </a:cubicBezTo>
                <a:close/>
              </a:path>
            </a:pathLst>
          </a:custGeom>
          <a:solidFill>
            <a:srgbClr val="2B7FFF"/>
          </a:solidFill>
          <a:ln/>
        </p:spPr>
      </p:sp>
      <p:sp>
        <p:nvSpPr>
          <p:cNvPr id="6" name="Shape 4"/>
          <p:cNvSpPr/>
          <p:nvPr/>
        </p:nvSpPr>
        <p:spPr>
          <a:xfrm>
            <a:off x="765367" y="1831493"/>
            <a:ext cx="269337" cy="269337"/>
          </a:xfrm>
          <a:custGeom>
            <a:avLst/>
            <a:gdLst/>
            <a:ahLst/>
            <a:cxnLst/>
            <a:rect l="l" t="t" r="r" b="b"/>
            <a:pathLst>
              <a:path w="269337" h="269337">
                <a:moveTo>
                  <a:pt x="67334" y="168336"/>
                </a:moveTo>
                <a:lnTo>
                  <a:pt x="12888" y="168336"/>
                </a:lnTo>
                <a:cubicBezTo>
                  <a:pt x="-210" y="168336"/>
                  <a:pt x="-8259" y="154080"/>
                  <a:pt x="-1526" y="142822"/>
                </a:cubicBezTo>
                <a:lnTo>
                  <a:pt x="26302" y="96425"/>
                </a:lnTo>
                <a:cubicBezTo>
                  <a:pt x="30879" y="88797"/>
                  <a:pt x="39085" y="84168"/>
                  <a:pt x="47976" y="84168"/>
                </a:cubicBezTo>
                <a:lnTo>
                  <a:pt x="97950" y="84168"/>
                </a:lnTo>
                <a:cubicBezTo>
                  <a:pt x="137983" y="16360"/>
                  <a:pt x="197689" y="12941"/>
                  <a:pt x="237616" y="18780"/>
                </a:cubicBezTo>
                <a:cubicBezTo>
                  <a:pt x="244350" y="19779"/>
                  <a:pt x="249610" y="25040"/>
                  <a:pt x="250557" y="31721"/>
                </a:cubicBezTo>
                <a:cubicBezTo>
                  <a:pt x="256396" y="71648"/>
                  <a:pt x="252977" y="131355"/>
                  <a:pt x="185169" y="171387"/>
                </a:cubicBezTo>
                <a:lnTo>
                  <a:pt x="185169" y="221362"/>
                </a:lnTo>
                <a:cubicBezTo>
                  <a:pt x="185169" y="230252"/>
                  <a:pt x="180540" y="238458"/>
                  <a:pt x="172912" y="243035"/>
                </a:cubicBezTo>
                <a:lnTo>
                  <a:pt x="126515" y="270863"/>
                </a:lnTo>
                <a:cubicBezTo>
                  <a:pt x="115310" y="277596"/>
                  <a:pt x="101001" y="269495"/>
                  <a:pt x="101001" y="256449"/>
                </a:cubicBezTo>
                <a:lnTo>
                  <a:pt x="101001" y="202003"/>
                </a:lnTo>
                <a:cubicBezTo>
                  <a:pt x="101001" y="183433"/>
                  <a:pt x="85904" y="168336"/>
                  <a:pt x="67334" y="168336"/>
                </a:cubicBezTo>
                <a:lnTo>
                  <a:pt x="67282" y="168336"/>
                </a:lnTo>
                <a:close/>
                <a:moveTo>
                  <a:pt x="210420" y="84168"/>
                </a:moveTo>
                <a:cubicBezTo>
                  <a:pt x="210420" y="70232"/>
                  <a:pt x="199105" y="58918"/>
                  <a:pt x="185169" y="58918"/>
                </a:cubicBezTo>
                <a:cubicBezTo>
                  <a:pt x="171233" y="58918"/>
                  <a:pt x="159919" y="70232"/>
                  <a:pt x="159919" y="84168"/>
                </a:cubicBezTo>
                <a:cubicBezTo>
                  <a:pt x="159919" y="98104"/>
                  <a:pt x="171233" y="109418"/>
                  <a:pt x="185169" y="109418"/>
                </a:cubicBezTo>
                <a:cubicBezTo>
                  <a:pt x="199105" y="109418"/>
                  <a:pt x="210420" y="98104"/>
                  <a:pt x="210420" y="84168"/>
                </a:cubicBezTo>
                <a:close/>
              </a:path>
            </a:pathLst>
          </a:custGeom>
          <a:solidFill>
            <a:srgbClr val="FFFFFF"/>
          </a:solidFill>
          <a:ln/>
        </p:spPr>
      </p:sp>
      <p:sp>
        <p:nvSpPr>
          <p:cNvPr id="7" name="Text 5"/>
          <p:cNvSpPr/>
          <p:nvPr/>
        </p:nvSpPr>
        <p:spPr>
          <a:xfrm>
            <a:off x="1391576" y="1472377"/>
            <a:ext cx="10329084" cy="314227"/>
          </a:xfrm>
          <a:prstGeom prst="rect">
            <a:avLst/>
          </a:prstGeom>
          <a:noFill/>
          <a:ln/>
        </p:spPr>
        <p:txBody>
          <a:bodyPr wrap="square" lIns="0" tIns="0" rIns="0" bIns="0" rtlCol="0" anchor="ctr"/>
          <a:lstStyle/>
          <a:p>
            <a:pPr>
              <a:lnSpc>
                <a:spcPct val="120000"/>
              </a:lnSpc>
            </a:pPr>
            <a:r>
              <a:rPr lang="en-US" sz="1767" b="1" dirty="0">
                <a:solidFill>
                  <a:srgbClr val="1D293D"/>
                </a:solidFill>
                <a:latin typeface="Quattrocento Sans" pitchFamily="34" charset="0"/>
                <a:ea typeface="Quattrocento Sans" pitchFamily="34" charset="-122"/>
                <a:cs typeface="Quattrocento Sans" pitchFamily="34" charset="-120"/>
              </a:rPr>
              <a:t>Importance of Fast Environment Restoration</a:t>
            </a:r>
            <a:endParaRPr lang="en-US" sz="1600" dirty="0"/>
          </a:p>
        </p:txBody>
      </p:sp>
      <p:sp>
        <p:nvSpPr>
          <p:cNvPr id="8" name="Text 6"/>
          <p:cNvSpPr/>
          <p:nvPr/>
        </p:nvSpPr>
        <p:spPr>
          <a:xfrm>
            <a:off x="1391576" y="1876383"/>
            <a:ext cx="10306639" cy="583564"/>
          </a:xfrm>
          <a:prstGeom prst="rect">
            <a:avLst/>
          </a:prstGeom>
          <a:noFill/>
          <a:ln/>
        </p:spPr>
        <p:txBody>
          <a:bodyPr wrap="square" lIns="0" tIns="0" rIns="0" bIns="0" rtlCol="0" anchor="ctr"/>
          <a:lstStyle/>
          <a:p>
            <a:pPr>
              <a:lnSpc>
                <a:spcPct val="140000"/>
              </a:lnSpc>
            </a:pPr>
            <a:r>
              <a:rPr lang="en-US" sz="1414" dirty="0">
                <a:solidFill>
                  <a:srgbClr val="314158"/>
                </a:solidFill>
                <a:latin typeface="Quattrocento Sans" pitchFamily="34" charset="0"/>
                <a:ea typeface="Quattrocento Sans" pitchFamily="34" charset="-122"/>
                <a:cs typeface="Quattrocento Sans" pitchFamily="34" charset="-120"/>
              </a:rPr>
              <a:t>Quick environment setup minimizes downtime when migrating to new systems or recovering from failures. Developers can resume work within minutes instead of hours, maintaining productivity and reducing frustration.</a:t>
            </a:r>
            <a:endParaRPr lang="en-US" sz="1600" dirty="0"/>
          </a:p>
        </p:txBody>
      </p:sp>
      <p:sp>
        <p:nvSpPr>
          <p:cNvPr id="9" name="Shape 7"/>
          <p:cNvSpPr/>
          <p:nvPr/>
        </p:nvSpPr>
        <p:spPr>
          <a:xfrm>
            <a:off x="359116" y="2863953"/>
            <a:ext cx="11473767" cy="1436465"/>
          </a:xfrm>
          <a:custGeom>
            <a:avLst/>
            <a:gdLst/>
            <a:ahLst/>
            <a:cxnLst/>
            <a:rect l="l" t="t" r="r" b="b"/>
            <a:pathLst>
              <a:path w="11473767" h="1436465">
                <a:moveTo>
                  <a:pt x="89779" y="0"/>
                </a:moveTo>
                <a:lnTo>
                  <a:pt x="11383988" y="0"/>
                </a:lnTo>
                <a:cubicBezTo>
                  <a:pt x="11433572" y="0"/>
                  <a:pt x="11473767" y="40195"/>
                  <a:pt x="11473767" y="89779"/>
                </a:cubicBezTo>
                <a:lnTo>
                  <a:pt x="11473767" y="1346686"/>
                </a:lnTo>
                <a:cubicBezTo>
                  <a:pt x="11473767" y="1396270"/>
                  <a:pt x="11433572" y="1436465"/>
                  <a:pt x="11383988" y="1436465"/>
                </a:cubicBezTo>
                <a:lnTo>
                  <a:pt x="89779" y="1436465"/>
                </a:lnTo>
                <a:cubicBezTo>
                  <a:pt x="40195" y="1436465"/>
                  <a:pt x="0" y="1396270"/>
                  <a:pt x="0" y="1346686"/>
                </a:cubicBezTo>
                <a:lnTo>
                  <a:pt x="0" y="89779"/>
                </a:lnTo>
                <a:cubicBezTo>
                  <a:pt x="0" y="40195"/>
                  <a:pt x="40195" y="0"/>
                  <a:pt x="89779" y="0"/>
                </a:cubicBezTo>
                <a:close/>
              </a:path>
            </a:pathLst>
          </a:custGeom>
          <a:gradFill rotWithShape="1" flip="none">
            <a:gsLst>
              <a:gs pos="0">
                <a:srgbClr val="F0FDF4"/>
              </a:gs>
              <a:gs pos="100000">
                <a:srgbClr val="DCFCE7"/>
              </a:gs>
            </a:gsLst>
            <a:lin ang="0" scaled="1"/>
          </a:gradFill>
          <a:ln/>
        </p:spPr>
      </p:sp>
      <p:sp>
        <p:nvSpPr>
          <p:cNvPr id="10" name="Shape 8"/>
          <p:cNvSpPr/>
          <p:nvPr/>
        </p:nvSpPr>
        <p:spPr>
          <a:xfrm>
            <a:off x="583564" y="3267959"/>
            <a:ext cx="628454" cy="628454"/>
          </a:xfrm>
          <a:custGeom>
            <a:avLst/>
            <a:gdLst/>
            <a:ahLst/>
            <a:cxnLst/>
            <a:rect l="l" t="t" r="r" b="b"/>
            <a:pathLst>
              <a:path w="628454" h="628454">
                <a:moveTo>
                  <a:pt x="314227" y="0"/>
                </a:moveTo>
                <a:lnTo>
                  <a:pt x="314227" y="0"/>
                </a:lnTo>
                <a:cubicBezTo>
                  <a:pt x="487769" y="0"/>
                  <a:pt x="628454" y="140684"/>
                  <a:pt x="628454" y="314227"/>
                </a:cubicBezTo>
                <a:lnTo>
                  <a:pt x="628454" y="314227"/>
                </a:lnTo>
                <a:cubicBezTo>
                  <a:pt x="628454" y="487769"/>
                  <a:pt x="487769" y="628454"/>
                  <a:pt x="314227" y="628454"/>
                </a:cubicBezTo>
                <a:lnTo>
                  <a:pt x="314227" y="628454"/>
                </a:lnTo>
                <a:cubicBezTo>
                  <a:pt x="140684" y="628454"/>
                  <a:pt x="0" y="487769"/>
                  <a:pt x="0" y="314227"/>
                </a:cubicBezTo>
                <a:lnTo>
                  <a:pt x="0" y="314227"/>
                </a:lnTo>
                <a:cubicBezTo>
                  <a:pt x="0" y="140684"/>
                  <a:pt x="140684" y="0"/>
                  <a:pt x="314227" y="0"/>
                </a:cubicBezTo>
                <a:close/>
              </a:path>
            </a:pathLst>
          </a:custGeom>
          <a:solidFill>
            <a:srgbClr val="00C950"/>
          </a:solidFill>
          <a:ln/>
        </p:spPr>
      </p:sp>
      <p:sp>
        <p:nvSpPr>
          <p:cNvPr id="11" name="Shape 9"/>
          <p:cNvSpPr/>
          <p:nvPr/>
        </p:nvSpPr>
        <p:spPr>
          <a:xfrm>
            <a:off x="731700" y="3447517"/>
            <a:ext cx="336672" cy="269337"/>
          </a:xfrm>
          <a:custGeom>
            <a:avLst/>
            <a:gdLst/>
            <a:ahLst/>
            <a:cxnLst/>
            <a:rect l="l" t="t" r="r" b="b"/>
            <a:pathLst>
              <a:path w="336672" h="269337">
                <a:moveTo>
                  <a:pt x="168336" y="8417"/>
                </a:moveTo>
                <a:cubicBezTo>
                  <a:pt x="198531" y="8417"/>
                  <a:pt x="223045" y="32931"/>
                  <a:pt x="223045" y="63126"/>
                </a:cubicBezTo>
                <a:cubicBezTo>
                  <a:pt x="223045" y="93321"/>
                  <a:pt x="198531" y="117835"/>
                  <a:pt x="168336" y="117835"/>
                </a:cubicBezTo>
                <a:cubicBezTo>
                  <a:pt x="138141" y="117835"/>
                  <a:pt x="113627" y="93321"/>
                  <a:pt x="113627" y="63126"/>
                </a:cubicBezTo>
                <a:cubicBezTo>
                  <a:pt x="113627" y="32931"/>
                  <a:pt x="138141" y="8417"/>
                  <a:pt x="168336" y="8417"/>
                </a:cubicBezTo>
                <a:close/>
                <a:moveTo>
                  <a:pt x="50501" y="46292"/>
                </a:moveTo>
                <a:cubicBezTo>
                  <a:pt x="71405" y="46292"/>
                  <a:pt x="88376" y="63264"/>
                  <a:pt x="88376" y="84168"/>
                </a:cubicBezTo>
                <a:cubicBezTo>
                  <a:pt x="88376" y="105072"/>
                  <a:pt x="71405" y="122043"/>
                  <a:pt x="50501" y="122043"/>
                </a:cubicBezTo>
                <a:cubicBezTo>
                  <a:pt x="29597" y="122043"/>
                  <a:pt x="12625" y="105072"/>
                  <a:pt x="12625" y="84168"/>
                </a:cubicBezTo>
                <a:cubicBezTo>
                  <a:pt x="12625" y="63264"/>
                  <a:pt x="29597" y="46292"/>
                  <a:pt x="50501" y="46292"/>
                </a:cubicBezTo>
                <a:close/>
                <a:moveTo>
                  <a:pt x="0" y="218837"/>
                </a:moveTo>
                <a:cubicBezTo>
                  <a:pt x="0" y="181645"/>
                  <a:pt x="30143" y="151502"/>
                  <a:pt x="67334" y="151502"/>
                </a:cubicBezTo>
                <a:cubicBezTo>
                  <a:pt x="74068" y="151502"/>
                  <a:pt x="80591" y="152502"/>
                  <a:pt x="86746" y="154343"/>
                </a:cubicBezTo>
                <a:cubicBezTo>
                  <a:pt x="69439" y="173701"/>
                  <a:pt x="58918" y="199267"/>
                  <a:pt x="58918" y="227253"/>
                </a:cubicBezTo>
                <a:lnTo>
                  <a:pt x="58918" y="235670"/>
                </a:lnTo>
                <a:cubicBezTo>
                  <a:pt x="58918" y="241667"/>
                  <a:pt x="60180" y="247348"/>
                  <a:pt x="62442" y="252504"/>
                </a:cubicBezTo>
                <a:lnTo>
                  <a:pt x="16834" y="252504"/>
                </a:lnTo>
                <a:cubicBezTo>
                  <a:pt x="7523" y="252504"/>
                  <a:pt x="0" y="244981"/>
                  <a:pt x="0" y="235670"/>
                </a:cubicBezTo>
                <a:lnTo>
                  <a:pt x="0" y="218837"/>
                </a:lnTo>
                <a:close/>
                <a:moveTo>
                  <a:pt x="274230" y="252504"/>
                </a:moveTo>
                <a:cubicBezTo>
                  <a:pt x="276492" y="247348"/>
                  <a:pt x="277754" y="241667"/>
                  <a:pt x="277754" y="235670"/>
                </a:cubicBezTo>
                <a:lnTo>
                  <a:pt x="277754" y="227253"/>
                </a:lnTo>
                <a:cubicBezTo>
                  <a:pt x="277754" y="199267"/>
                  <a:pt x="267233" y="173701"/>
                  <a:pt x="249926" y="154343"/>
                </a:cubicBezTo>
                <a:cubicBezTo>
                  <a:pt x="256081" y="152502"/>
                  <a:pt x="262604" y="151502"/>
                  <a:pt x="269337" y="151502"/>
                </a:cubicBezTo>
                <a:cubicBezTo>
                  <a:pt x="306529" y="151502"/>
                  <a:pt x="336672" y="181645"/>
                  <a:pt x="336672" y="218837"/>
                </a:cubicBezTo>
                <a:lnTo>
                  <a:pt x="336672" y="235670"/>
                </a:lnTo>
                <a:cubicBezTo>
                  <a:pt x="336672" y="244981"/>
                  <a:pt x="329149" y="252504"/>
                  <a:pt x="319838" y="252504"/>
                </a:cubicBezTo>
                <a:lnTo>
                  <a:pt x="274230" y="252504"/>
                </a:lnTo>
                <a:close/>
                <a:moveTo>
                  <a:pt x="248295" y="84168"/>
                </a:moveTo>
                <a:cubicBezTo>
                  <a:pt x="248295" y="63264"/>
                  <a:pt x="265267" y="46292"/>
                  <a:pt x="286171" y="46292"/>
                </a:cubicBezTo>
                <a:cubicBezTo>
                  <a:pt x="307075" y="46292"/>
                  <a:pt x="324046" y="63264"/>
                  <a:pt x="324046" y="84168"/>
                </a:cubicBezTo>
                <a:cubicBezTo>
                  <a:pt x="324046" y="105072"/>
                  <a:pt x="307075" y="122043"/>
                  <a:pt x="286171" y="122043"/>
                </a:cubicBezTo>
                <a:cubicBezTo>
                  <a:pt x="265267" y="122043"/>
                  <a:pt x="248295" y="105072"/>
                  <a:pt x="248295" y="84168"/>
                </a:cubicBezTo>
                <a:close/>
                <a:moveTo>
                  <a:pt x="84168" y="227253"/>
                </a:moveTo>
                <a:cubicBezTo>
                  <a:pt x="84168" y="180751"/>
                  <a:pt x="121833" y="143085"/>
                  <a:pt x="168336" y="143085"/>
                </a:cubicBezTo>
                <a:cubicBezTo>
                  <a:pt x="214839" y="143085"/>
                  <a:pt x="252504" y="180751"/>
                  <a:pt x="252504" y="227253"/>
                </a:cubicBezTo>
                <a:lnTo>
                  <a:pt x="252504" y="235670"/>
                </a:lnTo>
                <a:cubicBezTo>
                  <a:pt x="252504" y="244981"/>
                  <a:pt x="244981" y="252504"/>
                  <a:pt x="235670" y="252504"/>
                </a:cubicBezTo>
                <a:lnTo>
                  <a:pt x="101001" y="252504"/>
                </a:lnTo>
                <a:cubicBezTo>
                  <a:pt x="91690" y="252504"/>
                  <a:pt x="84168" y="244981"/>
                  <a:pt x="84168" y="235670"/>
                </a:cubicBezTo>
                <a:lnTo>
                  <a:pt x="84168" y="227253"/>
                </a:lnTo>
                <a:close/>
              </a:path>
            </a:pathLst>
          </a:custGeom>
          <a:solidFill>
            <a:srgbClr val="FFFFFF"/>
          </a:solidFill>
          <a:ln/>
        </p:spPr>
      </p:sp>
      <p:sp>
        <p:nvSpPr>
          <p:cNvPr id="12" name="Text 10"/>
          <p:cNvSpPr/>
          <p:nvPr/>
        </p:nvSpPr>
        <p:spPr>
          <a:xfrm>
            <a:off x="1391576" y="3088401"/>
            <a:ext cx="10329084" cy="314227"/>
          </a:xfrm>
          <a:prstGeom prst="rect">
            <a:avLst/>
          </a:prstGeom>
          <a:noFill/>
          <a:ln/>
        </p:spPr>
        <p:txBody>
          <a:bodyPr wrap="square" lIns="0" tIns="0" rIns="0" bIns="0" rtlCol="0" anchor="ctr"/>
          <a:lstStyle/>
          <a:p>
            <a:pPr>
              <a:lnSpc>
                <a:spcPct val="120000"/>
              </a:lnSpc>
            </a:pPr>
            <a:r>
              <a:rPr lang="en-US" sz="1767" b="1" dirty="0">
                <a:solidFill>
                  <a:srgbClr val="1D293D"/>
                </a:solidFill>
                <a:latin typeface="Quattrocento Sans" pitchFamily="34" charset="0"/>
                <a:ea typeface="Quattrocento Sans" pitchFamily="34" charset="-122"/>
                <a:cs typeface="Quattrocento Sans" pitchFamily="34" charset="-120"/>
              </a:rPr>
              <a:t>Relevance for Students and Developers</a:t>
            </a:r>
            <a:endParaRPr lang="en-US" sz="1600" dirty="0"/>
          </a:p>
        </p:txBody>
      </p:sp>
      <p:sp>
        <p:nvSpPr>
          <p:cNvPr id="13" name="Text 11"/>
          <p:cNvSpPr/>
          <p:nvPr/>
        </p:nvSpPr>
        <p:spPr>
          <a:xfrm>
            <a:off x="1391576" y="3492406"/>
            <a:ext cx="10306639" cy="583564"/>
          </a:xfrm>
          <a:prstGeom prst="rect">
            <a:avLst/>
          </a:prstGeom>
          <a:noFill/>
          <a:ln/>
        </p:spPr>
        <p:txBody>
          <a:bodyPr wrap="square" lIns="0" tIns="0" rIns="0" bIns="0" rtlCol="0" anchor="ctr"/>
          <a:lstStyle/>
          <a:p>
            <a:pPr>
              <a:lnSpc>
                <a:spcPct val="140000"/>
              </a:lnSpc>
            </a:pPr>
            <a:r>
              <a:rPr lang="en-US" sz="1414" dirty="0">
                <a:solidFill>
                  <a:srgbClr val="314158"/>
                </a:solidFill>
                <a:latin typeface="Quattrocento Sans" pitchFamily="34" charset="0"/>
                <a:ea typeface="Quattrocento Sans" pitchFamily="34" charset="-122"/>
                <a:cs typeface="Quattrocento Sans" pitchFamily="34" charset="-120"/>
              </a:rPr>
              <a:t>Students working in lab environments need consistent setups across multiple machines. Professional developers require reliable backup solutions for their carefully tuned development environments. Both groups benefit from simple, script-based recovery.</a:t>
            </a:r>
            <a:endParaRPr lang="en-US" sz="1600" dirty="0"/>
          </a:p>
        </p:txBody>
      </p:sp>
      <p:sp>
        <p:nvSpPr>
          <p:cNvPr id="14" name="Shape 12"/>
          <p:cNvSpPr/>
          <p:nvPr/>
        </p:nvSpPr>
        <p:spPr>
          <a:xfrm>
            <a:off x="359116" y="4479976"/>
            <a:ext cx="11473767" cy="1436465"/>
          </a:xfrm>
          <a:custGeom>
            <a:avLst/>
            <a:gdLst/>
            <a:ahLst/>
            <a:cxnLst/>
            <a:rect l="l" t="t" r="r" b="b"/>
            <a:pathLst>
              <a:path w="11473767" h="1436465">
                <a:moveTo>
                  <a:pt x="89779" y="0"/>
                </a:moveTo>
                <a:lnTo>
                  <a:pt x="11383988" y="0"/>
                </a:lnTo>
                <a:cubicBezTo>
                  <a:pt x="11433572" y="0"/>
                  <a:pt x="11473767" y="40195"/>
                  <a:pt x="11473767" y="89779"/>
                </a:cubicBezTo>
                <a:lnTo>
                  <a:pt x="11473767" y="1346686"/>
                </a:lnTo>
                <a:cubicBezTo>
                  <a:pt x="11473767" y="1396270"/>
                  <a:pt x="11433572" y="1436465"/>
                  <a:pt x="11383988" y="1436465"/>
                </a:cubicBezTo>
                <a:lnTo>
                  <a:pt x="89779" y="1436465"/>
                </a:lnTo>
                <a:cubicBezTo>
                  <a:pt x="40195" y="1436465"/>
                  <a:pt x="0" y="1396270"/>
                  <a:pt x="0" y="1346686"/>
                </a:cubicBezTo>
                <a:lnTo>
                  <a:pt x="0" y="89779"/>
                </a:lnTo>
                <a:cubicBezTo>
                  <a:pt x="0" y="40195"/>
                  <a:pt x="40195" y="0"/>
                  <a:pt x="89779" y="0"/>
                </a:cubicBezTo>
                <a:close/>
              </a:path>
            </a:pathLst>
          </a:custGeom>
          <a:gradFill rotWithShape="1" flip="none">
            <a:gsLst>
              <a:gs pos="0">
                <a:srgbClr val="FAF5FF"/>
              </a:gs>
              <a:gs pos="100000">
                <a:srgbClr val="F3E8FF"/>
              </a:gs>
            </a:gsLst>
            <a:lin ang="0" scaled="1"/>
          </a:gradFill>
          <a:ln/>
        </p:spPr>
      </p:sp>
      <p:sp>
        <p:nvSpPr>
          <p:cNvPr id="15" name="Shape 13"/>
          <p:cNvSpPr/>
          <p:nvPr/>
        </p:nvSpPr>
        <p:spPr>
          <a:xfrm>
            <a:off x="583564" y="4883982"/>
            <a:ext cx="628454" cy="628454"/>
          </a:xfrm>
          <a:custGeom>
            <a:avLst/>
            <a:gdLst/>
            <a:ahLst/>
            <a:cxnLst/>
            <a:rect l="l" t="t" r="r" b="b"/>
            <a:pathLst>
              <a:path w="628454" h="628454">
                <a:moveTo>
                  <a:pt x="314227" y="0"/>
                </a:moveTo>
                <a:lnTo>
                  <a:pt x="314227" y="0"/>
                </a:lnTo>
                <a:cubicBezTo>
                  <a:pt x="487769" y="0"/>
                  <a:pt x="628454" y="140684"/>
                  <a:pt x="628454" y="314227"/>
                </a:cubicBezTo>
                <a:lnTo>
                  <a:pt x="628454" y="314227"/>
                </a:lnTo>
                <a:cubicBezTo>
                  <a:pt x="628454" y="487769"/>
                  <a:pt x="487769" y="628454"/>
                  <a:pt x="314227" y="628454"/>
                </a:cubicBezTo>
                <a:lnTo>
                  <a:pt x="314227" y="628454"/>
                </a:lnTo>
                <a:cubicBezTo>
                  <a:pt x="140684" y="628454"/>
                  <a:pt x="0" y="487769"/>
                  <a:pt x="0" y="314227"/>
                </a:cubicBezTo>
                <a:lnTo>
                  <a:pt x="0" y="314227"/>
                </a:lnTo>
                <a:cubicBezTo>
                  <a:pt x="0" y="140684"/>
                  <a:pt x="140684" y="0"/>
                  <a:pt x="314227" y="0"/>
                </a:cubicBezTo>
                <a:close/>
              </a:path>
            </a:pathLst>
          </a:custGeom>
          <a:solidFill>
            <a:srgbClr val="AD46FF"/>
          </a:solidFill>
          <a:ln/>
        </p:spPr>
      </p:sp>
      <p:sp>
        <p:nvSpPr>
          <p:cNvPr id="16" name="Shape 14"/>
          <p:cNvSpPr/>
          <p:nvPr/>
        </p:nvSpPr>
        <p:spPr>
          <a:xfrm>
            <a:off x="765367" y="5063541"/>
            <a:ext cx="269337" cy="269337"/>
          </a:xfrm>
          <a:custGeom>
            <a:avLst/>
            <a:gdLst/>
            <a:ahLst/>
            <a:cxnLst/>
            <a:rect l="l" t="t" r="r" b="b"/>
            <a:pathLst>
              <a:path w="269337" h="269337">
                <a:moveTo>
                  <a:pt x="185117" y="147294"/>
                </a:moveTo>
                <a:lnTo>
                  <a:pt x="84694" y="147294"/>
                </a:lnTo>
                <a:cubicBezTo>
                  <a:pt x="86219" y="181224"/>
                  <a:pt x="93742" y="212471"/>
                  <a:pt x="104421" y="235354"/>
                </a:cubicBezTo>
                <a:cubicBezTo>
                  <a:pt x="110418" y="248243"/>
                  <a:pt x="116888" y="257343"/>
                  <a:pt x="122885" y="262919"/>
                </a:cubicBezTo>
                <a:cubicBezTo>
                  <a:pt x="128777" y="268443"/>
                  <a:pt x="132827" y="269337"/>
                  <a:pt x="134932" y="269337"/>
                </a:cubicBezTo>
                <a:cubicBezTo>
                  <a:pt x="137036" y="269337"/>
                  <a:pt x="141086" y="268443"/>
                  <a:pt x="146978" y="262919"/>
                </a:cubicBezTo>
                <a:cubicBezTo>
                  <a:pt x="152975" y="257343"/>
                  <a:pt x="159446" y="248190"/>
                  <a:pt x="165443" y="235354"/>
                </a:cubicBezTo>
                <a:cubicBezTo>
                  <a:pt x="176121" y="212471"/>
                  <a:pt x="183644" y="181224"/>
                  <a:pt x="185169" y="147294"/>
                </a:cubicBezTo>
                <a:close/>
                <a:moveTo>
                  <a:pt x="84641" y="122043"/>
                </a:moveTo>
                <a:lnTo>
                  <a:pt x="185064" y="122043"/>
                </a:lnTo>
                <a:cubicBezTo>
                  <a:pt x="183591" y="88113"/>
                  <a:pt x="176069" y="56866"/>
                  <a:pt x="165390" y="33983"/>
                </a:cubicBezTo>
                <a:cubicBezTo>
                  <a:pt x="159393" y="21147"/>
                  <a:pt x="152923" y="11994"/>
                  <a:pt x="146926" y="6418"/>
                </a:cubicBezTo>
                <a:cubicBezTo>
                  <a:pt x="141034" y="894"/>
                  <a:pt x="136983" y="0"/>
                  <a:pt x="134879" y="0"/>
                </a:cubicBezTo>
                <a:cubicBezTo>
                  <a:pt x="132775" y="0"/>
                  <a:pt x="128724" y="894"/>
                  <a:pt x="122833" y="6418"/>
                </a:cubicBezTo>
                <a:cubicBezTo>
                  <a:pt x="116836" y="11994"/>
                  <a:pt x="110365" y="21147"/>
                  <a:pt x="104368" y="33983"/>
                </a:cubicBezTo>
                <a:cubicBezTo>
                  <a:pt x="93689" y="56866"/>
                  <a:pt x="86167" y="88113"/>
                  <a:pt x="84641" y="122043"/>
                </a:cubicBezTo>
                <a:close/>
                <a:moveTo>
                  <a:pt x="59391" y="122043"/>
                </a:moveTo>
                <a:cubicBezTo>
                  <a:pt x="61232" y="77014"/>
                  <a:pt x="72858" y="35193"/>
                  <a:pt x="89849" y="7733"/>
                </a:cubicBezTo>
                <a:cubicBezTo>
                  <a:pt x="41400" y="24882"/>
                  <a:pt x="5734" y="69018"/>
                  <a:pt x="789" y="122043"/>
                </a:cubicBezTo>
                <a:lnTo>
                  <a:pt x="59391" y="122043"/>
                </a:lnTo>
                <a:close/>
                <a:moveTo>
                  <a:pt x="789" y="147294"/>
                </a:moveTo>
                <a:cubicBezTo>
                  <a:pt x="5734" y="200320"/>
                  <a:pt x="41400" y="244455"/>
                  <a:pt x="89849" y="261604"/>
                </a:cubicBezTo>
                <a:cubicBezTo>
                  <a:pt x="72858" y="234145"/>
                  <a:pt x="61232" y="192324"/>
                  <a:pt x="59391" y="147294"/>
                </a:cubicBezTo>
                <a:lnTo>
                  <a:pt x="789" y="147294"/>
                </a:lnTo>
                <a:close/>
                <a:moveTo>
                  <a:pt x="210367" y="147294"/>
                </a:moveTo>
                <a:cubicBezTo>
                  <a:pt x="208526" y="192324"/>
                  <a:pt x="196900" y="234145"/>
                  <a:pt x="179909" y="261604"/>
                </a:cubicBezTo>
                <a:cubicBezTo>
                  <a:pt x="228358" y="244403"/>
                  <a:pt x="264024" y="200320"/>
                  <a:pt x="268969" y="147294"/>
                </a:cubicBezTo>
                <a:lnTo>
                  <a:pt x="210367" y="147294"/>
                </a:lnTo>
                <a:close/>
                <a:moveTo>
                  <a:pt x="268969" y="122043"/>
                </a:moveTo>
                <a:cubicBezTo>
                  <a:pt x="264024" y="69018"/>
                  <a:pt x="228358" y="24882"/>
                  <a:pt x="179909" y="7733"/>
                </a:cubicBezTo>
                <a:cubicBezTo>
                  <a:pt x="196900" y="35193"/>
                  <a:pt x="208526" y="77014"/>
                  <a:pt x="210367" y="122043"/>
                </a:cubicBezTo>
                <a:lnTo>
                  <a:pt x="268969" y="122043"/>
                </a:lnTo>
                <a:close/>
              </a:path>
            </a:pathLst>
          </a:custGeom>
          <a:solidFill>
            <a:srgbClr val="FFFFFF"/>
          </a:solidFill>
          <a:ln/>
        </p:spPr>
      </p:sp>
      <p:sp>
        <p:nvSpPr>
          <p:cNvPr id="17" name="Text 15"/>
          <p:cNvSpPr/>
          <p:nvPr/>
        </p:nvSpPr>
        <p:spPr>
          <a:xfrm>
            <a:off x="1391576" y="4704424"/>
            <a:ext cx="10329084" cy="314227"/>
          </a:xfrm>
          <a:prstGeom prst="rect">
            <a:avLst/>
          </a:prstGeom>
          <a:noFill/>
          <a:ln/>
        </p:spPr>
        <p:txBody>
          <a:bodyPr wrap="square" lIns="0" tIns="0" rIns="0" bIns="0" rtlCol="0" anchor="ctr"/>
          <a:lstStyle/>
          <a:p>
            <a:pPr>
              <a:lnSpc>
                <a:spcPct val="120000"/>
              </a:lnSpc>
            </a:pPr>
            <a:r>
              <a:rPr lang="en-US" sz="1767" b="1" dirty="0">
                <a:solidFill>
                  <a:srgbClr val="1D293D"/>
                </a:solidFill>
                <a:latin typeface="Quattrocento Sans" pitchFamily="34" charset="0"/>
                <a:ea typeface="Quattrocento Sans" pitchFamily="34" charset="-122"/>
                <a:cs typeface="Quattrocento Sans" pitchFamily="34" charset="-120"/>
              </a:rPr>
              <a:t>Cross-Platform Usability</a:t>
            </a:r>
            <a:endParaRPr lang="en-US" sz="1600" dirty="0"/>
          </a:p>
        </p:txBody>
      </p:sp>
      <p:sp>
        <p:nvSpPr>
          <p:cNvPr id="18" name="Text 16"/>
          <p:cNvSpPr/>
          <p:nvPr/>
        </p:nvSpPr>
        <p:spPr>
          <a:xfrm>
            <a:off x="1391576" y="5108430"/>
            <a:ext cx="10306639" cy="583564"/>
          </a:xfrm>
          <a:prstGeom prst="rect">
            <a:avLst/>
          </a:prstGeom>
          <a:noFill/>
          <a:ln/>
        </p:spPr>
        <p:txBody>
          <a:bodyPr wrap="square" lIns="0" tIns="0" rIns="0" bIns="0" rtlCol="0" anchor="ctr"/>
          <a:lstStyle/>
          <a:p>
            <a:pPr>
              <a:lnSpc>
                <a:spcPct val="140000"/>
              </a:lnSpc>
            </a:pPr>
            <a:r>
              <a:rPr lang="en-US" sz="1414" dirty="0">
                <a:solidFill>
                  <a:srgbClr val="314158"/>
                </a:solidFill>
                <a:latin typeface="Quattrocento Sans" pitchFamily="34" charset="0"/>
                <a:ea typeface="Quattrocento Sans" pitchFamily="34" charset="-122"/>
                <a:cs typeface="Quattrocento Sans" pitchFamily="34" charset="-120"/>
              </a:rPr>
              <a:t>Modern development often spans Windows, Linux, and macOS. A solution that works across all three platforms without modification provides flexibility and ensures developers can maintain consistent environments regardless of their operating system.</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1019175"/>
            <a:ext cx="3562350" cy="38100"/>
          </a:xfrm>
          <a:custGeom>
            <a:avLst/>
            <a:gdLst/>
            <a:ahLst/>
            <a:cxnLst/>
            <a:rect l="l" t="t" r="r" b="b"/>
            <a:pathLst>
              <a:path w="3562350" h="38100">
                <a:moveTo>
                  <a:pt x="0" y="0"/>
                </a:moveTo>
                <a:lnTo>
                  <a:pt x="3562350" y="0"/>
                </a:lnTo>
                <a:lnTo>
                  <a:pt x="3562350" y="38100"/>
                </a:lnTo>
                <a:lnTo>
                  <a:pt x="0" y="38100"/>
                </a:lnTo>
                <a:lnTo>
                  <a:pt x="0" y="0"/>
                </a:lnTo>
                <a:close/>
              </a:path>
            </a:pathLst>
          </a:custGeom>
          <a:solidFill>
            <a:srgbClr val="2B7FFF"/>
          </a:solidFill>
          <a:ln/>
        </p:spPr>
      </p:sp>
      <p:sp>
        <p:nvSpPr>
          <p:cNvPr id="3" name="Text 1"/>
          <p:cNvSpPr/>
          <p:nvPr/>
        </p:nvSpPr>
        <p:spPr>
          <a:xfrm>
            <a:off x="381000" y="381000"/>
            <a:ext cx="3776662" cy="619125"/>
          </a:xfrm>
          <a:prstGeom prst="rect">
            <a:avLst/>
          </a:prstGeom>
          <a:noFill/>
          <a:ln/>
        </p:spPr>
        <p:txBody>
          <a:bodyPr wrap="square" lIns="0" tIns="0" rIns="0" bIns="142875" rtlCol="0" anchor="ctr"/>
          <a:lstStyle/>
          <a:p>
            <a:pPr>
              <a:lnSpc>
                <a:spcPct val="90000"/>
              </a:lnSpc>
            </a:pPr>
            <a:r>
              <a:rPr lang="en-US" sz="3375" b="1" dirty="0">
                <a:solidFill>
                  <a:srgbClr val="1D293D"/>
                </a:solidFill>
                <a:latin typeface="Quattrocento Sans" pitchFamily="34" charset="0"/>
                <a:ea typeface="Quattrocento Sans" pitchFamily="34" charset="-122"/>
                <a:cs typeface="Quattrocento Sans" pitchFamily="34" charset="-120"/>
              </a:rPr>
              <a:t>Problem Statement</a:t>
            </a:r>
            <a:endParaRPr lang="en-US" sz="1600" dirty="0"/>
          </a:p>
        </p:txBody>
      </p:sp>
      <p:sp>
        <p:nvSpPr>
          <p:cNvPr id="4" name="Shape 2"/>
          <p:cNvSpPr/>
          <p:nvPr/>
        </p:nvSpPr>
        <p:spPr>
          <a:xfrm>
            <a:off x="381000" y="1343025"/>
            <a:ext cx="5600700" cy="2971800"/>
          </a:xfrm>
          <a:custGeom>
            <a:avLst/>
            <a:gdLst/>
            <a:ahLst/>
            <a:cxnLst/>
            <a:rect l="l" t="t" r="r" b="b"/>
            <a:pathLst>
              <a:path w="5600700" h="2971800">
                <a:moveTo>
                  <a:pt x="38100" y="0"/>
                </a:moveTo>
                <a:lnTo>
                  <a:pt x="5562600" y="0"/>
                </a:lnTo>
                <a:cubicBezTo>
                  <a:pt x="5583628" y="0"/>
                  <a:pt x="5600700" y="17072"/>
                  <a:pt x="5600700" y="38100"/>
                </a:cubicBezTo>
                <a:lnTo>
                  <a:pt x="5600700" y="2876554"/>
                </a:lnTo>
                <a:cubicBezTo>
                  <a:pt x="5600700" y="2929157"/>
                  <a:pt x="5558057" y="2971800"/>
                  <a:pt x="5505454" y="2971800"/>
                </a:cubicBezTo>
                <a:lnTo>
                  <a:pt x="95246" y="2971800"/>
                </a:lnTo>
                <a:cubicBezTo>
                  <a:pt x="42643" y="2971800"/>
                  <a:pt x="0" y="2929157"/>
                  <a:pt x="0" y="2876554"/>
                </a:cubicBezTo>
                <a:lnTo>
                  <a:pt x="0" y="38100"/>
                </a:lnTo>
                <a:cubicBezTo>
                  <a:pt x="0" y="17072"/>
                  <a:pt x="17072" y="0"/>
                  <a:pt x="38100" y="0"/>
                </a:cubicBezTo>
                <a:close/>
              </a:path>
            </a:pathLst>
          </a:custGeom>
          <a:solidFill>
            <a:srgbClr val="FEF2F2"/>
          </a:solidFill>
          <a:ln/>
        </p:spPr>
      </p:sp>
      <p:sp>
        <p:nvSpPr>
          <p:cNvPr id="5" name="Shape 3"/>
          <p:cNvSpPr/>
          <p:nvPr/>
        </p:nvSpPr>
        <p:spPr>
          <a:xfrm>
            <a:off x="381000" y="1343025"/>
            <a:ext cx="5600700" cy="38100"/>
          </a:xfrm>
          <a:custGeom>
            <a:avLst/>
            <a:gdLst/>
            <a:ahLst/>
            <a:cxnLst/>
            <a:rect l="l" t="t" r="r" b="b"/>
            <a:pathLst>
              <a:path w="5600700" h="38100">
                <a:moveTo>
                  <a:pt x="38100" y="0"/>
                </a:moveTo>
                <a:lnTo>
                  <a:pt x="5562600" y="0"/>
                </a:lnTo>
                <a:cubicBezTo>
                  <a:pt x="5583628" y="0"/>
                  <a:pt x="5600700" y="17072"/>
                  <a:pt x="5600700" y="38100"/>
                </a:cubicBezTo>
                <a:lnTo>
                  <a:pt x="5600700" y="38100"/>
                </a:lnTo>
                <a:lnTo>
                  <a:pt x="0" y="38100"/>
                </a:lnTo>
                <a:lnTo>
                  <a:pt x="0" y="38100"/>
                </a:lnTo>
                <a:cubicBezTo>
                  <a:pt x="0" y="17072"/>
                  <a:pt x="17072" y="0"/>
                  <a:pt x="38100" y="0"/>
                </a:cubicBezTo>
                <a:close/>
              </a:path>
            </a:pathLst>
          </a:custGeom>
          <a:solidFill>
            <a:srgbClr val="FF6467"/>
          </a:solidFill>
          <a:ln/>
        </p:spPr>
      </p:sp>
      <p:sp>
        <p:nvSpPr>
          <p:cNvPr id="6" name="Shape 4"/>
          <p:cNvSpPr/>
          <p:nvPr/>
        </p:nvSpPr>
        <p:spPr>
          <a:xfrm>
            <a:off x="2797969" y="1600200"/>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FFE2E2"/>
          </a:solidFill>
          <a:ln/>
        </p:spPr>
      </p:sp>
      <p:sp>
        <p:nvSpPr>
          <p:cNvPr id="7" name="Shape 5"/>
          <p:cNvSpPr/>
          <p:nvPr/>
        </p:nvSpPr>
        <p:spPr>
          <a:xfrm>
            <a:off x="3000970" y="1804988"/>
            <a:ext cx="357188" cy="357188"/>
          </a:xfrm>
          <a:custGeom>
            <a:avLst/>
            <a:gdLst/>
            <a:ahLst/>
            <a:cxnLst/>
            <a:rect l="l" t="t" r="r" b="b"/>
            <a:pathLst>
              <a:path w="357188" h="357188">
                <a:moveTo>
                  <a:pt x="156270" y="0"/>
                </a:moveTo>
                <a:cubicBezTo>
                  <a:pt x="180896" y="0"/>
                  <a:pt x="200918" y="14999"/>
                  <a:pt x="200918" y="33486"/>
                </a:cubicBezTo>
                <a:cubicBezTo>
                  <a:pt x="200918" y="40742"/>
                  <a:pt x="197848" y="47439"/>
                  <a:pt x="192546" y="52950"/>
                </a:cubicBezTo>
                <a:cubicBezTo>
                  <a:pt x="187942" y="57764"/>
                  <a:pt x="184175" y="63624"/>
                  <a:pt x="184175" y="70321"/>
                </a:cubicBezTo>
                <a:cubicBezTo>
                  <a:pt x="184175" y="80786"/>
                  <a:pt x="192686" y="89297"/>
                  <a:pt x="203150" y="89297"/>
                </a:cubicBezTo>
                <a:lnTo>
                  <a:pt x="234404" y="89297"/>
                </a:lnTo>
                <a:cubicBezTo>
                  <a:pt x="252892" y="89297"/>
                  <a:pt x="267891" y="104296"/>
                  <a:pt x="267891" y="122783"/>
                </a:cubicBezTo>
                <a:lnTo>
                  <a:pt x="267891" y="154037"/>
                </a:lnTo>
                <a:cubicBezTo>
                  <a:pt x="267891" y="164502"/>
                  <a:pt x="276402" y="173013"/>
                  <a:pt x="286866" y="173013"/>
                </a:cubicBezTo>
                <a:cubicBezTo>
                  <a:pt x="293494" y="173013"/>
                  <a:pt x="299424" y="169245"/>
                  <a:pt x="304237" y="164641"/>
                </a:cubicBezTo>
                <a:cubicBezTo>
                  <a:pt x="309749" y="159409"/>
                  <a:pt x="316446" y="156270"/>
                  <a:pt x="323701" y="156270"/>
                </a:cubicBezTo>
                <a:cubicBezTo>
                  <a:pt x="342188" y="156270"/>
                  <a:pt x="357188" y="176292"/>
                  <a:pt x="357188" y="200918"/>
                </a:cubicBezTo>
                <a:cubicBezTo>
                  <a:pt x="357188" y="225544"/>
                  <a:pt x="342188" y="245566"/>
                  <a:pt x="323701" y="245566"/>
                </a:cubicBezTo>
                <a:cubicBezTo>
                  <a:pt x="316446" y="245566"/>
                  <a:pt x="309679" y="242497"/>
                  <a:pt x="304237" y="237195"/>
                </a:cubicBezTo>
                <a:cubicBezTo>
                  <a:pt x="299424" y="232590"/>
                  <a:pt x="293563" y="228823"/>
                  <a:pt x="286866" y="228823"/>
                </a:cubicBezTo>
                <a:cubicBezTo>
                  <a:pt x="276402" y="228823"/>
                  <a:pt x="267891" y="237334"/>
                  <a:pt x="267891" y="247799"/>
                </a:cubicBezTo>
                <a:lnTo>
                  <a:pt x="267891" y="323701"/>
                </a:lnTo>
                <a:cubicBezTo>
                  <a:pt x="267891" y="342188"/>
                  <a:pt x="252892" y="357188"/>
                  <a:pt x="234404" y="357188"/>
                </a:cubicBezTo>
                <a:lnTo>
                  <a:pt x="194779" y="357188"/>
                </a:lnTo>
                <a:cubicBezTo>
                  <a:pt x="185849" y="357188"/>
                  <a:pt x="178594" y="349932"/>
                  <a:pt x="178594" y="341002"/>
                </a:cubicBezTo>
                <a:cubicBezTo>
                  <a:pt x="178594" y="334584"/>
                  <a:pt x="182640" y="328933"/>
                  <a:pt x="187802" y="325096"/>
                </a:cubicBezTo>
                <a:cubicBezTo>
                  <a:pt x="195895" y="319027"/>
                  <a:pt x="200918" y="310655"/>
                  <a:pt x="200918" y="301377"/>
                </a:cubicBezTo>
                <a:cubicBezTo>
                  <a:pt x="200918" y="282890"/>
                  <a:pt x="180896" y="267891"/>
                  <a:pt x="156270" y="267891"/>
                </a:cubicBezTo>
                <a:cubicBezTo>
                  <a:pt x="131643" y="267891"/>
                  <a:pt x="111621" y="282890"/>
                  <a:pt x="111621" y="301377"/>
                </a:cubicBezTo>
                <a:cubicBezTo>
                  <a:pt x="111621" y="310655"/>
                  <a:pt x="116644" y="319027"/>
                  <a:pt x="124737" y="325096"/>
                </a:cubicBezTo>
                <a:cubicBezTo>
                  <a:pt x="129899" y="328933"/>
                  <a:pt x="133945" y="334514"/>
                  <a:pt x="133945" y="341002"/>
                </a:cubicBezTo>
                <a:cubicBezTo>
                  <a:pt x="133945" y="349932"/>
                  <a:pt x="126690" y="357188"/>
                  <a:pt x="117760" y="357188"/>
                </a:cubicBezTo>
                <a:lnTo>
                  <a:pt x="33486" y="357188"/>
                </a:lnTo>
                <a:cubicBezTo>
                  <a:pt x="14999" y="357188"/>
                  <a:pt x="0" y="342188"/>
                  <a:pt x="0" y="323701"/>
                </a:cubicBezTo>
                <a:lnTo>
                  <a:pt x="0" y="239427"/>
                </a:lnTo>
                <a:cubicBezTo>
                  <a:pt x="0" y="230498"/>
                  <a:pt x="7255" y="223242"/>
                  <a:pt x="16185" y="223242"/>
                </a:cubicBezTo>
                <a:cubicBezTo>
                  <a:pt x="22603" y="223242"/>
                  <a:pt x="28254" y="227288"/>
                  <a:pt x="32091" y="232451"/>
                </a:cubicBezTo>
                <a:cubicBezTo>
                  <a:pt x="38160" y="240543"/>
                  <a:pt x="46532" y="245566"/>
                  <a:pt x="55811" y="245566"/>
                </a:cubicBezTo>
                <a:cubicBezTo>
                  <a:pt x="74298" y="245566"/>
                  <a:pt x="89297" y="225544"/>
                  <a:pt x="89297" y="200918"/>
                </a:cubicBezTo>
                <a:cubicBezTo>
                  <a:pt x="89297" y="176292"/>
                  <a:pt x="74298" y="156270"/>
                  <a:pt x="55811" y="156270"/>
                </a:cubicBezTo>
                <a:cubicBezTo>
                  <a:pt x="46532" y="156270"/>
                  <a:pt x="38160" y="161292"/>
                  <a:pt x="32091" y="169385"/>
                </a:cubicBezTo>
                <a:cubicBezTo>
                  <a:pt x="28254" y="174547"/>
                  <a:pt x="22673" y="178594"/>
                  <a:pt x="16185" y="178594"/>
                </a:cubicBezTo>
                <a:cubicBezTo>
                  <a:pt x="7255" y="178594"/>
                  <a:pt x="0" y="171338"/>
                  <a:pt x="0" y="162409"/>
                </a:cubicBezTo>
                <a:lnTo>
                  <a:pt x="0" y="122783"/>
                </a:lnTo>
                <a:cubicBezTo>
                  <a:pt x="0" y="104296"/>
                  <a:pt x="14999" y="89297"/>
                  <a:pt x="33486" y="89297"/>
                </a:cubicBezTo>
                <a:lnTo>
                  <a:pt x="109389" y="89297"/>
                </a:lnTo>
                <a:cubicBezTo>
                  <a:pt x="119853" y="89297"/>
                  <a:pt x="128364" y="80786"/>
                  <a:pt x="128364" y="70321"/>
                </a:cubicBezTo>
                <a:cubicBezTo>
                  <a:pt x="128364" y="63694"/>
                  <a:pt x="124597" y="57764"/>
                  <a:pt x="119993" y="52950"/>
                </a:cubicBezTo>
                <a:cubicBezTo>
                  <a:pt x="114760" y="47439"/>
                  <a:pt x="111621" y="40742"/>
                  <a:pt x="111621" y="33486"/>
                </a:cubicBezTo>
                <a:cubicBezTo>
                  <a:pt x="111621" y="14999"/>
                  <a:pt x="131643" y="0"/>
                  <a:pt x="156270" y="0"/>
                </a:cubicBezTo>
                <a:close/>
              </a:path>
            </a:pathLst>
          </a:custGeom>
          <a:solidFill>
            <a:srgbClr val="FB2C36"/>
          </a:solidFill>
          <a:ln/>
        </p:spPr>
      </p:sp>
      <p:sp>
        <p:nvSpPr>
          <p:cNvPr id="8" name="Text 6"/>
          <p:cNvSpPr/>
          <p:nvPr/>
        </p:nvSpPr>
        <p:spPr>
          <a:xfrm>
            <a:off x="559594" y="2505075"/>
            <a:ext cx="5243513" cy="333375"/>
          </a:xfrm>
          <a:prstGeom prst="rect">
            <a:avLst/>
          </a:prstGeom>
          <a:noFill/>
          <a:ln/>
        </p:spPr>
        <p:txBody>
          <a:bodyPr wrap="square" lIns="0" tIns="0" rIns="0" bIns="0" rtlCol="0" anchor="ctr"/>
          <a:lstStyle/>
          <a:p>
            <a:pPr algn="ct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Difficulty in Recreating Development Setups</a:t>
            </a:r>
            <a:endParaRPr lang="en-US" sz="1600" dirty="0"/>
          </a:p>
        </p:txBody>
      </p:sp>
      <p:sp>
        <p:nvSpPr>
          <p:cNvPr id="9" name="Shape 7"/>
          <p:cNvSpPr/>
          <p:nvPr/>
        </p:nvSpPr>
        <p:spPr>
          <a:xfrm>
            <a:off x="690563" y="3076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6467"/>
          </a:solidFill>
          <a:ln/>
        </p:spPr>
      </p:sp>
      <p:sp>
        <p:nvSpPr>
          <p:cNvPr id="10" name="Text 8"/>
          <p:cNvSpPr/>
          <p:nvPr/>
        </p:nvSpPr>
        <p:spPr>
          <a:xfrm>
            <a:off x="952500" y="3028950"/>
            <a:ext cx="35052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No systematic way to track installed tools</a:t>
            </a:r>
            <a:endParaRPr lang="en-US" sz="1600" dirty="0"/>
          </a:p>
        </p:txBody>
      </p:sp>
      <p:sp>
        <p:nvSpPr>
          <p:cNvPr id="11" name="Shape 9"/>
          <p:cNvSpPr/>
          <p:nvPr/>
        </p:nvSpPr>
        <p:spPr>
          <a:xfrm>
            <a:off x="690563" y="3457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6467"/>
          </a:solidFill>
          <a:ln/>
        </p:spPr>
      </p:sp>
      <p:sp>
        <p:nvSpPr>
          <p:cNvPr id="12" name="Text 10"/>
          <p:cNvSpPr/>
          <p:nvPr/>
        </p:nvSpPr>
        <p:spPr>
          <a:xfrm>
            <a:off x="952500" y="3409950"/>
            <a:ext cx="371475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Custom configurations scattered across files</a:t>
            </a:r>
            <a:endParaRPr lang="en-US" sz="1600" dirty="0"/>
          </a:p>
        </p:txBody>
      </p:sp>
      <p:sp>
        <p:nvSpPr>
          <p:cNvPr id="13" name="Shape 11"/>
          <p:cNvSpPr/>
          <p:nvPr/>
        </p:nvSpPr>
        <p:spPr>
          <a:xfrm>
            <a:off x="690563" y="3838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6467"/>
          </a:solidFill>
          <a:ln/>
        </p:spPr>
      </p:sp>
      <p:sp>
        <p:nvSpPr>
          <p:cNvPr id="14" name="Text 12"/>
          <p:cNvSpPr/>
          <p:nvPr/>
        </p:nvSpPr>
        <p:spPr>
          <a:xfrm>
            <a:off x="952500" y="3790950"/>
            <a:ext cx="26670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Extension lists not documented</a:t>
            </a:r>
            <a:endParaRPr lang="en-US" sz="1600" dirty="0"/>
          </a:p>
        </p:txBody>
      </p:sp>
      <p:sp>
        <p:nvSpPr>
          <p:cNvPr id="15" name="Shape 13"/>
          <p:cNvSpPr/>
          <p:nvPr/>
        </p:nvSpPr>
        <p:spPr>
          <a:xfrm>
            <a:off x="6215063" y="1343025"/>
            <a:ext cx="5600700" cy="2971800"/>
          </a:xfrm>
          <a:custGeom>
            <a:avLst/>
            <a:gdLst/>
            <a:ahLst/>
            <a:cxnLst/>
            <a:rect l="l" t="t" r="r" b="b"/>
            <a:pathLst>
              <a:path w="5600700" h="2971800">
                <a:moveTo>
                  <a:pt x="38100" y="0"/>
                </a:moveTo>
                <a:lnTo>
                  <a:pt x="5562600" y="0"/>
                </a:lnTo>
                <a:cubicBezTo>
                  <a:pt x="5583628" y="0"/>
                  <a:pt x="5600700" y="17072"/>
                  <a:pt x="5600700" y="38100"/>
                </a:cubicBezTo>
                <a:lnTo>
                  <a:pt x="5600700" y="2876554"/>
                </a:lnTo>
                <a:cubicBezTo>
                  <a:pt x="5600700" y="2929157"/>
                  <a:pt x="5558057" y="2971800"/>
                  <a:pt x="5505454" y="2971800"/>
                </a:cubicBezTo>
                <a:lnTo>
                  <a:pt x="95246" y="2971800"/>
                </a:lnTo>
                <a:cubicBezTo>
                  <a:pt x="42643" y="2971800"/>
                  <a:pt x="0" y="2929157"/>
                  <a:pt x="0" y="2876554"/>
                </a:cubicBezTo>
                <a:lnTo>
                  <a:pt x="0" y="38100"/>
                </a:lnTo>
                <a:cubicBezTo>
                  <a:pt x="0" y="17072"/>
                  <a:pt x="17072" y="0"/>
                  <a:pt x="38100" y="0"/>
                </a:cubicBezTo>
                <a:close/>
              </a:path>
            </a:pathLst>
          </a:custGeom>
          <a:solidFill>
            <a:srgbClr val="FFF7ED"/>
          </a:solidFill>
          <a:ln/>
        </p:spPr>
      </p:sp>
      <p:sp>
        <p:nvSpPr>
          <p:cNvPr id="16" name="Shape 14"/>
          <p:cNvSpPr/>
          <p:nvPr/>
        </p:nvSpPr>
        <p:spPr>
          <a:xfrm>
            <a:off x="6215063" y="1343025"/>
            <a:ext cx="5600700" cy="38100"/>
          </a:xfrm>
          <a:custGeom>
            <a:avLst/>
            <a:gdLst/>
            <a:ahLst/>
            <a:cxnLst/>
            <a:rect l="l" t="t" r="r" b="b"/>
            <a:pathLst>
              <a:path w="5600700" h="38100">
                <a:moveTo>
                  <a:pt x="38100" y="0"/>
                </a:moveTo>
                <a:lnTo>
                  <a:pt x="5562600" y="0"/>
                </a:lnTo>
                <a:cubicBezTo>
                  <a:pt x="5583628" y="0"/>
                  <a:pt x="5600700" y="17072"/>
                  <a:pt x="5600700" y="38100"/>
                </a:cubicBezTo>
                <a:lnTo>
                  <a:pt x="5600700" y="38100"/>
                </a:lnTo>
                <a:lnTo>
                  <a:pt x="0" y="38100"/>
                </a:lnTo>
                <a:lnTo>
                  <a:pt x="0" y="38100"/>
                </a:lnTo>
                <a:cubicBezTo>
                  <a:pt x="0" y="17072"/>
                  <a:pt x="17072" y="0"/>
                  <a:pt x="38100" y="0"/>
                </a:cubicBezTo>
                <a:close/>
              </a:path>
            </a:pathLst>
          </a:custGeom>
          <a:solidFill>
            <a:srgbClr val="FF8904"/>
          </a:solidFill>
          <a:ln/>
        </p:spPr>
      </p:sp>
      <p:sp>
        <p:nvSpPr>
          <p:cNvPr id="17" name="Shape 15"/>
          <p:cNvSpPr/>
          <p:nvPr/>
        </p:nvSpPr>
        <p:spPr>
          <a:xfrm>
            <a:off x="8632031" y="1600200"/>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FFEDD4"/>
          </a:solidFill>
          <a:ln/>
        </p:spPr>
      </p:sp>
      <p:sp>
        <p:nvSpPr>
          <p:cNvPr id="18" name="Shape 16"/>
          <p:cNvSpPr/>
          <p:nvPr/>
        </p:nvSpPr>
        <p:spPr>
          <a:xfrm>
            <a:off x="8835033" y="1804988"/>
            <a:ext cx="357188" cy="357188"/>
          </a:xfrm>
          <a:custGeom>
            <a:avLst/>
            <a:gdLst/>
            <a:ahLst/>
            <a:cxnLst/>
            <a:rect l="l" t="t" r="r" b="b"/>
            <a:pathLst>
              <a:path w="357188" h="357188">
                <a:moveTo>
                  <a:pt x="156270" y="66973"/>
                </a:moveTo>
                <a:cubicBezTo>
                  <a:pt x="156270" y="54652"/>
                  <a:pt x="166273" y="44648"/>
                  <a:pt x="178594" y="44648"/>
                </a:cubicBezTo>
                <a:cubicBezTo>
                  <a:pt x="190915" y="44648"/>
                  <a:pt x="200918" y="54652"/>
                  <a:pt x="200918" y="66973"/>
                </a:cubicBezTo>
                <a:cubicBezTo>
                  <a:pt x="200918" y="79294"/>
                  <a:pt x="190915" y="89297"/>
                  <a:pt x="178594" y="89297"/>
                </a:cubicBezTo>
                <a:cubicBezTo>
                  <a:pt x="166273" y="89297"/>
                  <a:pt x="156270" y="79294"/>
                  <a:pt x="156270" y="66973"/>
                </a:cubicBezTo>
                <a:close/>
                <a:moveTo>
                  <a:pt x="241729" y="89297"/>
                </a:moveTo>
                <a:cubicBezTo>
                  <a:pt x="244171" y="82321"/>
                  <a:pt x="245566" y="74786"/>
                  <a:pt x="245566" y="66973"/>
                </a:cubicBezTo>
                <a:cubicBezTo>
                  <a:pt x="245566" y="29998"/>
                  <a:pt x="215568" y="0"/>
                  <a:pt x="178594" y="0"/>
                </a:cubicBezTo>
                <a:cubicBezTo>
                  <a:pt x="141619" y="0"/>
                  <a:pt x="111621" y="29998"/>
                  <a:pt x="111621" y="66973"/>
                </a:cubicBezTo>
                <a:cubicBezTo>
                  <a:pt x="111621" y="74786"/>
                  <a:pt x="112947" y="82321"/>
                  <a:pt x="115458" y="89297"/>
                </a:cubicBezTo>
                <a:lnTo>
                  <a:pt x="100250" y="89297"/>
                </a:lnTo>
                <a:cubicBezTo>
                  <a:pt x="80507" y="89297"/>
                  <a:pt x="63136" y="102203"/>
                  <a:pt x="57485" y="121109"/>
                </a:cubicBezTo>
                <a:lnTo>
                  <a:pt x="1674" y="307098"/>
                </a:lnTo>
                <a:cubicBezTo>
                  <a:pt x="558" y="310725"/>
                  <a:pt x="0" y="314492"/>
                  <a:pt x="0" y="318260"/>
                </a:cubicBezTo>
                <a:cubicBezTo>
                  <a:pt x="0" y="339747"/>
                  <a:pt x="17441" y="357188"/>
                  <a:pt x="38928" y="357188"/>
                </a:cubicBezTo>
                <a:lnTo>
                  <a:pt x="318260" y="357188"/>
                </a:lnTo>
                <a:cubicBezTo>
                  <a:pt x="339747" y="357188"/>
                  <a:pt x="357188" y="339747"/>
                  <a:pt x="357188" y="318260"/>
                </a:cubicBezTo>
                <a:cubicBezTo>
                  <a:pt x="357188" y="314492"/>
                  <a:pt x="356629" y="310725"/>
                  <a:pt x="355513" y="307098"/>
                </a:cubicBezTo>
                <a:lnTo>
                  <a:pt x="299703" y="121179"/>
                </a:lnTo>
                <a:cubicBezTo>
                  <a:pt x="294052" y="102273"/>
                  <a:pt x="276681" y="89367"/>
                  <a:pt x="256938" y="89367"/>
                </a:cubicBezTo>
                <a:lnTo>
                  <a:pt x="241729" y="89367"/>
                </a:lnTo>
                <a:close/>
              </a:path>
            </a:pathLst>
          </a:custGeom>
          <a:solidFill>
            <a:srgbClr val="FF6900"/>
          </a:solidFill>
          <a:ln/>
        </p:spPr>
      </p:sp>
      <p:sp>
        <p:nvSpPr>
          <p:cNvPr id="19" name="Text 17"/>
          <p:cNvSpPr/>
          <p:nvPr/>
        </p:nvSpPr>
        <p:spPr>
          <a:xfrm>
            <a:off x="6393656" y="2505075"/>
            <a:ext cx="5243513" cy="333375"/>
          </a:xfrm>
          <a:prstGeom prst="rect">
            <a:avLst/>
          </a:prstGeom>
          <a:noFill/>
          <a:ln/>
        </p:spPr>
        <p:txBody>
          <a:bodyPr wrap="square" lIns="0" tIns="0" rIns="0" bIns="0" rtlCol="0" anchor="ctr"/>
          <a:lstStyle/>
          <a:p>
            <a:pPr algn="ct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Dependency on Heavy Tools Like Containers</a:t>
            </a:r>
            <a:endParaRPr lang="en-US" sz="1600" dirty="0"/>
          </a:p>
        </p:txBody>
      </p:sp>
      <p:sp>
        <p:nvSpPr>
          <p:cNvPr id="20" name="Shape 18"/>
          <p:cNvSpPr/>
          <p:nvPr/>
        </p:nvSpPr>
        <p:spPr>
          <a:xfrm>
            <a:off x="6524625" y="3076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8904"/>
          </a:solidFill>
          <a:ln/>
        </p:spPr>
      </p:sp>
      <p:sp>
        <p:nvSpPr>
          <p:cNvPr id="21" name="Text 19"/>
          <p:cNvSpPr/>
          <p:nvPr/>
        </p:nvSpPr>
        <p:spPr>
          <a:xfrm>
            <a:off x="6786563" y="3028950"/>
            <a:ext cx="37719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Docker requires significant system resources</a:t>
            </a:r>
            <a:endParaRPr lang="en-US" sz="1600" dirty="0"/>
          </a:p>
        </p:txBody>
      </p:sp>
      <p:sp>
        <p:nvSpPr>
          <p:cNvPr id="22" name="Shape 20"/>
          <p:cNvSpPr/>
          <p:nvPr/>
        </p:nvSpPr>
        <p:spPr>
          <a:xfrm>
            <a:off x="6524625" y="3457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8904"/>
          </a:solidFill>
          <a:ln/>
        </p:spPr>
      </p:sp>
      <p:sp>
        <p:nvSpPr>
          <p:cNvPr id="23" name="Text 21"/>
          <p:cNvSpPr/>
          <p:nvPr/>
        </p:nvSpPr>
        <p:spPr>
          <a:xfrm>
            <a:off x="6786563" y="3409950"/>
            <a:ext cx="29337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Learning curve for containerization</a:t>
            </a:r>
            <a:endParaRPr lang="en-US" sz="1600" dirty="0"/>
          </a:p>
        </p:txBody>
      </p:sp>
      <p:sp>
        <p:nvSpPr>
          <p:cNvPr id="24" name="Shape 22"/>
          <p:cNvSpPr/>
          <p:nvPr/>
        </p:nvSpPr>
        <p:spPr>
          <a:xfrm>
            <a:off x="6524625" y="3838575"/>
            <a:ext cx="95250" cy="190500"/>
          </a:xfrm>
          <a:custGeom>
            <a:avLst/>
            <a:gdLst/>
            <a:ahLst/>
            <a:cxnLst/>
            <a:rect l="l" t="t" r="r" b="b"/>
            <a:pathLst>
              <a:path w="95250" h="190500">
                <a:moveTo>
                  <a:pt x="91939" y="86841"/>
                </a:moveTo>
                <a:cubicBezTo>
                  <a:pt x="96589" y="91492"/>
                  <a:pt x="96589" y="99045"/>
                  <a:pt x="91939" y="103696"/>
                </a:cubicBezTo>
                <a:lnTo>
                  <a:pt x="32407" y="163227"/>
                </a:lnTo>
                <a:cubicBezTo>
                  <a:pt x="27756" y="167878"/>
                  <a:pt x="20203" y="167878"/>
                  <a:pt x="15553" y="163227"/>
                </a:cubicBezTo>
                <a:cubicBezTo>
                  <a:pt x="10902" y="158576"/>
                  <a:pt x="10902" y="151023"/>
                  <a:pt x="15553" y="146372"/>
                </a:cubicBezTo>
                <a:lnTo>
                  <a:pt x="66675" y="95250"/>
                </a:lnTo>
                <a:lnTo>
                  <a:pt x="15590" y="44128"/>
                </a:lnTo>
                <a:cubicBezTo>
                  <a:pt x="10939" y="39477"/>
                  <a:pt x="10939" y="31924"/>
                  <a:pt x="15590" y="27273"/>
                </a:cubicBezTo>
                <a:cubicBezTo>
                  <a:pt x="20241" y="22622"/>
                  <a:pt x="27794" y="22622"/>
                  <a:pt x="32445" y="27273"/>
                </a:cubicBezTo>
                <a:lnTo>
                  <a:pt x="91976" y="86804"/>
                </a:lnTo>
                <a:close/>
              </a:path>
            </a:pathLst>
          </a:custGeom>
          <a:solidFill>
            <a:srgbClr val="FF8904"/>
          </a:solidFill>
          <a:ln/>
        </p:spPr>
      </p:sp>
      <p:sp>
        <p:nvSpPr>
          <p:cNvPr id="25" name="Text 23"/>
          <p:cNvSpPr/>
          <p:nvPr/>
        </p:nvSpPr>
        <p:spPr>
          <a:xfrm>
            <a:off x="6786563" y="3790950"/>
            <a:ext cx="334327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Overkill for simple environment backup</a:t>
            </a:r>
            <a:endParaRPr lang="en-US" sz="1600" dirty="0"/>
          </a:p>
        </p:txBody>
      </p:sp>
      <p:sp>
        <p:nvSpPr>
          <p:cNvPr id="26" name="Shape 24"/>
          <p:cNvSpPr/>
          <p:nvPr/>
        </p:nvSpPr>
        <p:spPr>
          <a:xfrm>
            <a:off x="381000" y="4572000"/>
            <a:ext cx="11430000" cy="1857375"/>
          </a:xfrm>
          <a:custGeom>
            <a:avLst/>
            <a:gdLst/>
            <a:ahLst/>
            <a:cxnLst/>
            <a:rect l="l" t="t" r="r" b="b"/>
            <a:pathLst>
              <a:path w="11430000" h="1857375">
                <a:moveTo>
                  <a:pt x="38100" y="0"/>
                </a:moveTo>
                <a:lnTo>
                  <a:pt x="11391900" y="0"/>
                </a:lnTo>
                <a:cubicBezTo>
                  <a:pt x="11412928" y="0"/>
                  <a:pt x="11430000" y="17072"/>
                  <a:pt x="11430000" y="38100"/>
                </a:cubicBezTo>
                <a:lnTo>
                  <a:pt x="11430000" y="1762129"/>
                </a:lnTo>
                <a:cubicBezTo>
                  <a:pt x="11430000" y="1814732"/>
                  <a:pt x="11387357" y="1857375"/>
                  <a:pt x="11334754" y="1857375"/>
                </a:cubicBezTo>
                <a:lnTo>
                  <a:pt x="95246" y="1857375"/>
                </a:lnTo>
                <a:cubicBezTo>
                  <a:pt x="42643" y="1857375"/>
                  <a:pt x="0" y="1814732"/>
                  <a:pt x="0" y="1762129"/>
                </a:cubicBezTo>
                <a:lnTo>
                  <a:pt x="0" y="38100"/>
                </a:lnTo>
                <a:cubicBezTo>
                  <a:pt x="0" y="17072"/>
                  <a:pt x="17072" y="0"/>
                  <a:pt x="38100" y="0"/>
                </a:cubicBezTo>
                <a:close/>
              </a:path>
            </a:pathLst>
          </a:custGeom>
          <a:solidFill>
            <a:srgbClr val="EFF6FF"/>
          </a:solidFill>
          <a:ln/>
        </p:spPr>
      </p:sp>
      <p:sp>
        <p:nvSpPr>
          <p:cNvPr id="27" name="Shape 25"/>
          <p:cNvSpPr/>
          <p:nvPr/>
        </p:nvSpPr>
        <p:spPr>
          <a:xfrm>
            <a:off x="381000" y="4572000"/>
            <a:ext cx="11430000" cy="38100"/>
          </a:xfrm>
          <a:custGeom>
            <a:avLst/>
            <a:gdLst/>
            <a:ahLst/>
            <a:cxnLst/>
            <a:rect l="l" t="t" r="r" b="b"/>
            <a:pathLst>
              <a:path w="11430000" h="38100">
                <a:moveTo>
                  <a:pt x="38100" y="0"/>
                </a:moveTo>
                <a:lnTo>
                  <a:pt x="11391900" y="0"/>
                </a:lnTo>
                <a:cubicBezTo>
                  <a:pt x="11412928" y="0"/>
                  <a:pt x="11430000" y="17072"/>
                  <a:pt x="11430000" y="38100"/>
                </a:cubicBezTo>
                <a:lnTo>
                  <a:pt x="11430000" y="38100"/>
                </a:lnTo>
                <a:lnTo>
                  <a:pt x="0" y="38100"/>
                </a:lnTo>
                <a:lnTo>
                  <a:pt x="0" y="38100"/>
                </a:lnTo>
                <a:cubicBezTo>
                  <a:pt x="0" y="17072"/>
                  <a:pt x="17072" y="0"/>
                  <a:pt x="38100" y="0"/>
                </a:cubicBezTo>
                <a:close/>
              </a:path>
            </a:pathLst>
          </a:custGeom>
          <a:solidFill>
            <a:srgbClr val="51A2FF"/>
          </a:solidFill>
          <a:ln/>
        </p:spPr>
      </p:sp>
      <p:sp>
        <p:nvSpPr>
          <p:cNvPr id="28" name="Shape 26"/>
          <p:cNvSpPr/>
          <p:nvPr/>
        </p:nvSpPr>
        <p:spPr>
          <a:xfrm>
            <a:off x="619125" y="5126831"/>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DBEAFE"/>
          </a:solidFill>
          <a:ln/>
        </p:spPr>
      </p:sp>
      <p:sp>
        <p:nvSpPr>
          <p:cNvPr id="29" name="Shape 27"/>
          <p:cNvSpPr/>
          <p:nvPr/>
        </p:nvSpPr>
        <p:spPr>
          <a:xfrm>
            <a:off x="822127" y="5331619"/>
            <a:ext cx="357188" cy="357188"/>
          </a:xfrm>
          <a:custGeom>
            <a:avLst/>
            <a:gdLst/>
            <a:ahLst/>
            <a:cxnLst/>
            <a:rect l="l" t="t" r="r" b="b"/>
            <a:pathLst>
              <a:path w="357188" h="357188">
                <a:moveTo>
                  <a:pt x="290215" y="145107"/>
                </a:moveTo>
                <a:cubicBezTo>
                  <a:pt x="290215" y="177129"/>
                  <a:pt x="279820" y="206708"/>
                  <a:pt x="262310" y="230707"/>
                </a:cubicBezTo>
                <a:lnTo>
                  <a:pt x="350630" y="319097"/>
                </a:lnTo>
                <a:cubicBezTo>
                  <a:pt x="359350" y="327817"/>
                  <a:pt x="359350" y="341979"/>
                  <a:pt x="350630" y="350700"/>
                </a:cubicBezTo>
                <a:cubicBezTo>
                  <a:pt x="341909" y="359420"/>
                  <a:pt x="327747" y="359420"/>
                  <a:pt x="319027" y="350700"/>
                </a:cubicBezTo>
                <a:lnTo>
                  <a:pt x="230707" y="262310"/>
                </a:lnTo>
                <a:cubicBezTo>
                  <a:pt x="206708" y="279820"/>
                  <a:pt x="177129" y="290215"/>
                  <a:pt x="145107" y="290215"/>
                </a:cubicBezTo>
                <a:cubicBezTo>
                  <a:pt x="64950" y="290215"/>
                  <a:pt x="0" y="225265"/>
                  <a:pt x="0" y="145107"/>
                </a:cubicBezTo>
                <a:cubicBezTo>
                  <a:pt x="0" y="64950"/>
                  <a:pt x="64950" y="0"/>
                  <a:pt x="145107" y="0"/>
                </a:cubicBezTo>
                <a:cubicBezTo>
                  <a:pt x="225265" y="0"/>
                  <a:pt x="290215" y="64950"/>
                  <a:pt x="290215" y="145107"/>
                </a:cubicBezTo>
                <a:close/>
                <a:moveTo>
                  <a:pt x="145107" y="245566"/>
                </a:moveTo>
                <a:cubicBezTo>
                  <a:pt x="200552" y="245566"/>
                  <a:pt x="245566" y="200552"/>
                  <a:pt x="245566" y="145107"/>
                </a:cubicBezTo>
                <a:cubicBezTo>
                  <a:pt x="245566" y="89663"/>
                  <a:pt x="200552" y="44648"/>
                  <a:pt x="145107" y="44648"/>
                </a:cubicBezTo>
                <a:cubicBezTo>
                  <a:pt x="89663" y="44648"/>
                  <a:pt x="44648" y="89663"/>
                  <a:pt x="44648" y="145107"/>
                </a:cubicBezTo>
                <a:cubicBezTo>
                  <a:pt x="44648" y="200552"/>
                  <a:pt x="89663" y="245566"/>
                  <a:pt x="145107" y="245566"/>
                </a:cubicBezTo>
                <a:close/>
              </a:path>
            </a:pathLst>
          </a:custGeom>
          <a:solidFill>
            <a:srgbClr val="2B7FFF"/>
          </a:solidFill>
          <a:ln/>
        </p:spPr>
      </p:sp>
      <p:sp>
        <p:nvSpPr>
          <p:cNvPr id="30" name="Text 28"/>
          <p:cNvSpPr/>
          <p:nvPr/>
        </p:nvSpPr>
        <p:spPr>
          <a:xfrm>
            <a:off x="1571625" y="4829175"/>
            <a:ext cx="10120313"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Lack of Simple Backup Solutions</a:t>
            </a:r>
            <a:endParaRPr lang="en-US" sz="1600" dirty="0"/>
          </a:p>
        </p:txBody>
      </p:sp>
      <p:sp>
        <p:nvSpPr>
          <p:cNvPr id="31" name="Text 29"/>
          <p:cNvSpPr/>
          <p:nvPr/>
        </p:nvSpPr>
        <p:spPr>
          <a:xfrm>
            <a:off x="1571625" y="5257800"/>
            <a:ext cx="10096500" cy="933450"/>
          </a:xfrm>
          <a:prstGeom prst="rect">
            <a:avLst/>
          </a:prstGeom>
          <a:noFill/>
          <a:ln/>
        </p:spPr>
        <p:txBody>
          <a:bodyPr wrap="square" lIns="0" tIns="0" rIns="0" bIns="0" rtlCol="0" anchor="ctr"/>
          <a:lstStyle/>
          <a:p>
            <a:pPr>
              <a:lnSpc>
                <a:spcPct val="140000"/>
              </a:lnSpc>
            </a:pPr>
            <a:r>
              <a:rPr lang="en-US" sz="1500" dirty="0">
                <a:solidFill>
                  <a:srgbClr val="314158"/>
                </a:solidFill>
                <a:latin typeface="Quattrocento Sans" pitchFamily="34" charset="0"/>
                <a:ea typeface="Quattrocento Sans" pitchFamily="34" charset="-122"/>
                <a:cs typeface="Quattrocento Sans" pitchFamily="34" charset="-120"/>
              </a:rPr>
              <a:t>Existing solutions are either too complex, require external services, or lack transparency. Developers need a straightforward approach that uses native OS capabilities without introducing additional dependencies or abstraction layers.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1019175"/>
            <a:ext cx="6667500" cy="38100"/>
          </a:xfrm>
          <a:custGeom>
            <a:avLst/>
            <a:gdLst/>
            <a:ahLst/>
            <a:cxnLst/>
            <a:rect l="l" t="t" r="r" b="b"/>
            <a:pathLst>
              <a:path w="6667500" h="38100">
                <a:moveTo>
                  <a:pt x="0" y="0"/>
                </a:moveTo>
                <a:lnTo>
                  <a:pt x="6667500" y="0"/>
                </a:lnTo>
                <a:lnTo>
                  <a:pt x="6667500" y="38100"/>
                </a:lnTo>
                <a:lnTo>
                  <a:pt x="0" y="38100"/>
                </a:lnTo>
                <a:lnTo>
                  <a:pt x="0" y="0"/>
                </a:lnTo>
                <a:close/>
              </a:path>
            </a:pathLst>
          </a:custGeom>
          <a:solidFill>
            <a:srgbClr val="2B7FFF"/>
          </a:solidFill>
          <a:ln/>
        </p:spPr>
      </p:sp>
      <p:sp>
        <p:nvSpPr>
          <p:cNvPr id="3" name="Text 1"/>
          <p:cNvSpPr/>
          <p:nvPr/>
        </p:nvSpPr>
        <p:spPr>
          <a:xfrm>
            <a:off x="381000" y="381000"/>
            <a:ext cx="6881813" cy="619125"/>
          </a:xfrm>
          <a:prstGeom prst="rect">
            <a:avLst/>
          </a:prstGeom>
          <a:noFill/>
          <a:ln/>
        </p:spPr>
        <p:txBody>
          <a:bodyPr wrap="square" lIns="0" tIns="0" rIns="0" bIns="142875" rtlCol="0" anchor="ctr"/>
          <a:lstStyle/>
          <a:p>
            <a:pPr>
              <a:lnSpc>
                <a:spcPct val="90000"/>
              </a:lnSpc>
            </a:pPr>
            <a:r>
              <a:rPr lang="en-US" sz="3375" b="1" dirty="0">
                <a:solidFill>
                  <a:srgbClr val="1D293D"/>
                </a:solidFill>
                <a:latin typeface="Quattrocento Sans" pitchFamily="34" charset="0"/>
                <a:ea typeface="Quattrocento Sans" pitchFamily="34" charset="-122"/>
                <a:cs typeface="Quattrocento Sans" pitchFamily="34" charset="-120"/>
              </a:rPr>
              <a:t>Problem Description and Motivation</a:t>
            </a:r>
            <a:endParaRPr lang="en-US" sz="1600" dirty="0"/>
          </a:p>
        </p:txBody>
      </p:sp>
      <p:sp>
        <p:nvSpPr>
          <p:cNvPr id="4" name="Shape 2"/>
          <p:cNvSpPr/>
          <p:nvPr/>
        </p:nvSpPr>
        <p:spPr>
          <a:xfrm>
            <a:off x="381000" y="1323975"/>
            <a:ext cx="5572125" cy="4286250"/>
          </a:xfrm>
          <a:custGeom>
            <a:avLst/>
            <a:gdLst/>
            <a:ahLst/>
            <a:cxnLst/>
            <a:rect l="l" t="t" r="r" b="b"/>
            <a:pathLst>
              <a:path w="5572125" h="4286250">
                <a:moveTo>
                  <a:pt x="95240" y="0"/>
                </a:moveTo>
                <a:lnTo>
                  <a:pt x="5476885" y="0"/>
                </a:lnTo>
                <a:cubicBezTo>
                  <a:pt x="5529484" y="0"/>
                  <a:pt x="5572125" y="42641"/>
                  <a:pt x="5572125" y="95240"/>
                </a:cubicBezTo>
                <a:lnTo>
                  <a:pt x="5572125" y="4191010"/>
                </a:lnTo>
                <a:cubicBezTo>
                  <a:pt x="5572125" y="4243609"/>
                  <a:pt x="5529484" y="4286250"/>
                  <a:pt x="5476885" y="4286250"/>
                </a:cubicBezTo>
                <a:lnTo>
                  <a:pt x="95240" y="4286250"/>
                </a:lnTo>
                <a:cubicBezTo>
                  <a:pt x="42641" y="4286250"/>
                  <a:pt x="0" y="4243609"/>
                  <a:pt x="0" y="4191010"/>
                </a:cubicBezTo>
                <a:lnTo>
                  <a:pt x="0" y="95240"/>
                </a:lnTo>
                <a:cubicBezTo>
                  <a:pt x="0" y="42641"/>
                  <a:pt x="42641" y="0"/>
                  <a:pt x="95240" y="0"/>
                </a:cubicBezTo>
                <a:close/>
              </a:path>
            </a:pathLst>
          </a:custGeom>
          <a:gradFill rotWithShape="1" flip="none">
            <a:gsLst>
              <a:gs pos="0">
                <a:srgbClr val="FEF2F2"/>
              </a:gs>
              <a:gs pos="100000">
                <a:srgbClr val="FFE2E2"/>
              </a:gs>
            </a:gsLst>
            <a:lin ang="2700000" scaled="1"/>
          </a:gradFill>
          <a:ln/>
        </p:spPr>
      </p:sp>
      <p:sp>
        <p:nvSpPr>
          <p:cNvPr id="5" name="Shape 3"/>
          <p:cNvSpPr/>
          <p:nvPr/>
        </p:nvSpPr>
        <p:spPr>
          <a:xfrm>
            <a:off x="675084" y="1585913"/>
            <a:ext cx="250031" cy="285750"/>
          </a:xfrm>
          <a:custGeom>
            <a:avLst/>
            <a:gdLst/>
            <a:ahLst/>
            <a:cxnLst/>
            <a:rect l="l" t="t" r="r" b="b"/>
            <a:pathLst>
              <a:path w="250031" h="285750">
                <a:moveTo>
                  <a:pt x="71438" y="22324"/>
                </a:moveTo>
                <a:cubicBezTo>
                  <a:pt x="71438" y="9990"/>
                  <a:pt x="81428" y="0"/>
                  <a:pt x="93762" y="0"/>
                </a:cubicBezTo>
                <a:cubicBezTo>
                  <a:pt x="106096" y="0"/>
                  <a:pt x="116086" y="9990"/>
                  <a:pt x="116086" y="22324"/>
                </a:cubicBezTo>
                <a:lnTo>
                  <a:pt x="116086" y="105035"/>
                </a:lnTo>
                <a:cubicBezTo>
                  <a:pt x="120830" y="100794"/>
                  <a:pt x="127081" y="98227"/>
                  <a:pt x="133945" y="98227"/>
                </a:cubicBezTo>
                <a:cubicBezTo>
                  <a:pt x="145442" y="98227"/>
                  <a:pt x="155265" y="105482"/>
                  <a:pt x="159060" y="115639"/>
                </a:cubicBezTo>
                <a:cubicBezTo>
                  <a:pt x="163971" y="110449"/>
                  <a:pt x="170892" y="107156"/>
                  <a:pt x="178594" y="107156"/>
                </a:cubicBezTo>
                <a:cubicBezTo>
                  <a:pt x="192714" y="107156"/>
                  <a:pt x="204267" y="118039"/>
                  <a:pt x="205327" y="131880"/>
                </a:cubicBezTo>
                <a:cubicBezTo>
                  <a:pt x="210071" y="127583"/>
                  <a:pt x="216377" y="125016"/>
                  <a:pt x="223242" y="125016"/>
                </a:cubicBezTo>
                <a:cubicBezTo>
                  <a:pt x="238032" y="125016"/>
                  <a:pt x="250031" y="137015"/>
                  <a:pt x="250031" y="151805"/>
                </a:cubicBezTo>
                <a:lnTo>
                  <a:pt x="250031" y="214313"/>
                </a:lnTo>
                <a:cubicBezTo>
                  <a:pt x="250031" y="253771"/>
                  <a:pt x="218052" y="285750"/>
                  <a:pt x="178594" y="285750"/>
                </a:cubicBezTo>
                <a:lnTo>
                  <a:pt x="130987" y="285750"/>
                </a:lnTo>
                <a:cubicBezTo>
                  <a:pt x="128197" y="285750"/>
                  <a:pt x="125462" y="285583"/>
                  <a:pt x="122783" y="285192"/>
                </a:cubicBezTo>
                <a:cubicBezTo>
                  <a:pt x="91920" y="282067"/>
                  <a:pt x="63512" y="266216"/>
                  <a:pt x="44648" y="241102"/>
                </a:cubicBezTo>
                <a:lnTo>
                  <a:pt x="4465" y="187523"/>
                </a:lnTo>
                <a:cubicBezTo>
                  <a:pt x="-2958" y="177645"/>
                  <a:pt x="-949" y="163692"/>
                  <a:pt x="8930" y="156270"/>
                </a:cubicBezTo>
                <a:cubicBezTo>
                  <a:pt x="18808" y="148847"/>
                  <a:pt x="32761" y="150856"/>
                  <a:pt x="40184" y="160734"/>
                </a:cubicBezTo>
                <a:lnTo>
                  <a:pt x="71438" y="202425"/>
                </a:lnTo>
                <a:lnTo>
                  <a:pt x="71438" y="22324"/>
                </a:lnTo>
                <a:close/>
                <a:moveTo>
                  <a:pt x="133945" y="169664"/>
                </a:moveTo>
                <a:cubicBezTo>
                  <a:pt x="133945" y="164753"/>
                  <a:pt x="129927" y="160734"/>
                  <a:pt x="125016" y="160734"/>
                </a:cubicBezTo>
                <a:cubicBezTo>
                  <a:pt x="120104" y="160734"/>
                  <a:pt x="116086" y="164753"/>
                  <a:pt x="116086" y="169664"/>
                </a:cubicBezTo>
                <a:lnTo>
                  <a:pt x="116086" y="223242"/>
                </a:lnTo>
                <a:cubicBezTo>
                  <a:pt x="116086" y="228154"/>
                  <a:pt x="120104" y="232172"/>
                  <a:pt x="125016" y="232172"/>
                </a:cubicBezTo>
                <a:cubicBezTo>
                  <a:pt x="129927" y="232172"/>
                  <a:pt x="133945" y="228154"/>
                  <a:pt x="133945" y="223242"/>
                </a:cubicBezTo>
                <a:lnTo>
                  <a:pt x="133945" y="169664"/>
                </a:lnTo>
                <a:close/>
                <a:moveTo>
                  <a:pt x="160734" y="160734"/>
                </a:moveTo>
                <a:cubicBezTo>
                  <a:pt x="155823" y="160734"/>
                  <a:pt x="151805" y="164753"/>
                  <a:pt x="151805" y="169664"/>
                </a:cubicBezTo>
                <a:lnTo>
                  <a:pt x="151805" y="223242"/>
                </a:lnTo>
                <a:cubicBezTo>
                  <a:pt x="151805" y="228154"/>
                  <a:pt x="155823" y="232172"/>
                  <a:pt x="160734" y="232172"/>
                </a:cubicBezTo>
                <a:cubicBezTo>
                  <a:pt x="165646" y="232172"/>
                  <a:pt x="169664" y="228154"/>
                  <a:pt x="169664" y="223242"/>
                </a:cubicBezTo>
                <a:lnTo>
                  <a:pt x="169664" y="169664"/>
                </a:lnTo>
                <a:cubicBezTo>
                  <a:pt x="169664" y="164753"/>
                  <a:pt x="165646" y="160734"/>
                  <a:pt x="160734" y="160734"/>
                </a:cubicBezTo>
                <a:close/>
                <a:moveTo>
                  <a:pt x="205383" y="169664"/>
                </a:moveTo>
                <a:cubicBezTo>
                  <a:pt x="205383" y="164753"/>
                  <a:pt x="201364" y="160734"/>
                  <a:pt x="196453" y="160734"/>
                </a:cubicBezTo>
                <a:cubicBezTo>
                  <a:pt x="191542" y="160734"/>
                  <a:pt x="187523" y="164753"/>
                  <a:pt x="187523" y="169664"/>
                </a:cubicBezTo>
                <a:lnTo>
                  <a:pt x="187523" y="223242"/>
                </a:lnTo>
                <a:cubicBezTo>
                  <a:pt x="187523" y="228154"/>
                  <a:pt x="191542" y="232172"/>
                  <a:pt x="196453" y="232172"/>
                </a:cubicBezTo>
                <a:cubicBezTo>
                  <a:pt x="201364" y="232172"/>
                  <a:pt x="205383" y="228154"/>
                  <a:pt x="205383" y="223242"/>
                </a:cubicBezTo>
                <a:lnTo>
                  <a:pt x="205383" y="169664"/>
                </a:lnTo>
                <a:close/>
              </a:path>
            </a:pathLst>
          </a:custGeom>
          <a:solidFill>
            <a:srgbClr val="FB2C36"/>
          </a:solidFill>
          <a:ln/>
        </p:spPr>
      </p:sp>
      <p:sp>
        <p:nvSpPr>
          <p:cNvPr id="6" name="Text 4"/>
          <p:cNvSpPr/>
          <p:nvPr/>
        </p:nvSpPr>
        <p:spPr>
          <a:xfrm>
            <a:off x="1119188" y="1562100"/>
            <a:ext cx="4491038"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Manual Reinstallation of Tools and Settings</a:t>
            </a:r>
            <a:endParaRPr lang="en-US" sz="1600" dirty="0"/>
          </a:p>
        </p:txBody>
      </p:sp>
      <p:sp>
        <p:nvSpPr>
          <p:cNvPr id="7" name="Shape 5"/>
          <p:cNvSpPr/>
          <p:nvPr/>
        </p:nvSpPr>
        <p:spPr>
          <a:xfrm>
            <a:off x="619125" y="2109788"/>
            <a:ext cx="285750" cy="285750"/>
          </a:xfrm>
          <a:custGeom>
            <a:avLst/>
            <a:gdLst/>
            <a:ahLst/>
            <a:cxnLst/>
            <a:rect l="l" t="t" r="r" b="b"/>
            <a:pathLst>
              <a:path w="285750" h="285750">
                <a:moveTo>
                  <a:pt x="142875" y="0"/>
                </a:moveTo>
                <a:lnTo>
                  <a:pt x="142875" y="0"/>
                </a:lnTo>
                <a:cubicBezTo>
                  <a:pt x="221730" y="0"/>
                  <a:pt x="285750" y="64020"/>
                  <a:pt x="285750" y="142875"/>
                </a:cubicBezTo>
                <a:lnTo>
                  <a:pt x="285750" y="142875"/>
                </a:lnTo>
                <a:cubicBezTo>
                  <a:pt x="285750" y="221730"/>
                  <a:pt x="221730" y="285750"/>
                  <a:pt x="142875" y="285750"/>
                </a:cubicBezTo>
                <a:lnTo>
                  <a:pt x="142875" y="285750"/>
                </a:lnTo>
                <a:cubicBezTo>
                  <a:pt x="64020" y="285750"/>
                  <a:pt x="0" y="221730"/>
                  <a:pt x="0" y="142875"/>
                </a:cubicBezTo>
                <a:lnTo>
                  <a:pt x="0" y="142875"/>
                </a:lnTo>
                <a:cubicBezTo>
                  <a:pt x="0" y="64020"/>
                  <a:pt x="64020" y="0"/>
                  <a:pt x="142875" y="0"/>
                </a:cubicBezTo>
                <a:close/>
              </a:path>
            </a:pathLst>
          </a:custGeom>
          <a:solidFill>
            <a:srgbClr val="FF6467"/>
          </a:solidFill>
          <a:ln/>
        </p:spPr>
      </p:sp>
      <p:sp>
        <p:nvSpPr>
          <p:cNvPr id="8" name="Text 6"/>
          <p:cNvSpPr/>
          <p:nvPr/>
        </p:nvSpPr>
        <p:spPr>
          <a:xfrm>
            <a:off x="577453" y="2109788"/>
            <a:ext cx="369094" cy="285750"/>
          </a:xfrm>
          <a:prstGeom prst="rect">
            <a:avLst/>
          </a:prstGeom>
          <a:noFill/>
          <a:ln/>
        </p:spPr>
        <p:txBody>
          <a:bodyPr wrap="square" lIns="0" tIns="0" rIns="0" bIns="0" rtlCol="0" anchor="ctr"/>
          <a:lstStyle/>
          <a:p>
            <a:pPr algn="ctr">
              <a:lnSpc>
                <a:spcPct val="120000"/>
              </a:lnSpc>
            </a:pPr>
            <a:r>
              <a:rPr lang="en-US" sz="1313"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9" name="Text 7"/>
          <p:cNvSpPr/>
          <p:nvPr/>
        </p:nvSpPr>
        <p:spPr>
          <a:xfrm>
            <a:off x="1000125" y="2085975"/>
            <a:ext cx="4810125" cy="57150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Remembering all installed packages across npm, pip, and Composer</a:t>
            </a:r>
            <a:endParaRPr lang="en-US" sz="1600" dirty="0"/>
          </a:p>
        </p:txBody>
      </p:sp>
      <p:sp>
        <p:nvSpPr>
          <p:cNvPr id="10" name="Shape 8"/>
          <p:cNvSpPr/>
          <p:nvPr/>
        </p:nvSpPr>
        <p:spPr>
          <a:xfrm>
            <a:off x="619125" y="2824163"/>
            <a:ext cx="285750" cy="285750"/>
          </a:xfrm>
          <a:custGeom>
            <a:avLst/>
            <a:gdLst/>
            <a:ahLst/>
            <a:cxnLst/>
            <a:rect l="l" t="t" r="r" b="b"/>
            <a:pathLst>
              <a:path w="285750" h="285750">
                <a:moveTo>
                  <a:pt x="142875" y="0"/>
                </a:moveTo>
                <a:lnTo>
                  <a:pt x="142875" y="0"/>
                </a:lnTo>
                <a:cubicBezTo>
                  <a:pt x="221730" y="0"/>
                  <a:pt x="285750" y="64020"/>
                  <a:pt x="285750" y="142875"/>
                </a:cubicBezTo>
                <a:lnTo>
                  <a:pt x="285750" y="142875"/>
                </a:lnTo>
                <a:cubicBezTo>
                  <a:pt x="285750" y="221730"/>
                  <a:pt x="221730" y="285750"/>
                  <a:pt x="142875" y="285750"/>
                </a:cubicBezTo>
                <a:lnTo>
                  <a:pt x="142875" y="285750"/>
                </a:lnTo>
                <a:cubicBezTo>
                  <a:pt x="64020" y="285750"/>
                  <a:pt x="0" y="221730"/>
                  <a:pt x="0" y="142875"/>
                </a:cubicBezTo>
                <a:lnTo>
                  <a:pt x="0" y="142875"/>
                </a:lnTo>
                <a:cubicBezTo>
                  <a:pt x="0" y="64020"/>
                  <a:pt x="64020" y="0"/>
                  <a:pt x="142875" y="0"/>
                </a:cubicBezTo>
                <a:close/>
              </a:path>
            </a:pathLst>
          </a:custGeom>
          <a:solidFill>
            <a:srgbClr val="FF6467"/>
          </a:solidFill>
          <a:ln/>
        </p:spPr>
      </p:sp>
      <p:sp>
        <p:nvSpPr>
          <p:cNvPr id="11" name="Text 9"/>
          <p:cNvSpPr/>
          <p:nvPr/>
        </p:nvSpPr>
        <p:spPr>
          <a:xfrm>
            <a:off x="577453" y="2824163"/>
            <a:ext cx="369094" cy="285750"/>
          </a:xfrm>
          <a:prstGeom prst="rect">
            <a:avLst/>
          </a:prstGeom>
          <a:noFill/>
          <a:ln/>
        </p:spPr>
        <p:txBody>
          <a:bodyPr wrap="square" lIns="0" tIns="0" rIns="0" bIns="0" rtlCol="0" anchor="ctr"/>
          <a:lstStyle/>
          <a:p>
            <a:pPr algn="ctr">
              <a:lnSpc>
                <a:spcPct val="120000"/>
              </a:lnSpc>
            </a:pPr>
            <a:r>
              <a:rPr lang="en-US" sz="1313"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2" name="Text 10"/>
          <p:cNvSpPr/>
          <p:nvPr/>
        </p:nvSpPr>
        <p:spPr>
          <a:xfrm>
            <a:off x="1000125" y="2800350"/>
            <a:ext cx="378142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Recreating VS Code settings and keybindings</a:t>
            </a:r>
            <a:endParaRPr lang="en-US" sz="1600" dirty="0"/>
          </a:p>
        </p:txBody>
      </p:sp>
      <p:sp>
        <p:nvSpPr>
          <p:cNvPr id="13" name="Shape 11"/>
          <p:cNvSpPr/>
          <p:nvPr/>
        </p:nvSpPr>
        <p:spPr>
          <a:xfrm>
            <a:off x="619125" y="3276600"/>
            <a:ext cx="285750" cy="285750"/>
          </a:xfrm>
          <a:custGeom>
            <a:avLst/>
            <a:gdLst/>
            <a:ahLst/>
            <a:cxnLst/>
            <a:rect l="l" t="t" r="r" b="b"/>
            <a:pathLst>
              <a:path w="285750" h="285750">
                <a:moveTo>
                  <a:pt x="142875" y="0"/>
                </a:moveTo>
                <a:lnTo>
                  <a:pt x="142875" y="0"/>
                </a:lnTo>
                <a:cubicBezTo>
                  <a:pt x="221730" y="0"/>
                  <a:pt x="285750" y="64020"/>
                  <a:pt x="285750" y="142875"/>
                </a:cubicBezTo>
                <a:lnTo>
                  <a:pt x="285750" y="142875"/>
                </a:lnTo>
                <a:cubicBezTo>
                  <a:pt x="285750" y="221730"/>
                  <a:pt x="221730" y="285750"/>
                  <a:pt x="142875" y="285750"/>
                </a:cubicBezTo>
                <a:lnTo>
                  <a:pt x="142875" y="285750"/>
                </a:lnTo>
                <a:cubicBezTo>
                  <a:pt x="64020" y="285750"/>
                  <a:pt x="0" y="221730"/>
                  <a:pt x="0" y="142875"/>
                </a:cubicBezTo>
                <a:lnTo>
                  <a:pt x="0" y="142875"/>
                </a:lnTo>
                <a:cubicBezTo>
                  <a:pt x="0" y="64020"/>
                  <a:pt x="64020" y="0"/>
                  <a:pt x="142875" y="0"/>
                </a:cubicBezTo>
                <a:close/>
              </a:path>
            </a:pathLst>
          </a:custGeom>
          <a:solidFill>
            <a:srgbClr val="FF6467"/>
          </a:solidFill>
          <a:ln/>
        </p:spPr>
      </p:sp>
      <p:sp>
        <p:nvSpPr>
          <p:cNvPr id="14" name="Text 12"/>
          <p:cNvSpPr/>
          <p:nvPr/>
        </p:nvSpPr>
        <p:spPr>
          <a:xfrm>
            <a:off x="577453" y="3276600"/>
            <a:ext cx="369094" cy="285750"/>
          </a:xfrm>
          <a:prstGeom prst="rect">
            <a:avLst/>
          </a:prstGeom>
          <a:noFill/>
          <a:ln/>
        </p:spPr>
        <p:txBody>
          <a:bodyPr wrap="square" lIns="0" tIns="0" rIns="0" bIns="0" rtlCol="0" anchor="ctr"/>
          <a:lstStyle/>
          <a:p>
            <a:pPr algn="ctr">
              <a:lnSpc>
                <a:spcPct val="120000"/>
              </a:lnSpc>
            </a:pPr>
            <a:r>
              <a:rPr lang="en-US" sz="1313"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15" name="Text 13"/>
          <p:cNvSpPr/>
          <p:nvPr/>
        </p:nvSpPr>
        <p:spPr>
          <a:xfrm>
            <a:off x="1000125" y="3252788"/>
            <a:ext cx="336232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Reinstalling extensions one by manually</a:t>
            </a:r>
            <a:endParaRPr lang="en-US" sz="1600" dirty="0"/>
          </a:p>
        </p:txBody>
      </p:sp>
      <p:sp>
        <p:nvSpPr>
          <p:cNvPr id="16" name="Shape 14"/>
          <p:cNvSpPr/>
          <p:nvPr/>
        </p:nvSpPr>
        <p:spPr>
          <a:xfrm>
            <a:off x="619125" y="3729038"/>
            <a:ext cx="285750" cy="285750"/>
          </a:xfrm>
          <a:custGeom>
            <a:avLst/>
            <a:gdLst/>
            <a:ahLst/>
            <a:cxnLst/>
            <a:rect l="l" t="t" r="r" b="b"/>
            <a:pathLst>
              <a:path w="285750" h="285750">
                <a:moveTo>
                  <a:pt x="142875" y="0"/>
                </a:moveTo>
                <a:lnTo>
                  <a:pt x="142875" y="0"/>
                </a:lnTo>
                <a:cubicBezTo>
                  <a:pt x="221730" y="0"/>
                  <a:pt x="285750" y="64020"/>
                  <a:pt x="285750" y="142875"/>
                </a:cubicBezTo>
                <a:lnTo>
                  <a:pt x="285750" y="142875"/>
                </a:lnTo>
                <a:cubicBezTo>
                  <a:pt x="285750" y="221730"/>
                  <a:pt x="221730" y="285750"/>
                  <a:pt x="142875" y="285750"/>
                </a:cubicBezTo>
                <a:lnTo>
                  <a:pt x="142875" y="285750"/>
                </a:lnTo>
                <a:cubicBezTo>
                  <a:pt x="64020" y="285750"/>
                  <a:pt x="0" y="221730"/>
                  <a:pt x="0" y="142875"/>
                </a:cubicBezTo>
                <a:lnTo>
                  <a:pt x="0" y="142875"/>
                </a:lnTo>
                <a:cubicBezTo>
                  <a:pt x="0" y="64020"/>
                  <a:pt x="64020" y="0"/>
                  <a:pt x="142875" y="0"/>
                </a:cubicBezTo>
                <a:close/>
              </a:path>
            </a:pathLst>
          </a:custGeom>
          <a:solidFill>
            <a:srgbClr val="FF6467"/>
          </a:solidFill>
          <a:ln/>
        </p:spPr>
      </p:sp>
      <p:sp>
        <p:nvSpPr>
          <p:cNvPr id="17" name="Text 15"/>
          <p:cNvSpPr/>
          <p:nvPr/>
        </p:nvSpPr>
        <p:spPr>
          <a:xfrm>
            <a:off x="577453" y="3729038"/>
            <a:ext cx="369094" cy="285750"/>
          </a:xfrm>
          <a:prstGeom prst="rect">
            <a:avLst/>
          </a:prstGeom>
          <a:noFill/>
          <a:ln/>
        </p:spPr>
        <p:txBody>
          <a:bodyPr wrap="square" lIns="0" tIns="0" rIns="0" bIns="0" rtlCol="0" anchor="ctr"/>
          <a:lstStyle/>
          <a:p>
            <a:pPr algn="ctr">
              <a:lnSpc>
                <a:spcPct val="120000"/>
              </a:lnSpc>
            </a:pPr>
            <a:r>
              <a:rPr lang="en-US" sz="1313"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18" name="Text 16"/>
          <p:cNvSpPr/>
          <p:nvPr/>
        </p:nvSpPr>
        <p:spPr>
          <a:xfrm>
            <a:off x="1000125" y="3705225"/>
            <a:ext cx="36576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Setting up environment variables and paths</a:t>
            </a:r>
            <a:endParaRPr lang="en-US" sz="1600" dirty="0"/>
          </a:p>
        </p:txBody>
      </p:sp>
      <p:sp>
        <p:nvSpPr>
          <p:cNvPr id="19" name="Shape 17"/>
          <p:cNvSpPr/>
          <p:nvPr/>
        </p:nvSpPr>
        <p:spPr>
          <a:xfrm>
            <a:off x="6238875" y="1323975"/>
            <a:ext cx="5572125" cy="2047875"/>
          </a:xfrm>
          <a:custGeom>
            <a:avLst/>
            <a:gdLst/>
            <a:ahLst/>
            <a:cxnLst/>
            <a:rect l="l" t="t" r="r" b="b"/>
            <a:pathLst>
              <a:path w="5572125" h="2047875">
                <a:moveTo>
                  <a:pt x="95247" y="0"/>
                </a:moveTo>
                <a:lnTo>
                  <a:pt x="5476878" y="0"/>
                </a:lnTo>
                <a:cubicBezTo>
                  <a:pt x="5529482" y="0"/>
                  <a:pt x="5572125" y="42643"/>
                  <a:pt x="5572125" y="95247"/>
                </a:cubicBezTo>
                <a:lnTo>
                  <a:pt x="5572125" y="1952628"/>
                </a:lnTo>
                <a:cubicBezTo>
                  <a:pt x="5572125" y="2005232"/>
                  <a:pt x="5529482" y="2047875"/>
                  <a:pt x="5476878" y="2047875"/>
                </a:cubicBezTo>
                <a:lnTo>
                  <a:pt x="95247" y="2047875"/>
                </a:lnTo>
                <a:cubicBezTo>
                  <a:pt x="42643" y="2047875"/>
                  <a:pt x="0" y="2005232"/>
                  <a:pt x="0" y="1952628"/>
                </a:cubicBezTo>
                <a:lnTo>
                  <a:pt x="0" y="95247"/>
                </a:lnTo>
                <a:cubicBezTo>
                  <a:pt x="0" y="42679"/>
                  <a:pt x="42679" y="0"/>
                  <a:pt x="95247" y="0"/>
                </a:cubicBezTo>
                <a:close/>
              </a:path>
            </a:pathLst>
          </a:custGeom>
          <a:gradFill rotWithShape="1" flip="none">
            <a:gsLst>
              <a:gs pos="0">
                <a:srgbClr val="FFF7ED"/>
              </a:gs>
              <a:gs pos="100000">
                <a:srgbClr val="FFEDD4"/>
              </a:gs>
            </a:gsLst>
            <a:lin ang="2700000" scaled="1"/>
          </a:gradFill>
          <a:ln/>
        </p:spPr>
      </p:sp>
      <p:sp>
        <p:nvSpPr>
          <p:cNvPr id="20" name="Shape 18"/>
          <p:cNvSpPr/>
          <p:nvPr/>
        </p:nvSpPr>
        <p:spPr>
          <a:xfrm>
            <a:off x="6515100" y="1585913"/>
            <a:ext cx="285750" cy="285750"/>
          </a:xfrm>
          <a:custGeom>
            <a:avLst/>
            <a:gdLst/>
            <a:ahLst/>
            <a:cxnLst/>
            <a:rect l="l" t="t" r="r" b="b"/>
            <a:pathLst>
              <a:path w="285750" h="285750">
                <a:moveTo>
                  <a:pt x="142875" y="0"/>
                </a:moveTo>
                <a:cubicBezTo>
                  <a:pt x="151079" y="0"/>
                  <a:pt x="158614" y="4521"/>
                  <a:pt x="162520" y="11720"/>
                </a:cubicBezTo>
                <a:lnTo>
                  <a:pt x="283071" y="234962"/>
                </a:lnTo>
                <a:cubicBezTo>
                  <a:pt x="286810" y="241883"/>
                  <a:pt x="286643" y="250254"/>
                  <a:pt x="282625" y="257008"/>
                </a:cubicBezTo>
                <a:cubicBezTo>
                  <a:pt x="278606" y="263761"/>
                  <a:pt x="271295" y="267891"/>
                  <a:pt x="263426" y="267891"/>
                </a:cubicBezTo>
                <a:lnTo>
                  <a:pt x="22324" y="267891"/>
                </a:lnTo>
                <a:cubicBezTo>
                  <a:pt x="14455" y="267891"/>
                  <a:pt x="7200" y="263761"/>
                  <a:pt x="3125" y="257008"/>
                </a:cubicBezTo>
                <a:cubicBezTo>
                  <a:pt x="-949" y="250254"/>
                  <a:pt x="-1060" y="241883"/>
                  <a:pt x="2679" y="234962"/>
                </a:cubicBezTo>
                <a:lnTo>
                  <a:pt x="123230" y="11720"/>
                </a:lnTo>
                <a:cubicBezTo>
                  <a:pt x="127136" y="4521"/>
                  <a:pt x="134671" y="0"/>
                  <a:pt x="142875" y="0"/>
                </a:cubicBezTo>
                <a:close/>
                <a:moveTo>
                  <a:pt x="142875" y="93762"/>
                </a:moveTo>
                <a:cubicBezTo>
                  <a:pt x="135452" y="93762"/>
                  <a:pt x="129480" y="99733"/>
                  <a:pt x="129480" y="107156"/>
                </a:cubicBezTo>
                <a:lnTo>
                  <a:pt x="129480" y="169664"/>
                </a:lnTo>
                <a:cubicBezTo>
                  <a:pt x="129480" y="177087"/>
                  <a:pt x="135452" y="183059"/>
                  <a:pt x="142875" y="183059"/>
                </a:cubicBezTo>
                <a:cubicBezTo>
                  <a:pt x="150298" y="183059"/>
                  <a:pt x="156270" y="177087"/>
                  <a:pt x="156270" y="169664"/>
                </a:cubicBezTo>
                <a:lnTo>
                  <a:pt x="156270" y="107156"/>
                </a:lnTo>
                <a:cubicBezTo>
                  <a:pt x="156270" y="99733"/>
                  <a:pt x="150298" y="93762"/>
                  <a:pt x="142875" y="93762"/>
                </a:cubicBezTo>
                <a:close/>
                <a:moveTo>
                  <a:pt x="157776" y="214313"/>
                </a:moveTo>
                <a:cubicBezTo>
                  <a:pt x="158115" y="208781"/>
                  <a:pt x="155357" y="203519"/>
                  <a:pt x="150615" y="200651"/>
                </a:cubicBezTo>
                <a:cubicBezTo>
                  <a:pt x="145874" y="197783"/>
                  <a:pt x="139932" y="197783"/>
                  <a:pt x="135190" y="200651"/>
                </a:cubicBezTo>
                <a:cubicBezTo>
                  <a:pt x="130449" y="203519"/>
                  <a:pt x="127690" y="208781"/>
                  <a:pt x="128029" y="214312"/>
                </a:cubicBezTo>
                <a:cubicBezTo>
                  <a:pt x="127690" y="219844"/>
                  <a:pt x="130449" y="225106"/>
                  <a:pt x="135190" y="227974"/>
                </a:cubicBezTo>
                <a:cubicBezTo>
                  <a:pt x="139932" y="230842"/>
                  <a:pt x="145874" y="230842"/>
                  <a:pt x="150615" y="227974"/>
                </a:cubicBezTo>
                <a:cubicBezTo>
                  <a:pt x="155357" y="225106"/>
                  <a:pt x="158115" y="219844"/>
                  <a:pt x="157776" y="214313"/>
                </a:cubicBezTo>
                <a:close/>
              </a:path>
            </a:pathLst>
          </a:custGeom>
          <a:solidFill>
            <a:srgbClr val="FF6900"/>
          </a:solidFill>
          <a:ln/>
        </p:spPr>
      </p:sp>
      <p:sp>
        <p:nvSpPr>
          <p:cNvPr id="21" name="Text 19"/>
          <p:cNvSpPr/>
          <p:nvPr/>
        </p:nvSpPr>
        <p:spPr>
          <a:xfrm>
            <a:off x="6977063" y="1562100"/>
            <a:ext cx="4491038"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Errors and Inconsistencies Across Systems</a:t>
            </a:r>
            <a:endParaRPr lang="en-US" sz="1600" dirty="0"/>
          </a:p>
        </p:txBody>
      </p:sp>
      <p:sp>
        <p:nvSpPr>
          <p:cNvPr id="22" name="Shape 20"/>
          <p:cNvSpPr/>
          <p:nvPr/>
        </p:nvSpPr>
        <p:spPr>
          <a:xfrm>
            <a:off x="6500813" y="21336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FF8904"/>
          </a:solidFill>
          <a:ln/>
        </p:spPr>
      </p:sp>
      <p:sp>
        <p:nvSpPr>
          <p:cNvPr id="23" name="Text 21"/>
          <p:cNvSpPr/>
          <p:nvPr/>
        </p:nvSpPr>
        <p:spPr>
          <a:xfrm>
            <a:off x="6810375" y="2085975"/>
            <a:ext cx="387667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Different versions causing compatibility issues</a:t>
            </a:r>
            <a:endParaRPr lang="en-US" sz="1600" dirty="0"/>
          </a:p>
        </p:txBody>
      </p:sp>
      <p:sp>
        <p:nvSpPr>
          <p:cNvPr id="24" name="Shape 22"/>
          <p:cNvSpPr/>
          <p:nvPr/>
        </p:nvSpPr>
        <p:spPr>
          <a:xfrm>
            <a:off x="6500813" y="25146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FF8904"/>
          </a:solidFill>
          <a:ln/>
        </p:spPr>
      </p:sp>
      <p:sp>
        <p:nvSpPr>
          <p:cNvPr id="25" name="Text 23"/>
          <p:cNvSpPr/>
          <p:nvPr/>
        </p:nvSpPr>
        <p:spPr>
          <a:xfrm>
            <a:off x="6810375" y="2466975"/>
            <a:ext cx="396240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Missing dependencies overlooked during setup</a:t>
            </a:r>
            <a:endParaRPr lang="en-US" sz="1600" dirty="0"/>
          </a:p>
        </p:txBody>
      </p:sp>
      <p:sp>
        <p:nvSpPr>
          <p:cNvPr id="26" name="Shape 24"/>
          <p:cNvSpPr/>
          <p:nvPr/>
        </p:nvSpPr>
        <p:spPr>
          <a:xfrm>
            <a:off x="6500813" y="28956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FF8904"/>
          </a:solidFill>
          <a:ln/>
        </p:spPr>
      </p:sp>
      <p:sp>
        <p:nvSpPr>
          <p:cNvPr id="27" name="Text 25"/>
          <p:cNvSpPr/>
          <p:nvPr/>
        </p:nvSpPr>
        <p:spPr>
          <a:xfrm>
            <a:off x="6810375" y="2847975"/>
            <a:ext cx="406717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Configuration differences between OS platforms</a:t>
            </a:r>
            <a:endParaRPr lang="en-US" sz="1600" dirty="0"/>
          </a:p>
        </p:txBody>
      </p:sp>
      <p:sp>
        <p:nvSpPr>
          <p:cNvPr id="28" name="Shape 26"/>
          <p:cNvSpPr/>
          <p:nvPr/>
        </p:nvSpPr>
        <p:spPr>
          <a:xfrm>
            <a:off x="6238875" y="3562350"/>
            <a:ext cx="5572125" cy="2047875"/>
          </a:xfrm>
          <a:custGeom>
            <a:avLst/>
            <a:gdLst/>
            <a:ahLst/>
            <a:cxnLst/>
            <a:rect l="l" t="t" r="r" b="b"/>
            <a:pathLst>
              <a:path w="5572125" h="2047875">
                <a:moveTo>
                  <a:pt x="95247" y="0"/>
                </a:moveTo>
                <a:lnTo>
                  <a:pt x="5476878" y="0"/>
                </a:lnTo>
                <a:cubicBezTo>
                  <a:pt x="5529482" y="0"/>
                  <a:pt x="5572125" y="42643"/>
                  <a:pt x="5572125" y="95247"/>
                </a:cubicBezTo>
                <a:lnTo>
                  <a:pt x="5572125" y="1952628"/>
                </a:lnTo>
                <a:cubicBezTo>
                  <a:pt x="5572125" y="2005232"/>
                  <a:pt x="5529482" y="2047875"/>
                  <a:pt x="5476878" y="2047875"/>
                </a:cubicBezTo>
                <a:lnTo>
                  <a:pt x="95247" y="2047875"/>
                </a:lnTo>
                <a:cubicBezTo>
                  <a:pt x="42643" y="2047875"/>
                  <a:pt x="0" y="2005232"/>
                  <a:pt x="0" y="1952628"/>
                </a:cubicBezTo>
                <a:lnTo>
                  <a:pt x="0" y="95247"/>
                </a:lnTo>
                <a:cubicBezTo>
                  <a:pt x="0" y="42679"/>
                  <a:pt x="42679" y="0"/>
                  <a:pt x="95247" y="0"/>
                </a:cubicBezTo>
                <a:close/>
              </a:path>
            </a:pathLst>
          </a:custGeom>
          <a:gradFill rotWithShape="1" flip="none">
            <a:gsLst>
              <a:gs pos="0">
                <a:srgbClr val="F0FDF4"/>
              </a:gs>
              <a:gs pos="100000">
                <a:srgbClr val="DCFCE7"/>
              </a:gs>
            </a:gsLst>
            <a:lin ang="2700000" scaled="1"/>
          </a:gradFill>
          <a:ln/>
        </p:spPr>
      </p:sp>
      <p:sp>
        <p:nvSpPr>
          <p:cNvPr id="29" name="Shape 27"/>
          <p:cNvSpPr/>
          <p:nvPr/>
        </p:nvSpPr>
        <p:spPr>
          <a:xfrm>
            <a:off x="6550819" y="3824288"/>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00C950"/>
          </a:solidFill>
          <a:ln/>
        </p:spPr>
      </p:sp>
      <p:sp>
        <p:nvSpPr>
          <p:cNvPr id="30" name="Text 28"/>
          <p:cNvSpPr/>
          <p:nvPr/>
        </p:nvSpPr>
        <p:spPr>
          <a:xfrm>
            <a:off x="6977063" y="3800475"/>
            <a:ext cx="3986213" cy="333375"/>
          </a:xfrm>
          <a:prstGeom prst="rect">
            <a:avLst/>
          </a:prstGeom>
          <a:noFill/>
          <a:ln/>
        </p:spPr>
        <p:txBody>
          <a:bodyPr wrap="square" lIns="0" tIns="0" rIns="0" bIns="0" rtlCol="0" anchor="ctr"/>
          <a:lstStyle/>
          <a:p>
            <a:pPr>
              <a:lnSpc>
                <a:spcPct val="120000"/>
              </a:lnSpc>
            </a:pPr>
            <a:r>
              <a:rPr lang="en-US" sz="1875" b="1" dirty="0">
                <a:solidFill>
                  <a:srgbClr val="1D293D"/>
                </a:solidFill>
                <a:latin typeface="Quattrocento Sans" pitchFamily="34" charset="0"/>
                <a:ea typeface="Quattrocento Sans" pitchFamily="34" charset="-122"/>
                <a:cs typeface="Quattrocento Sans" pitchFamily="34" charset="-120"/>
              </a:rPr>
              <a:t>Motivation to Use Native OS Scripting</a:t>
            </a:r>
            <a:endParaRPr lang="en-US" sz="1600" dirty="0"/>
          </a:p>
        </p:txBody>
      </p:sp>
      <p:sp>
        <p:nvSpPr>
          <p:cNvPr id="31" name="Shape 29"/>
          <p:cNvSpPr/>
          <p:nvPr/>
        </p:nvSpPr>
        <p:spPr>
          <a:xfrm>
            <a:off x="6500813" y="43719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5DF72"/>
          </a:solidFill>
          <a:ln/>
        </p:spPr>
      </p:sp>
      <p:sp>
        <p:nvSpPr>
          <p:cNvPr id="32" name="Text 30"/>
          <p:cNvSpPr/>
          <p:nvPr/>
        </p:nvSpPr>
        <p:spPr>
          <a:xfrm>
            <a:off x="6810375" y="4324350"/>
            <a:ext cx="3638550"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No additional software installation required</a:t>
            </a:r>
            <a:endParaRPr lang="en-US" sz="1600" dirty="0"/>
          </a:p>
        </p:txBody>
      </p:sp>
      <p:sp>
        <p:nvSpPr>
          <p:cNvPr id="33" name="Shape 31"/>
          <p:cNvSpPr/>
          <p:nvPr/>
        </p:nvSpPr>
        <p:spPr>
          <a:xfrm>
            <a:off x="6500813" y="47529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5DF72"/>
          </a:solidFill>
          <a:ln/>
        </p:spPr>
      </p:sp>
      <p:sp>
        <p:nvSpPr>
          <p:cNvPr id="34" name="Text 32"/>
          <p:cNvSpPr/>
          <p:nvPr/>
        </p:nvSpPr>
        <p:spPr>
          <a:xfrm>
            <a:off x="6810375" y="4705350"/>
            <a:ext cx="364807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Transparent and easy to understand scripts</a:t>
            </a:r>
            <a:endParaRPr lang="en-US" sz="1600" dirty="0"/>
          </a:p>
        </p:txBody>
      </p:sp>
      <p:sp>
        <p:nvSpPr>
          <p:cNvPr id="35" name="Shape 33"/>
          <p:cNvSpPr/>
          <p:nvPr/>
        </p:nvSpPr>
        <p:spPr>
          <a:xfrm>
            <a:off x="6500813" y="51339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5DF72"/>
          </a:solidFill>
          <a:ln/>
        </p:spPr>
      </p:sp>
      <p:sp>
        <p:nvSpPr>
          <p:cNvPr id="36" name="Text 34"/>
          <p:cNvSpPr/>
          <p:nvPr/>
        </p:nvSpPr>
        <p:spPr>
          <a:xfrm>
            <a:off x="6810375" y="5086350"/>
            <a:ext cx="3324225" cy="285750"/>
          </a:xfrm>
          <a:prstGeom prst="rect">
            <a:avLst/>
          </a:prstGeom>
          <a:noFill/>
          <a:ln/>
        </p:spPr>
        <p:txBody>
          <a:bodyPr wrap="square" lIns="0" tIns="0" rIns="0" bIns="0" rtlCol="0" anchor="ctr"/>
          <a:lstStyle/>
          <a:p>
            <a:pPr>
              <a:lnSpc>
                <a:spcPct val="130000"/>
              </a:lnSpc>
            </a:pPr>
            <a:r>
              <a:rPr lang="en-US" sz="1500" dirty="0">
                <a:solidFill>
                  <a:srgbClr val="314158"/>
                </a:solidFill>
                <a:latin typeface="Quattrocento Sans" pitchFamily="34" charset="0"/>
                <a:ea typeface="Quattrocento Sans" pitchFamily="34" charset="-122"/>
                <a:cs typeface="Quattrocento Sans" pitchFamily="34" charset="-120"/>
              </a:rPr>
              <a:t>Lightweight solution using built-in tools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1019175"/>
            <a:ext cx="1971675" cy="38100"/>
          </a:xfrm>
          <a:custGeom>
            <a:avLst/>
            <a:gdLst/>
            <a:ahLst/>
            <a:cxnLst/>
            <a:rect l="l" t="t" r="r" b="b"/>
            <a:pathLst>
              <a:path w="1971675" h="38100">
                <a:moveTo>
                  <a:pt x="0" y="0"/>
                </a:moveTo>
                <a:lnTo>
                  <a:pt x="1971675" y="0"/>
                </a:lnTo>
                <a:lnTo>
                  <a:pt x="1971675" y="38100"/>
                </a:lnTo>
                <a:lnTo>
                  <a:pt x="0" y="38100"/>
                </a:lnTo>
                <a:lnTo>
                  <a:pt x="0" y="0"/>
                </a:lnTo>
                <a:close/>
              </a:path>
            </a:pathLst>
          </a:custGeom>
          <a:solidFill>
            <a:srgbClr val="2B7FFF"/>
          </a:solidFill>
          <a:ln/>
        </p:spPr>
      </p:sp>
      <p:sp>
        <p:nvSpPr>
          <p:cNvPr id="3" name="Text 1"/>
          <p:cNvSpPr/>
          <p:nvPr/>
        </p:nvSpPr>
        <p:spPr>
          <a:xfrm>
            <a:off x="381000" y="381000"/>
            <a:ext cx="2185988" cy="619125"/>
          </a:xfrm>
          <a:prstGeom prst="rect">
            <a:avLst/>
          </a:prstGeom>
          <a:noFill/>
          <a:ln/>
        </p:spPr>
        <p:txBody>
          <a:bodyPr wrap="square" lIns="0" tIns="0" rIns="0" bIns="142875" rtlCol="0" anchor="ctr"/>
          <a:lstStyle/>
          <a:p>
            <a:pPr>
              <a:lnSpc>
                <a:spcPct val="90000"/>
              </a:lnSpc>
            </a:pPr>
            <a:r>
              <a:rPr lang="en-US" sz="3375" b="1" dirty="0">
                <a:solidFill>
                  <a:srgbClr val="1D293D"/>
                </a:solidFill>
                <a:latin typeface="Quattrocento Sans" pitchFamily="34" charset="0"/>
                <a:ea typeface="Quattrocento Sans" pitchFamily="34" charset="-122"/>
                <a:cs typeface="Quattrocento Sans" pitchFamily="34" charset="-120"/>
              </a:rPr>
              <a:t>Objectives</a:t>
            </a:r>
            <a:endParaRPr lang="en-US" sz="1600" dirty="0"/>
          </a:p>
        </p:txBody>
      </p:sp>
      <p:sp>
        <p:nvSpPr>
          <p:cNvPr id="4" name="Shape 2"/>
          <p:cNvSpPr/>
          <p:nvPr/>
        </p:nvSpPr>
        <p:spPr>
          <a:xfrm>
            <a:off x="381000" y="1323975"/>
            <a:ext cx="5572125" cy="2362200"/>
          </a:xfrm>
          <a:custGeom>
            <a:avLst/>
            <a:gdLst/>
            <a:ahLst/>
            <a:cxnLst/>
            <a:rect l="l" t="t" r="r" b="b"/>
            <a:pathLst>
              <a:path w="5572125" h="2362200">
                <a:moveTo>
                  <a:pt x="95244" y="0"/>
                </a:moveTo>
                <a:lnTo>
                  <a:pt x="5476881" y="0"/>
                </a:lnTo>
                <a:cubicBezTo>
                  <a:pt x="5529483" y="0"/>
                  <a:pt x="5572125" y="42642"/>
                  <a:pt x="5572125" y="95244"/>
                </a:cubicBezTo>
                <a:lnTo>
                  <a:pt x="5572125" y="2266956"/>
                </a:lnTo>
                <a:cubicBezTo>
                  <a:pt x="5572125" y="2319558"/>
                  <a:pt x="5529483" y="2362200"/>
                  <a:pt x="5476881" y="2362200"/>
                </a:cubicBezTo>
                <a:lnTo>
                  <a:pt x="95244" y="2362200"/>
                </a:lnTo>
                <a:cubicBezTo>
                  <a:pt x="42642" y="2362200"/>
                  <a:pt x="0" y="2319558"/>
                  <a:pt x="0" y="2266956"/>
                </a:cubicBezTo>
                <a:lnTo>
                  <a:pt x="0" y="95244"/>
                </a:lnTo>
                <a:cubicBezTo>
                  <a:pt x="0" y="42677"/>
                  <a:pt x="42677" y="0"/>
                  <a:pt x="95244" y="0"/>
                </a:cubicBezTo>
                <a:close/>
              </a:path>
            </a:pathLst>
          </a:custGeom>
          <a:gradFill rotWithShape="1" flip="none">
            <a:gsLst>
              <a:gs pos="0">
                <a:srgbClr val="2B7FFF"/>
              </a:gs>
              <a:gs pos="100000">
                <a:srgbClr val="155DFC"/>
              </a:gs>
            </a:gsLst>
            <a:lin ang="2700000" scaled="1"/>
          </a:gradFill>
          <a:ln/>
        </p:spPr>
      </p:sp>
      <p:sp>
        <p:nvSpPr>
          <p:cNvPr id="5" name="Text 3"/>
          <p:cNvSpPr/>
          <p:nvPr/>
        </p:nvSpPr>
        <p:spPr>
          <a:xfrm>
            <a:off x="1524000" y="1752600"/>
            <a:ext cx="4048125" cy="381000"/>
          </a:xfrm>
          <a:prstGeom prst="rect">
            <a:avLst/>
          </a:prstGeom>
          <a:noFill/>
          <a:ln/>
        </p:spPr>
        <p:txBody>
          <a:bodyPr wrap="square" lIns="0" tIns="0" rIns="0" bIns="0" rtlCol="0" anchor="ctr"/>
          <a:lstStyle/>
          <a:p>
            <a:pPr>
              <a:lnSpc>
                <a:spcPct val="110000"/>
              </a:lnSpc>
            </a:pPr>
            <a:r>
              <a:rPr lang="en-US" sz="2250" b="1" dirty="0">
                <a:solidFill>
                  <a:srgbClr val="FFFFFF"/>
                </a:solidFill>
                <a:latin typeface="Quattrocento Sans" pitchFamily="34" charset="0"/>
                <a:ea typeface="Quattrocento Sans" pitchFamily="34" charset="-122"/>
                <a:cs typeface="Quattrocento Sans" pitchFamily="34" charset="-120"/>
              </a:rPr>
              <a:t>Backup Developer Environment</a:t>
            </a:r>
            <a:endParaRPr lang="en-US" sz="1600" dirty="0"/>
          </a:p>
        </p:txBody>
      </p:sp>
      <p:sp>
        <p:nvSpPr>
          <p:cNvPr id="6" name="Text 4"/>
          <p:cNvSpPr/>
          <p:nvPr/>
        </p:nvSpPr>
        <p:spPr>
          <a:xfrm>
            <a:off x="666750" y="2466975"/>
            <a:ext cx="5095875" cy="933450"/>
          </a:xfrm>
          <a:prstGeom prst="rect">
            <a:avLst/>
          </a:prstGeom>
          <a:noFill/>
          <a:ln/>
        </p:spPr>
        <p:txBody>
          <a:bodyPr wrap="square" lIns="0" tIns="0" rIns="0" bIns="0" rtlCol="0" anchor="ctr"/>
          <a:lstStyle/>
          <a:p>
            <a:pPr>
              <a:lnSpc>
                <a:spcPct val="140000"/>
              </a:lnSpc>
            </a:pPr>
            <a:r>
              <a:rPr lang="en-US" sz="1500" dirty="0">
                <a:solidFill>
                  <a:srgbClr val="FFFFFF">
                    <a:alpha val="95000"/>
                  </a:srgbClr>
                </a:solidFill>
                <a:latin typeface="Quattrocento Sans" pitchFamily="34" charset="0"/>
                <a:ea typeface="Quattrocento Sans" pitchFamily="34" charset="-122"/>
                <a:cs typeface="Quattrocento Sans" pitchFamily="34" charset="-120"/>
              </a:rPr>
              <a:t>Create comprehensive backups of all development tools, configurations, and installed packages in a structured format that can be easily stored and versioned.</a:t>
            </a:r>
            <a:endParaRPr lang="en-US" sz="1600" dirty="0"/>
          </a:p>
        </p:txBody>
      </p:sp>
      <p:sp>
        <p:nvSpPr>
          <p:cNvPr id="7" name="Shape 5"/>
          <p:cNvSpPr/>
          <p:nvPr/>
        </p:nvSpPr>
        <p:spPr>
          <a:xfrm>
            <a:off x="6238875" y="1323975"/>
            <a:ext cx="5572125" cy="2362200"/>
          </a:xfrm>
          <a:custGeom>
            <a:avLst/>
            <a:gdLst/>
            <a:ahLst/>
            <a:cxnLst/>
            <a:rect l="l" t="t" r="r" b="b"/>
            <a:pathLst>
              <a:path w="5572125" h="2362200">
                <a:moveTo>
                  <a:pt x="95244" y="0"/>
                </a:moveTo>
                <a:lnTo>
                  <a:pt x="5476881" y="0"/>
                </a:lnTo>
                <a:cubicBezTo>
                  <a:pt x="5529483" y="0"/>
                  <a:pt x="5572125" y="42642"/>
                  <a:pt x="5572125" y="95244"/>
                </a:cubicBezTo>
                <a:lnTo>
                  <a:pt x="5572125" y="2266956"/>
                </a:lnTo>
                <a:cubicBezTo>
                  <a:pt x="5572125" y="2319558"/>
                  <a:pt x="5529483" y="2362200"/>
                  <a:pt x="5476881" y="2362200"/>
                </a:cubicBezTo>
                <a:lnTo>
                  <a:pt x="95244" y="2362200"/>
                </a:lnTo>
                <a:cubicBezTo>
                  <a:pt x="42642" y="2362200"/>
                  <a:pt x="0" y="2319558"/>
                  <a:pt x="0" y="2266956"/>
                </a:cubicBezTo>
                <a:lnTo>
                  <a:pt x="0" y="95244"/>
                </a:lnTo>
                <a:cubicBezTo>
                  <a:pt x="0" y="42677"/>
                  <a:pt x="42677" y="0"/>
                  <a:pt x="95244" y="0"/>
                </a:cubicBezTo>
                <a:close/>
              </a:path>
            </a:pathLst>
          </a:custGeom>
          <a:gradFill rotWithShape="1" flip="none">
            <a:gsLst>
              <a:gs pos="0">
                <a:srgbClr val="00C950"/>
              </a:gs>
              <a:gs pos="100000">
                <a:srgbClr val="00A63E"/>
              </a:gs>
            </a:gsLst>
            <a:lin ang="2700000" scaled="1"/>
          </a:gradFill>
          <a:ln/>
        </p:spPr>
      </p:sp>
      <p:sp>
        <p:nvSpPr>
          <p:cNvPr id="8" name="Shape 6"/>
          <p:cNvSpPr/>
          <p:nvPr/>
        </p:nvSpPr>
        <p:spPr>
          <a:xfrm>
            <a:off x="6524625" y="1609725"/>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FFFFFF"/>
          </a:solidFill>
          <a:ln/>
        </p:spPr>
      </p:sp>
      <p:sp>
        <p:nvSpPr>
          <p:cNvPr id="9" name="Shape 7"/>
          <p:cNvSpPr/>
          <p:nvPr/>
        </p:nvSpPr>
        <p:spPr>
          <a:xfrm>
            <a:off x="6717506" y="1800225"/>
            <a:ext cx="285750" cy="285750"/>
          </a:xfrm>
          <a:custGeom>
            <a:avLst/>
            <a:gdLst/>
            <a:ahLst/>
            <a:cxnLst/>
            <a:rect l="l" t="t" r="r" b="b"/>
            <a:pathLst>
              <a:path w="285750" h="285750">
                <a:moveTo>
                  <a:pt x="142875" y="35719"/>
                </a:moveTo>
                <a:cubicBezTo>
                  <a:pt x="111175" y="35719"/>
                  <a:pt x="82655" y="49504"/>
                  <a:pt x="63010" y="71438"/>
                </a:cubicBezTo>
                <a:lnTo>
                  <a:pt x="89297" y="71438"/>
                </a:lnTo>
                <a:cubicBezTo>
                  <a:pt x="99175" y="71438"/>
                  <a:pt x="107156" y="79418"/>
                  <a:pt x="107156" y="89297"/>
                </a:cubicBezTo>
                <a:cubicBezTo>
                  <a:pt x="107156" y="99175"/>
                  <a:pt x="99175" y="107156"/>
                  <a:pt x="89297" y="107156"/>
                </a:cubicBezTo>
                <a:lnTo>
                  <a:pt x="17859" y="107156"/>
                </a:lnTo>
                <a:cubicBezTo>
                  <a:pt x="7981" y="107156"/>
                  <a:pt x="0" y="99175"/>
                  <a:pt x="0" y="89297"/>
                </a:cubicBezTo>
                <a:lnTo>
                  <a:pt x="0" y="17859"/>
                </a:lnTo>
                <a:cubicBezTo>
                  <a:pt x="0" y="7981"/>
                  <a:pt x="7981" y="0"/>
                  <a:pt x="17859" y="0"/>
                </a:cubicBezTo>
                <a:cubicBezTo>
                  <a:pt x="27738" y="0"/>
                  <a:pt x="35719" y="7981"/>
                  <a:pt x="35719" y="17859"/>
                </a:cubicBezTo>
                <a:lnTo>
                  <a:pt x="35719" y="48388"/>
                </a:lnTo>
                <a:cubicBezTo>
                  <a:pt x="61894" y="18752"/>
                  <a:pt x="100180" y="0"/>
                  <a:pt x="142875" y="0"/>
                </a:cubicBezTo>
                <a:cubicBezTo>
                  <a:pt x="221791" y="0"/>
                  <a:pt x="285750" y="63959"/>
                  <a:pt x="285750" y="142875"/>
                </a:cubicBezTo>
                <a:cubicBezTo>
                  <a:pt x="285750" y="221791"/>
                  <a:pt x="221791" y="285750"/>
                  <a:pt x="142875" y="285750"/>
                </a:cubicBezTo>
                <a:cubicBezTo>
                  <a:pt x="94320" y="285750"/>
                  <a:pt x="51402" y="261528"/>
                  <a:pt x="25617" y="224526"/>
                </a:cubicBezTo>
                <a:cubicBezTo>
                  <a:pt x="19980" y="216433"/>
                  <a:pt x="21934" y="205327"/>
                  <a:pt x="30026" y="199634"/>
                </a:cubicBezTo>
                <a:cubicBezTo>
                  <a:pt x="38119" y="193942"/>
                  <a:pt x="49225" y="195951"/>
                  <a:pt x="54918" y="204043"/>
                </a:cubicBezTo>
                <a:cubicBezTo>
                  <a:pt x="74340" y="231837"/>
                  <a:pt x="106487" y="249975"/>
                  <a:pt x="142875" y="249975"/>
                </a:cubicBezTo>
                <a:cubicBezTo>
                  <a:pt x="202034" y="249975"/>
                  <a:pt x="250031" y="201978"/>
                  <a:pt x="250031" y="142819"/>
                </a:cubicBezTo>
                <a:cubicBezTo>
                  <a:pt x="250031" y="83660"/>
                  <a:pt x="202034" y="35719"/>
                  <a:pt x="142875" y="35719"/>
                </a:cubicBezTo>
                <a:close/>
              </a:path>
            </a:pathLst>
          </a:custGeom>
          <a:solidFill>
            <a:srgbClr val="000000"/>
          </a:solidFill>
          <a:ln/>
        </p:spPr>
      </p:sp>
      <p:sp>
        <p:nvSpPr>
          <p:cNvPr id="10" name="Text 8"/>
          <p:cNvSpPr/>
          <p:nvPr/>
        </p:nvSpPr>
        <p:spPr>
          <a:xfrm>
            <a:off x="7381875" y="1752600"/>
            <a:ext cx="3257550" cy="381000"/>
          </a:xfrm>
          <a:prstGeom prst="rect">
            <a:avLst/>
          </a:prstGeom>
          <a:noFill/>
          <a:ln/>
        </p:spPr>
        <p:txBody>
          <a:bodyPr wrap="square" lIns="0" tIns="0" rIns="0" bIns="0" rtlCol="0" anchor="ctr"/>
          <a:lstStyle/>
          <a:p>
            <a:pPr>
              <a:lnSpc>
                <a:spcPct val="110000"/>
              </a:lnSpc>
            </a:pPr>
            <a:r>
              <a:rPr lang="en-US" sz="2250" b="1" dirty="0">
                <a:solidFill>
                  <a:srgbClr val="FFFFFF"/>
                </a:solidFill>
                <a:latin typeface="Quattrocento Sans" pitchFamily="34" charset="0"/>
                <a:ea typeface="Quattrocento Sans" pitchFamily="34" charset="-122"/>
                <a:cs typeface="Quattrocento Sans" pitchFamily="34" charset="-120"/>
              </a:rPr>
              <a:t>Restore Setup on Any OS</a:t>
            </a:r>
            <a:endParaRPr lang="en-US" sz="1600" dirty="0"/>
          </a:p>
        </p:txBody>
      </p:sp>
      <p:sp>
        <p:nvSpPr>
          <p:cNvPr id="11" name="Text 9"/>
          <p:cNvSpPr/>
          <p:nvPr/>
        </p:nvSpPr>
        <p:spPr>
          <a:xfrm>
            <a:off x="6524625" y="2466975"/>
            <a:ext cx="5095875" cy="933450"/>
          </a:xfrm>
          <a:prstGeom prst="rect">
            <a:avLst/>
          </a:prstGeom>
          <a:noFill/>
          <a:ln/>
        </p:spPr>
        <p:txBody>
          <a:bodyPr wrap="square" lIns="0" tIns="0" rIns="0" bIns="0" rtlCol="0" anchor="ctr"/>
          <a:lstStyle/>
          <a:p>
            <a:pPr>
              <a:lnSpc>
                <a:spcPct val="140000"/>
              </a:lnSpc>
            </a:pPr>
            <a:r>
              <a:rPr lang="en-US" sz="1500" dirty="0">
                <a:solidFill>
                  <a:srgbClr val="FFFFFF">
                    <a:alpha val="95000"/>
                  </a:srgbClr>
                </a:solidFill>
                <a:latin typeface="Quattrocento Sans" pitchFamily="34" charset="0"/>
                <a:ea typeface="Quattrocento Sans" pitchFamily="34" charset="-122"/>
                <a:cs typeface="Quattrocento Sans" pitchFamily="34" charset="-120"/>
              </a:rPr>
              <a:t>Enable seamless restoration of the development environment across Windows, Linux, and macOS platforms using OS-specific scripts that handle platform differences.</a:t>
            </a:r>
            <a:endParaRPr lang="en-US" sz="1600" dirty="0"/>
          </a:p>
        </p:txBody>
      </p:sp>
      <p:sp>
        <p:nvSpPr>
          <p:cNvPr id="12" name="Shape 10"/>
          <p:cNvSpPr/>
          <p:nvPr/>
        </p:nvSpPr>
        <p:spPr>
          <a:xfrm>
            <a:off x="381000" y="3967163"/>
            <a:ext cx="5572125" cy="2457450"/>
          </a:xfrm>
          <a:custGeom>
            <a:avLst/>
            <a:gdLst/>
            <a:ahLst/>
            <a:cxnLst/>
            <a:rect l="l" t="t" r="r" b="b"/>
            <a:pathLst>
              <a:path w="5572125" h="2457450">
                <a:moveTo>
                  <a:pt x="95251" y="0"/>
                </a:moveTo>
                <a:lnTo>
                  <a:pt x="5476874" y="0"/>
                </a:lnTo>
                <a:cubicBezTo>
                  <a:pt x="5529480" y="0"/>
                  <a:pt x="5572125" y="42645"/>
                  <a:pt x="5572125" y="95251"/>
                </a:cubicBezTo>
                <a:lnTo>
                  <a:pt x="5572125" y="2362199"/>
                </a:lnTo>
                <a:cubicBezTo>
                  <a:pt x="5572125" y="2414805"/>
                  <a:pt x="5529480" y="2457450"/>
                  <a:pt x="5476874" y="2457450"/>
                </a:cubicBezTo>
                <a:lnTo>
                  <a:pt x="95251" y="2457450"/>
                </a:lnTo>
                <a:cubicBezTo>
                  <a:pt x="42645" y="2457450"/>
                  <a:pt x="0" y="2414805"/>
                  <a:pt x="0" y="2362199"/>
                </a:cubicBezTo>
                <a:lnTo>
                  <a:pt x="0" y="95251"/>
                </a:lnTo>
                <a:cubicBezTo>
                  <a:pt x="0" y="42645"/>
                  <a:pt x="42645" y="0"/>
                  <a:pt x="95251" y="0"/>
                </a:cubicBezTo>
                <a:close/>
              </a:path>
            </a:pathLst>
          </a:custGeom>
          <a:gradFill rotWithShape="1" flip="none">
            <a:gsLst>
              <a:gs pos="0">
                <a:srgbClr val="AD46FF"/>
              </a:gs>
              <a:gs pos="100000">
                <a:srgbClr val="9810FA"/>
              </a:gs>
            </a:gsLst>
            <a:lin ang="2700000" scaled="1"/>
          </a:gradFill>
          <a:ln/>
        </p:spPr>
      </p:sp>
      <p:sp>
        <p:nvSpPr>
          <p:cNvPr id="13" name="Text 11"/>
          <p:cNvSpPr/>
          <p:nvPr/>
        </p:nvSpPr>
        <p:spPr>
          <a:xfrm>
            <a:off x="1482804" y="4252913"/>
            <a:ext cx="4324350" cy="762000"/>
          </a:xfrm>
          <a:prstGeom prst="rect">
            <a:avLst/>
          </a:prstGeom>
          <a:noFill/>
          <a:ln/>
        </p:spPr>
        <p:txBody>
          <a:bodyPr wrap="square" lIns="0" tIns="0" rIns="0" bIns="0" rtlCol="0" anchor="ctr"/>
          <a:lstStyle/>
          <a:p>
            <a:pPr>
              <a:lnSpc>
                <a:spcPct val="110000"/>
              </a:lnSpc>
            </a:pPr>
            <a:r>
              <a:rPr lang="en-US" sz="2250" b="1" dirty="0">
                <a:solidFill>
                  <a:srgbClr val="FFFFFF"/>
                </a:solidFill>
                <a:latin typeface="Quattrocento Sans" pitchFamily="34" charset="0"/>
                <a:ea typeface="Quattrocento Sans" pitchFamily="34" charset="-122"/>
                <a:cs typeface="Quattrocento Sans" pitchFamily="34" charset="-120"/>
              </a:rPr>
              <a:t>Avoid External Tools and Containers</a:t>
            </a:r>
            <a:endParaRPr lang="en-US" sz="1600" dirty="0"/>
          </a:p>
        </p:txBody>
      </p:sp>
      <p:sp>
        <p:nvSpPr>
          <p:cNvPr id="14" name="Text 12"/>
          <p:cNvSpPr/>
          <p:nvPr/>
        </p:nvSpPr>
        <p:spPr>
          <a:xfrm>
            <a:off x="666750" y="5205413"/>
            <a:ext cx="5095875" cy="933450"/>
          </a:xfrm>
          <a:prstGeom prst="rect">
            <a:avLst/>
          </a:prstGeom>
          <a:noFill/>
          <a:ln/>
        </p:spPr>
        <p:txBody>
          <a:bodyPr wrap="square" lIns="0" tIns="0" rIns="0" bIns="0" rtlCol="0" anchor="ctr"/>
          <a:lstStyle/>
          <a:p>
            <a:pPr>
              <a:lnSpc>
                <a:spcPct val="140000"/>
              </a:lnSpc>
            </a:pPr>
            <a:r>
              <a:rPr lang="en-US" sz="1500" dirty="0">
                <a:solidFill>
                  <a:srgbClr val="FFFFFF">
                    <a:alpha val="95000"/>
                  </a:srgbClr>
                </a:solidFill>
                <a:latin typeface="Quattrocento Sans" pitchFamily="34" charset="0"/>
                <a:ea typeface="Quattrocento Sans" pitchFamily="34" charset="-122"/>
                <a:cs typeface="Quattrocento Sans" pitchFamily="34" charset="-120"/>
              </a:rPr>
              <a:t>Implement a solution that relies solely on native OS scripting capabilities without requiring Docker, third-party software, or cloud services.</a:t>
            </a:r>
            <a:endParaRPr lang="en-US" sz="1600" dirty="0"/>
          </a:p>
        </p:txBody>
      </p:sp>
      <p:sp>
        <p:nvSpPr>
          <p:cNvPr id="15" name="Shape 13"/>
          <p:cNvSpPr/>
          <p:nvPr/>
        </p:nvSpPr>
        <p:spPr>
          <a:xfrm>
            <a:off x="6238875" y="3967163"/>
            <a:ext cx="5572125" cy="2457450"/>
          </a:xfrm>
          <a:custGeom>
            <a:avLst/>
            <a:gdLst/>
            <a:ahLst/>
            <a:cxnLst/>
            <a:rect l="l" t="t" r="r" b="b"/>
            <a:pathLst>
              <a:path w="5572125" h="2457450">
                <a:moveTo>
                  <a:pt x="95251" y="0"/>
                </a:moveTo>
                <a:lnTo>
                  <a:pt x="5476874" y="0"/>
                </a:lnTo>
                <a:cubicBezTo>
                  <a:pt x="5529480" y="0"/>
                  <a:pt x="5572125" y="42645"/>
                  <a:pt x="5572125" y="95251"/>
                </a:cubicBezTo>
                <a:lnTo>
                  <a:pt x="5572125" y="2362199"/>
                </a:lnTo>
                <a:cubicBezTo>
                  <a:pt x="5572125" y="2414805"/>
                  <a:pt x="5529480" y="2457450"/>
                  <a:pt x="5476874" y="2457450"/>
                </a:cubicBezTo>
                <a:lnTo>
                  <a:pt x="95251" y="2457450"/>
                </a:lnTo>
                <a:cubicBezTo>
                  <a:pt x="42645" y="2457450"/>
                  <a:pt x="0" y="2414805"/>
                  <a:pt x="0" y="2362199"/>
                </a:cubicBezTo>
                <a:lnTo>
                  <a:pt x="0" y="95251"/>
                </a:lnTo>
                <a:cubicBezTo>
                  <a:pt x="0" y="42645"/>
                  <a:pt x="42645" y="0"/>
                  <a:pt x="95251" y="0"/>
                </a:cubicBezTo>
                <a:close/>
              </a:path>
            </a:pathLst>
          </a:custGeom>
          <a:gradFill rotWithShape="1" flip="none">
            <a:gsLst>
              <a:gs pos="0">
                <a:srgbClr val="FF6900"/>
              </a:gs>
              <a:gs pos="100000">
                <a:srgbClr val="F54900"/>
              </a:gs>
            </a:gsLst>
            <a:lin ang="2700000" scaled="1"/>
          </a:gradFill>
          <a:ln/>
        </p:spPr>
      </p:sp>
      <p:sp>
        <p:nvSpPr>
          <p:cNvPr id="16" name="Text 14"/>
          <p:cNvSpPr/>
          <p:nvPr/>
        </p:nvSpPr>
        <p:spPr>
          <a:xfrm>
            <a:off x="7259598" y="4252913"/>
            <a:ext cx="4410075" cy="762000"/>
          </a:xfrm>
          <a:prstGeom prst="rect">
            <a:avLst/>
          </a:prstGeom>
          <a:noFill/>
          <a:ln/>
        </p:spPr>
        <p:txBody>
          <a:bodyPr wrap="square" lIns="0" tIns="0" rIns="0" bIns="0" rtlCol="0" anchor="ctr"/>
          <a:lstStyle/>
          <a:p>
            <a:pPr>
              <a:lnSpc>
                <a:spcPct val="110000"/>
              </a:lnSpc>
            </a:pPr>
            <a:r>
              <a:rPr lang="en-US" sz="2250" b="1" dirty="0">
                <a:solidFill>
                  <a:srgbClr val="FFFFFF"/>
                </a:solidFill>
                <a:latin typeface="Quattrocento Sans" pitchFamily="34" charset="0"/>
                <a:ea typeface="Quattrocento Sans" pitchFamily="34" charset="-122"/>
                <a:cs typeface="Quattrocento Sans" pitchFamily="34" charset="-120"/>
              </a:rPr>
              <a:t>Use Simple and Readable Storage Formats</a:t>
            </a:r>
            <a:endParaRPr lang="en-US" sz="1600" dirty="0"/>
          </a:p>
        </p:txBody>
      </p:sp>
      <p:sp>
        <p:nvSpPr>
          <p:cNvPr id="17" name="Text 15"/>
          <p:cNvSpPr/>
          <p:nvPr/>
        </p:nvSpPr>
        <p:spPr>
          <a:xfrm>
            <a:off x="6524625" y="5205413"/>
            <a:ext cx="5095875" cy="933450"/>
          </a:xfrm>
          <a:prstGeom prst="rect">
            <a:avLst/>
          </a:prstGeom>
          <a:noFill/>
          <a:ln/>
        </p:spPr>
        <p:txBody>
          <a:bodyPr wrap="square" lIns="0" tIns="0" rIns="0" bIns="0" rtlCol="0" anchor="ctr"/>
          <a:lstStyle/>
          <a:p>
            <a:pPr>
              <a:lnSpc>
                <a:spcPct val="140000"/>
              </a:lnSpc>
            </a:pPr>
            <a:r>
              <a:rPr lang="en-US" sz="1500" dirty="0">
                <a:solidFill>
                  <a:srgbClr val="FFFFFF">
                    <a:alpha val="95000"/>
                  </a:srgbClr>
                </a:solidFill>
                <a:latin typeface="Quattrocento Sans" pitchFamily="34" charset="0"/>
                <a:ea typeface="Quattrocento Sans" pitchFamily="34" charset="-122"/>
                <a:cs typeface="Quattrocento Sans" pitchFamily="34" charset="-120"/>
              </a:rPr>
              <a:t>Store configuration data in plain text and JSON files that are human-readable, easy to edit, and can be version controlled using standard tools like Git.</a:t>
            </a:r>
            <a:endParaRPr lang="en-US" sz="1600" dirty="0"/>
          </a:p>
        </p:txBody>
      </p:sp>
      <p:sp>
        <p:nvSpPr>
          <p:cNvPr id="18" name="Shape 16"/>
          <p:cNvSpPr/>
          <p:nvPr/>
        </p:nvSpPr>
        <p:spPr>
          <a:xfrm>
            <a:off x="666750" y="1609725"/>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FFFFFF"/>
          </a:solidFill>
          <a:ln/>
        </p:spPr>
      </p:sp>
      <p:sp>
        <p:nvSpPr>
          <p:cNvPr id="19" name="Shape 17"/>
          <p:cNvSpPr/>
          <p:nvPr/>
        </p:nvSpPr>
        <p:spPr>
          <a:xfrm>
            <a:off x="884238" y="1787525"/>
            <a:ext cx="250031" cy="285750"/>
          </a:xfrm>
          <a:custGeom>
            <a:avLst/>
            <a:gdLst/>
            <a:ahLst/>
            <a:cxnLst/>
            <a:rect l="l" t="t" r="r" b="b"/>
            <a:pathLst>
              <a:path w="250031" h="285750">
                <a:moveTo>
                  <a:pt x="35719" y="17859"/>
                </a:moveTo>
                <a:cubicBezTo>
                  <a:pt x="16018" y="17859"/>
                  <a:pt x="0" y="33877"/>
                  <a:pt x="0" y="53578"/>
                </a:cubicBezTo>
                <a:lnTo>
                  <a:pt x="0" y="232172"/>
                </a:lnTo>
                <a:cubicBezTo>
                  <a:pt x="0" y="251873"/>
                  <a:pt x="16018" y="267891"/>
                  <a:pt x="35719" y="267891"/>
                </a:cubicBezTo>
                <a:lnTo>
                  <a:pt x="214313" y="267891"/>
                </a:lnTo>
                <a:cubicBezTo>
                  <a:pt x="234014" y="267891"/>
                  <a:pt x="250031" y="251873"/>
                  <a:pt x="250031" y="232172"/>
                </a:cubicBezTo>
                <a:lnTo>
                  <a:pt x="250031" y="96720"/>
                </a:lnTo>
                <a:cubicBezTo>
                  <a:pt x="250031" y="87232"/>
                  <a:pt x="246292" y="78135"/>
                  <a:pt x="239595" y="71438"/>
                </a:cubicBezTo>
                <a:lnTo>
                  <a:pt x="196453" y="28296"/>
                </a:lnTo>
                <a:cubicBezTo>
                  <a:pt x="189756" y="21599"/>
                  <a:pt x="180659" y="17859"/>
                  <a:pt x="171171" y="17859"/>
                </a:cubicBezTo>
                <a:lnTo>
                  <a:pt x="35719" y="17859"/>
                </a:lnTo>
                <a:close/>
                <a:moveTo>
                  <a:pt x="53578" y="71438"/>
                </a:moveTo>
                <a:cubicBezTo>
                  <a:pt x="53578" y="61559"/>
                  <a:pt x="61559" y="53578"/>
                  <a:pt x="71438" y="53578"/>
                </a:cubicBezTo>
                <a:lnTo>
                  <a:pt x="160734" y="53578"/>
                </a:lnTo>
                <a:cubicBezTo>
                  <a:pt x="170613" y="53578"/>
                  <a:pt x="178594" y="61559"/>
                  <a:pt x="178594" y="71438"/>
                </a:cubicBezTo>
                <a:lnTo>
                  <a:pt x="178594" y="107156"/>
                </a:lnTo>
                <a:cubicBezTo>
                  <a:pt x="178594" y="117035"/>
                  <a:pt x="170613" y="125016"/>
                  <a:pt x="160734" y="125016"/>
                </a:cubicBezTo>
                <a:lnTo>
                  <a:pt x="71438" y="125016"/>
                </a:lnTo>
                <a:cubicBezTo>
                  <a:pt x="61559" y="125016"/>
                  <a:pt x="53578" y="117035"/>
                  <a:pt x="53578" y="107156"/>
                </a:cubicBezTo>
                <a:lnTo>
                  <a:pt x="53578" y="71438"/>
                </a:lnTo>
                <a:close/>
                <a:moveTo>
                  <a:pt x="125016" y="160734"/>
                </a:moveTo>
                <a:cubicBezTo>
                  <a:pt x="144729" y="160734"/>
                  <a:pt x="160734" y="176739"/>
                  <a:pt x="160734" y="196453"/>
                </a:cubicBezTo>
                <a:cubicBezTo>
                  <a:pt x="160734" y="216167"/>
                  <a:pt x="144729" y="232172"/>
                  <a:pt x="125016" y="232172"/>
                </a:cubicBezTo>
                <a:cubicBezTo>
                  <a:pt x="105302" y="232172"/>
                  <a:pt x="89297" y="216167"/>
                  <a:pt x="89297" y="196453"/>
                </a:cubicBezTo>
                <a:cubicBezTo>
                  <a:pt x="89297" y="176739"/>
                  <a:pt x="105302" y="160734"/>
                  <a:pt x="125016" y="160734"/>
                </a:cubicBezTo>
                <a:close/>
              </a:path>
            </a:pathLst>
          </a:custGeom>
          <a:solidFill>
            <a:srgbClr val="000000"/>
          </a:solidFill>
          <a:ln/>
        </p:spPr>
      </p:sp>
      <p:sp>
        <p:nvSpPr>
          <p:cNvPr id="20" name="Shape 18"/>
          <p:cNvSpPr/>
          <p:nvPr/>
        </p:nvSpPr>
        <p:spPr>
          <a:xfrm>
            <a:off x="666750" y="4302125"/>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FFFFFF"/>
          </a:solidFill>
          <a:ln/>
        </p:spPr>
      </p:sp>
      <p:sp>
        <p:nvSpPr>
          <p:cNvPr id="21" name="Shape 19"/>
          <p:cNvSpPr/>
          <p:nvPr/>
        </p:nvSpPr>
        <p:spPr>
          <a:xfrm>
            <a:off x="863600" y="4491038"/>
            <a:ext cx="285750" cy="285750"/>
          </a:xfrm>
          <a:custGeom>
            <a:avLst/>
            <a:gdLst/>
            <a:ahLst/>
            <a:cxnLst/>
            <a:rect l="l" t="t" r="r" b="b"/>
            <a:pathLst>
              <a:path w="285750" h="285750">
                <a:moveTo>
                  <a:pt x="204936" y="230219"/>
                </a:moveTo>
                <a:lnTo>
                  <a:pt x="55531" y="80814"/>
                </a:lnTo>
                <a:cubicBezTo>
                  <a:pt x="43030" y="98338"/>
                  <a:pt x="35719" y="119769"/>
                  <a:pt x="35719" y="142875"/>
                </a:cubicBezTo>
                <a:cubicBezTo>
                  <a:pt x="35719" y="202034"/>
                  <a:pt x="83716" y="250031"/>
                  <a:pt x="142875" y="250031"/>
                </a:cubicBezTo>
                <a:cubicBezTo>
                  <a:pt x="166036" y="250031"/>
                  <a:pt x="187468" y="242720"/>
                  <a:pt x="204936" y="230219"/>
                </a:cubicBezTo>
                <a:close/>
                <a:moveTo>
                  <a:pt x="230219" y="204936"/>
                </a:moveTo>
                <a:cubicBezTo>
                  <a:pt x="242720" y="187412"/>
                  <a:pt x="250031" y="165981"/>
                  <a:pt x="250031" y="142875"/>
                </a:cubicBezTo>
                <a:cubicBezTo>
                  <a:pt x="250031" y="83716"/>
                  <a:pt x="202034" y="35719"/>
                  <a:pt x="142875" y="35719"/>
                </a:cubicBezTo>
                <a:cubicBezTo>
                  <a:pt x="119714" y="35719"/>
                  <a:pt x="98282" y="43030"/>
                  <a:pt x="80814" y="55531"/>
                </a:cubicBezTo>
                <a:lnTo>
                  <a:pt x="230219" y="204936"/>
                </a:lnTo>
                <a:close/>
                <a:moveTo>
                  <a:pt x="0" y="142875"/>
                </a:moveTo>
                <a:cubicBezTo>
                  <a:pt x="0" y="64020"/>
                  <a:pt x="64020" y="0"/>
                  <a:pt x="142875" y="0"/>
                </a:cubicBezTo>
                <a:cubicBezTo>
                  <a:pt x="221730" y="0"/>
                  <a:pt x="285750" y="64020"/>
                  <a:pt x="285750" y="142875"/>
                </a:cubicBezTo>
                <a:cubicBezTo>
                  <a:pt x="285750" y="221730"/>
                  <a:pt x="221730" y="285750"/>
                  <a:pt x="142875" y="285750"/>
                </a:cubicBezTo>
                <a:cubicBezTo>
                  <a:pt x="64020" y="285750"/>
                  <a:pt x="0" y="221730"/>
                  <a:pt x="0" y="142875"/>
                </a:cubicBezTo>
                <a:close/>
              </a:path>
            </a:pathLst>
          </a:custGeom>
          <a:solidFill>
            <a:srgbClr val="000000"/>
          </a:solidFill>
          <a:ln/>
        </p:spPr>
      </p:sp>
      <p:sp>
        <p:nvSpPr>
          <p:cNvPr id="22" name="Shape 20"/>
          <p:cNvSpPr/>
          <p:nvPr/>
        </p:nvSpPr>
        <p:spPr>
          <a:xfrm>
            <a:off x="6521450" y="4302125"/>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FFFFFF"/>
          </a:solidFill>
          <a:ln/>
        </p:spPr>
      </p:sp>
      <p:sp>
        <p:nvSpPr>
          <p:cNvPr id="23" name="Shape 21"/>
          <p:cNvSpPr/>
          <p:nvPr/>
        </p:nvSpPr>
        <p:spPr>
          <a:xfrm>
            <a:off x="6755527" y="4503738"/>
            <a:ext cx="214313" cy="285750"/>
          </a:xfrm>
          <a:custGeom>
            <a:avLst/>
            <a:gdLst/>
            <a:ahLst/>
            <a:cxnLst/>
            <a:rect l="l" t="t" r="r" b="b"/>
            <a:pathLst>
              <a:path w="214313" h="285750">
                <a:moveTo>
                  <a:pt x="0" y="35719"/>
                </a:moveTo>
                <a:cubicBezTo>
                  <a:pt x="0" y="16018"/>
                  <a:pt x="16018" y="0"/>
                  <a:pt x="35719" y="0"/>
                </a:cubicBezTo>
                <a:lnTo>
                  <a:pt x="119156" y="0"/>
                </a:lnTo>
                <a:cubicBezTo>
                  <a:pt x="128643" y="0"/>
                  <a:pt x="137740" y="3739"/>
                  <a:pt x="144438" y="10437"/>
                </a:cubicBezTo>
                <a:lnTo>
                  <a:pt x="203876" y="69931"/>
                </a:lnTo>
                <a:cubicBezTo>
                  <a:pt x="210573" y="76628"/>
                  <a:pt x="214313" y="85725"/>
                  <a:pt x="214313" y="95213"/>
                </a:cubicBezTo>
                <a:lnTo>
                  <a:pt x="214313" y="250031"/>
                </a:lnTo>
                <a:cubicBezTo>
                  <a:pt x="214313" y="269732"/>
                  <a:pt x="198295" y="285750"/>
                  <a:pt x="178594" y="285750"/>
                </a:cubicBezTo>
                <a:lnTo>
                  <a:pt x="35719" y="285750"/>
                </a:lnTo>
                <a:cubicBezTo>
                  <a:pt x="16018" y="285750"/>
                  <a:pt x="0" y="269732"/>
                  <a:pt x="0" y="250031"/>
                </a:cubicBezTo>
                <a:lnTo>
                  <a:pt x="0" y="35719"/>
                </a:lnTo>
                <a:close/>
                <a:moveTo>
                  <a:pt x="116086" y="32649"/>
                </a:moveTo>
                <a:lnTo>
                  <a:pt x="116086" y="84832"/>
                </a:lnTo>
                <a:cubicBezTo>
                  <a:pt x="116086" y="92255"/>
                  <a:pt x="122058" y="98227"/>
                  <a:pt x="129480" y="98227"/>
                </a:cubicBezTo>
                <a:lnTo>
                  <a:pt x="181663" y="98227"/>
                </a:lnTo>
                <a:lnTo>
                  <a:pt x="116086" y="32649"/>
                </a:lnTo>
                <a:close/>
                <a:moveTo>
                  <a:pt x="86060" y="164976"/>
                </a:moveTo>
                <a:cubicBezTo>
                  <a:pt x="90860" y="159339"/>
                  <a:pt x="90246" y="150912"/>
                  <a:pt x="84609" y="146112"/>
                </a:cubicBezTo>
                <a:cubicBezTo>
                  <a:pt x="78972" y="141312"/>
                  <a:pt x="70545" y="141926"/>
                  <a:pt x="65745" y="147563"/>
                </a:cubicBezTo>
                <a:lnTo>
                  <a:pt x="38956" y="178817"/>
                </a:lnTo>
                <a:cubicBezTo>
                  <a:pt x="34658" y="183840"/>
                  <a:pt x="34658" y="191207"/>
                  <a:pt x="38956" y="196230"/>
                </a:cubicBezTo>
                <a:lnTo>
                  <a:pt x="65745" y="227484"/>
                </a:lnTo>
                <a:cubicBezTo>
                  <a:pt x="70545" y="233121"/>
                  <a:pt x="79028" y="233735"/>
                  <a:pt x="84609" y="228935"/>
                </a:cubicBezTo>
                <a:cubicBezTo>
                  <a:pt x="90190" y="224135"/>
                  <a:pt x="90860" y="215652"/>
                  <a:pt x="86060" y="210071"/>
                </a:cubicBezTo>
                <a:lnTo>
                  <a:pt x="66749" y="187523"/>
                </a:lnTo>
                <a:lnTo>
                  <a:pt x="86060" y="164976"/>
                </a:lnTo>
                <a:close/>
                <a:moveTo>
                  <a:pt x="148568" y="147563"/>
                </a:moveTo>
                <a:cubicBezTo>
                  <a:pt x="143768" y="141926"/>
                  <a:pt x="135285" y="141312"/>
                  <a:pt x="129704" y="146112"/>
                </a:cubicBezTo>
                <a:cubicBezTo>
                  <a:pt x="124123" y="150912"/>
                  <a:pt x="123453" y="159395"/>
                  <a:pt x="128253" y="164976"/>
                </a:cubicBezTo>
                <a:lnTo>
                  <a:pt x="147563" y="187523"/>
                </a:lnTo>
                <a:lnTo>
                  <a:pt x="128253" y="210071"/>
                </a:lnTo>
                <a:cubicBezTo>
                  <a:pt x="123453" y="215708"/>
                  <a:pt x="124067" y="224135"/>
                  <a:pt x="129704" y="228935"/>
                </a:cubicBezTo>
                <a:cubicBezTo>
                  <a:pt x="135341" y="233735"/>
                  <a:pt x="143768" y="233121"/>
                  <a:pt x="148568" y="227484"/>
                </a:cubicBezTo>
                <a:lnTo>
                  <a:pt x="175357" y="196230"/>
                </a:lnTo>
                <a:cubicBezTo>
                  <a:pt x="179654" y="191207"/>
                  <a:pt x="179654" y="183840"/>
                  <a:pt x="175357" y="178817"/>
                </a:cubicBezTo>
                <a:lnTo>
                  <a:pt x="148568" y="147563"/>
                </a:lnTo>
                <a:close/>
              </a:path>
            </a:pathLst>
          </a:custGeom>
          <a:solidFill>
            <a:srgbClr val="000000"/>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2116" y="941909"/>
            <a:ext cx="3001785" cy="35212"/>
          </a:xfrm>
          <a:custGeom>
            <a:avLst/>
            <a:gdLst/>
            <a:ahLst/>
            <a:cxnLst/>
            <a:rect l="l" t="t" r="r" b="b"/>
            <a:pathLst>
              <a:path w="3001785" h="35212">
                <a:moveTo>
                  <a:pt x="0" y="0"/>
                </a:moveTo>
                <a:lnTo>
                  <a:pt x="3001785" y="0"/>
                </a:lnTo>
                <a:lnTo>
                  <a:pt x="3001785" y="35212"/>
                </a:lnTo>
                <a:lnTo>
                  <a:pt x="0" y="35212"/>
                </a:lnTo>
                <a:lnTo>
                  <a:pt x="0" y="0"/>
                </a:lnTo>
                <a:close/>
              </a:path>
            </a:pathLst>
          </a:custGeom>
          <a:solidFill>
            <a:srgbClr val="2B7FFF"/>
          </a:solidFill>
          <a:ln/>
        </p:spPr>
      </p:sp>
      <p:sp>
        <p:nvSpPr>
          <p:cNvPr id="3" name="Text 1"/>
          <p:cNvSpPr/>
          <p:nvPr/>
        </p:nvSpPr>
        <p:spPr>
          <a:xfrm>
            <a:off x="352116" y="352116"/>
            <a:ext cx="3199850" cy="572188"/>
          </a:xfrm>
          <a:prstGeom prst="rect">
            <a:avLst/>
          </a:prstGeom>
          <a:noFill/>
          <a:ln/>
        </p:spPr>
        <p:txBody>
          <a:bodyPr wrap="square" lIns="0" tIns="0" rIns="0" bIns="132043" rtlCol="0" anchor="ctr"/>
          <a:lstStyle/>
          <a:p>
            <a:pPr>
              <a:lnSpc>
                <a:spcPct val="90000"/>
              </a:lnSpc>
            </a:pPr>
            <a:r>
              <a:rPr lang="en-US" sz="3119" b="1" dirty="0">
                <a:solidFill>
                  <a:srgbClr val="1D293D"/>
                </a:solidFill>
                <a:latin typeface="Quattrocento Sans" pitchFamily="34" charset="0"/>
                <a:ea typeface="Quattrocento Sans" pitchFamily="34" charset="-122"/>
                <a:cs typeface="Quattrocento Sans" pitchFamily="34" charset="-120"/>
              </a:rPr>
              <a:t>Literature Review</a:t>
            </a:r>
            <a:endParaRPr lang="en-US" sz="1600" dirty="0"/>
          </a:p>
        </p:txBody>
      </p:sp>
      <p:sp>
        <p:nvSpPr>
          <p:cNvPr id="4" name="Shape 2"/>
          <p:cNvSpPr/>
          <p:nvPr/>
        </p:nvSpPr>
        <p:spPr>
          <a:xfrm>
            <a:off x="369721" y="1223601"/>
            <a:ext cx="11470163" cy="2024664"/>
          </a:xfrm>
          <a:custGeom>
            <a:avLst/>
            <a:gdLst/>
            <a:ahLst/>
            <a:cxnLst/>
            <a:rect l="l" t="t" r="r" b="b"/>
            <a:pathLst>
              <a:path w="11470163" h="2024664">
                <a:moveTo>
                  <a:pt x="35212" y="0"/>
                </a:moveTo>
                <a:lnTo>
                  <a:pt x="11382131" y="0"/>
                </a:lnTo>
                <a:cubicBezTo>
                  <a:pt x="11430750" y="0"/>
                  <a:pt x="11470163" y="39413"/>
                  <a:pt x="11470163" y="88032"/>
                </a:cubicBezTo>
                <a:lnTo>
                  <a:pt x="11470163" y="1936632"/>
                </a:lnTo>
                <a:cubicBezTo>
                  <a:pt x="11470163" y="1985251"/>
                  <a:pt x="11430750" y="2024664"/>
                  <a:pt x="11382131" y="2024664"/>
                </a:cubicBezTo>
                <a:lnTo>
                  <a:pt x="35212" y="2024664"/>
                </a:lnTo>
                <a:cubicBezTo>
                  <a:pt x="15765" y="2024664"/>
                  <a:pt x="0" y="2008900"/>
                  <a:pt x="0" y="1989453"/>
                </a:cubicBezTo>
                <a:lnTo>
                  <a:pt x="0" y="35212"/>
                </a:lnTo>
                <a:cubicBezTo>
                  <a:pt x="0" y="15778"/>
                  <a:pt x="15778" y="0"/>
                  <a:pt x="35212" y="0"/>
                </a:cubicBezTo>
                <a:close/>
              </a:path>
            </a:pathLst>
          </a:custGeom>
          <a:solidFill>
            <a:srgbClr val="F8FAFC"/>
          </a:solidFill>
          <a:ln/>
        </p:spPr>
      </p:sp>
      <p:sp>
        <p:nvSpPr>
          <p:cNvPr id="5" name="Shape 3"/>
          <p:cNvSpPr/>
          <p:nvPr/>
        </p:nvSpPr>
        <p:spPr>
          <a:xfrm>
            <a:off x="369721" y="1223601"/>
            <a:ext cx="35212" cy="2024664"/>
          </a:xfrm>
          <a:custGeom>
            <a:avLst/>
            <a:gdLst/>
            <a:ahLst/>
            <a:cxnLst/>
            <a:rect l="l" t="t" r="r" b="b"/>
            <a:pathLst>
              <a:path w="35212" h="2024664">
                <a:moveTo>
                  <a:pt x="35212" y="0"/>
                </a:moveTo>
                <a:lnTo>
                  <a:pt x="35212" y="0"/>
                </a:lnTo>
                <a:lnTo>
                  <a:pt x="35212" y="2024664"/>
                </a:lnTo>
                <a:lnTo>
                  <a:pt x="35212" y="2024664"/>
                </a:lnTo>
                <a:cubicBezTo>
                  <a:pt x="15765" y="2024664"/>
                  <a:pt x="0" y="2008900"/>
                  <a:pt x="0" y="1989453"/>
                </a:cubicBezTo>
                <a:lnTo>
                  <a:pt x="0" y="35212"/>
                </a:lnTo>
                <a:cubicBezTo>
                  <a:pt x="0" y="15778"/>
                  <a:pt x="15778" y="0"/>
                  <a:pt x="35212" y="0"/>
                </a:cubicBezTo>
                <a:close/>
              </a:path>
            </a:pathLst>
          </a:custGeom>
          <a:solidFill>
            <a:srgbClr val="90A1B9"/>
          </a:solidFill>
          <a:ln/>
        </p:spPr>
      </p:sp>
      <p:sp>
        <p:nvSpPr>
          <p:cNvPr id="6" name="Shape 4"/>
          <p:cNvSpPr/>
          <p:nvPr/>
        </p:nvSpPr>
        <p:spPr>
          <a:xfrm>
            <a:off x="647562" y="1487688"/>
            <a:ext cx="192563" cy="220072"/>
          </a:xfrm>
          <a:custGeom>
            <a:avLst/>
            <a:gdLst/>
            <a:ahLst/>
            <a:cxnLst/>
            <a:rect l="l" t="t" r="r" b="b"/>
            <a:pathLst>
              <a:path w="192563" h="220072">
                <a:moveTo>
                  <a:pt x="165054" y="220072"/>
                </a:moveTo>
                <a:lnTo>
                  <a:pt x="41264" y="220072"/>
                </a:lnTo>
                <a:cubicBezTo>
                  <a:pt x="18483" y="220072"/>
                  <a:pt x="0" y="201590"/>
                  <a:pt x="0" y="178809"/>
                </a:cubicBezTo>
                <a:lnTo>
                  <a:pt x="0" y="41264"/>
                </a:lnTo>
                <a:cubicBezTo>
                  <a:pt x="0" y="18483"/>
                  <a:pt x="18483" y="0"/>
                  <a:pt x="41264" y="0"/>
                </a:cubicBezTo>
                <a:lnTo>
                  <a:pt x="171931" y="0"/>
                </a:lnTo>
                <a:cubicBezTo>
                  <a:pt x="183322" y="0"/>
                  <a:pt x="192563" y="9241"/>
                  <a:pt x="192563" y="20632"/>
                </a:cubicBezTo>
                <a:lnTo>
                  <a:pt x="192563" y="144422"/>
                </a:lnTo>
                <a:cubicBezTo>
                  <a:pt x="192563" y="153406"/>
                  <a:pt x="186803" y="161057"/>
                  <a:pt x="178809" y="163894"/>
                </a:cubicBezTo>
                <a:lnTo>
                  <a:pt x="178809" y="192563"/>
                </a:lnTo>
                <a:cubicBezTo>
                  <a:pt x="186417" y="192563"/>
                  <a:pt x="192563" y="198710"/>
                  <a:pt x="192563" y="206318"/>
                </a:cubicBezTo>
                <a:cubicBezTo>
                  <a:pt x="192563" y="213926"/>
                  <a:pt x="186417" y="220072"/>
                  <a:pt x="178809" y="220072"/>
                </a:cubicBezTo>
                <a:lnTo>
                  <a:pt x="165054" y="220072"/>
                </a:lnTo>
                <a:close/>
                <a:moveTo>
                  <a:pt x="41264" y="165054"/>
                </a:moveTo>
                <a:cubicBezTo>
                  <a:pt x="33656" y="165054"/>
                  <a:pt x="27509" y="171201"/>
                  <a:pt x="27509" y="178809"/>
                </a:cubicBezTo>
                <a:cubicBezTo>
                  <a:pt x="27509" y="186417"/>
                  <a:pt x="33656" y="192563"/>
                  <a:pt x="41264" y="192563"/>
                </a:cubicBezTo>
                <a:lnTo>
                  <a:pt x="151300" y="192563"/>
                </a:lnTo>
                <a:lnTo>
                  <a:pt x="151300" y="165054"/>
                </a:lnTo>
                <a:lnTo>
                  <a:pt x="41264" y="165054"/>
                </a:lnTo>
                <a:close/>
                <a:moveTo>
                  <a:pt x="55018" y="65334"/>
                </a:moveTo>
                <a:cubicBezTo>
                  <a:pt x="55018" y="71051"/>
                  <a:pt x="59617" y="75650"/>
                  <a:pt x="65334" y="75650"/>
                </a:cubicBezTo>
                <a:lnTo>
                  <a:pt x="140984" y="75650"/>
                </a:lnTo>
                <a:cubicBezTo>
                  <a:pt x="146700" y="75650"/>
                  <a:pt x="151300" y="71051"/>
                  <a:pt x="151300" y="65334"/>
                </a:cubicBezTo>
                <a:cubicBezTo>
                  <a:pt x="151300" y="59617"/>
                  <a:pt x="146700" y="55018"/>
                  <a:pt x="140984" y="55018"/>
                </a:cubicBezTo>
                <a:lnTo>
                  <a:pt x="65334" y="55018"/>
                </a:lnTo>
                <a:cubicBezTo>
                  <a:pt x="59617" y="55018"/>
                  <a:pt x="55018" y="59617"/>
                  <a:pt x="55018" y="65334"/>
                </a:cubicBezTo>
                <a:close/>
                <a:moveTo>
                  <a:pt x="65334" y="96282"/>
                </a:moveTo>
                <a:cubicBezTo>
                  <a:pt x="59617" y="96282"/>
                  <a:pt x="55018" y="100881"/>
                  <a:pt x="55018" y="106597"/>
                </a:cubicBezTo>
                <a:cubicBezTo>
                  <a:pt x="55018" y="112314"/>
                  <a:pt x="59617" y="116913"/>
                  <a:pt x="65334" y="116913"/>
                </a:cubicBezTo>
                <a:lnTo>
                  <a:pt x="140984" y="116913"/>
                </a:lnTo>
                <a:cubicBezTo>
                  <a:pt x="146700" y="116913"/>
                  <a:pt x="151300" y="112314"/>
                  <a:pt x="151300" y="106597"/>
                </a:cubicBezTo>
                <a:cubicBezTo>
                  <a:pt x="151300" y="100881"/>
                  <a:pt x="146700" y="96282"/>
                  <a:pt x="140984" y="96282"/>
                </a:cubicBezTo>
                <a:lnTo>
                  <a:pt x="65334" y="96282"/>
                </a:lnTo>
                <a:close/>
              </a:path>
            </a:pathLst>
          </a:custGeom>
          <a:solidFill>
            <a:srgbClr val="62748E"/>
          </a:solidFill>
          <a:ln/>
        </p:spPr>
      </p:sp>
      <p:sp>
        <p:nvSpPr>
          <p:cNvPr id="7" name="Text 5"/>
          <p:cNvSpPr/>
          <p:nvPr/>
        </p:nvSpPr>
        <p:spPr>
          <a:xfrm>
            <a:off x="880289" y="1443674"/>
            <a:ext cx="10849560" cy="308101"/>
          </a:xfrm>
          <a:prstGeom prst="rect">
            <a:avLst/>
          </a:prstGeom>
          <a:noFill/>
          <a:ln/>
        </p:spPr>
        <p:txBody>
          <a:bodyPr wrap="square" lIns="0" tIns="0" rIns="0" bIns="0" rtlCol="0" anchor="ctr"/>
          <a:lstStyle/>
          <a:p>
            <a:pPr>
              <a:lnSpc>
                <a:spcPct val="120000"/>
              </a:lnSpc>
            </a:pPr>
            <a:r>
              <a:rPr lang="en-US" sz="1733" b="1" dirty="0">
                <a:solidFill>
                  <a:srgbClr val="1D293D"/>
                </a:solidFill>
                <a:latin typeface="Quattrocento Sans" pitchFamily="34" charset="0"/>
                <a:ea typeface="Quattrocento Sans" pitchFamily="34" charset="-122"/>
                <a:cs typeface="Quattrocento Sans" pitchFamily="34" charset="-120"/>
              </a:rPr>
              <a:t>Overview of Existing Solutions</a:t>
            </a:r>
            <a:endParaRPr lang="en-US" sz="1600" dirty="0"/>
          </a:p>
        </p:txBody>
      </p:sp>
      <p:sp>
        <p:nvSpPr>
          <p:cNvPr id="8" name="Shape 6"/>
          <p:cNvSpPr/>
          <p:nvPr/>
        </p:nvSpPr>
        <p:spPr>
          <a:xfrm>
            <a:off x="607399" y="1883818"/>
            <a:ext cx="3556367" cy="1144375"/>
          </a:xfrm>
          <a:custGeom>
            <a:avLst/>
            <a:gdLst/>
            <a:ahLst/>
            <a:cxnLst/>
            <a:rect l="l" t="t" r="r" b="b"/>
            <a:pathLst>
              <a:path w="3556367" h="1144375">
                <a:moveTo>
                  <a:pt x="44013" y="0"/>
                </a:moveTo>
                <a:lnTo>
                  <a:pt x="3512354" y="0"/>
                </a:lnTo>
                <a:cubicBezTo>
                  <a:pt x="3536662" y="0"/>
                  <a:pt x="3556367" y="19705"/>
                  <a:pt x="3556367" y="44013"/>
                </a:cubicBezTo>
                <a:lnTo>
                  <a:pt x="3556367" y="1100363"/>
                </a:lnTo>
                <a:cubicBezTo>
                  <a:pt x="3556367" y="1124670"/>
                  <a:pt x="3536662" y="1144375"/>
                  <a:pt x="3512354" y="1144375"/>
                </a:cubicBezTo>
                <a:lnTo>
                  <a:pt x="44013" y="1144375"/>
                </a:lnTo>
                <a:cubicBezTo>
                  <a:pt x="19721" y="1144375"/>
                  <a:pt x="0" y="1124654"/>
                  <a:pt x="0" y="1100363"/>
                </a:cubicBezTo>
                <a:lnTo>
                  <a:pt x="0" y="44013"/>
                </a:lnTo>
                <a:cubicBezTo>
                  <a:pt x="0" y="19721"/>
                  <a:pt x="19721" y="0"/>
                  <a:pt x="44013" y="0"/>
                </a:cubicBezTo>
                <a:close/>
              </a:path>
            </a:pathLst>
          </a:custGeom>
          <a:solidFill>
            <a:srgbClr val="FFFFFF"/>
          </a:solidFill>
          <a:ln/>
          <a:effectLst>
            <a:outerShdw sx="100000" sy="100000" kx="0" ky="0" algn="bl" rotWithShape="0" blurRad="26409" dist="8803" dir="5400000">
              <a:srgbClr val="000000">
                <a:alpha val="10196"/>
              </a:srgbClr>
            </a:outerShdw>
          </a:effectLst>
        </p:spPr>
      </p:sp>
      <p:sp>
        <p:nvSpPr>
          <p:cNvPr id="9" name="Shape 7"/>
          <p:cNvSpPr/>
          <p:nvPr/>
        </p:nvSpPr>
        <p:spPr>
          <a:xfrm>
            <a:off x="782357" y="2081883"/>
            <a:ext cx="275090" cy="220072"/>
          </a:xfrm>
          <a:custGeom>
            <a:avLst/>
            <a:gdLst/>
            <a:ahLst/>
            <a:cxnLst/>
            <a:rect l="l" t="t" r="r" b="b"/>
            <a:pathLst>
              <a:path w="275090" h="220072">
                <a:moveTo>
                  <a:pt x="150397" y="101568"/>
                </a:moveTo>
                <a:lnTo>
                  <a:pt x="121985" y="101568"/>
                </a:lnTo>
                <a:lnTo>
                  <a:pt x="121985" y="76037"/>
                </a:lnTo>
                <a:lnTo>
                  <a:pt x="150397" y="76037"/>
                </a:lnTo>
                <a:lnTo>
                  <a:pt x="150397" y="101568"/>
                </a:lnTo>
                <a:close/>
                <a:moveTo>
                  <a:pt x="150397" y="13755"/>
                </a:moveTo>
                <a:lnTo>
                  <a:pt x="121985" y="13755"/>
                </a:lnTo>
                <a:lnTo>
                  <a:pt x="121985" y="39845"/>
                </a:lnTo>
                <a:lnTo>
                  <a:pt x="150397" y="39845"/>
                </a:lnTo>
                <a:lnTo>
                  <a:pt x="150397" y="13755"/>
                </a:lnTo>
                <a:close/>
                <a:moveTo>
                  <a:pt x="184010" y="75994"/>
                </a:moveTo>
                <a:lnTo>
                  <a:pt x="155598" y="75994"/>
                </a:lnTo>
                <a:lnTo>
                  <a:pt x="155598" y="101525"/>
                </a:lnTo>
                <a:lnTo>
                  <a:pt x="184010" y="101525"/>
                </a:lnTo>
                <a:lnTo>
                  <a:pt x="184010" y="75994"/>
                </a:lnTo>
                <a:close/>
                <a:moveTo>
                  <a:pt x="116827" y="45003"/>
                </a:moveTo>
                <a:lnTo>
                  <a:pt x="88416" y="45003"/>
                </a:lnTo>
                <a:lnTo>
                  <a:pt x="88416" y="70836"/>
                </a:lnTo>
                <a:lnTo>
                  <a:pt x="116827" y="70836"/>
                </a:lnTo>
                <a:lnTo>
                  <a:pt x="116827" y="45003"/>
                </a:lnTo>
                <a:close/>
                <a:moveTo>
                  <a:pt x="150397" y="45003"/>
                </a:moveTo>
                <a:lnTo>
                  <a:pt x="121985" y="45003"/>
                </a:lnTo>
                <a:lnTo>
                  <a:pt x="121985" y="70836"/>
                </a:lnTo>
                <a:lnTo>
                  <a:pt x="150397" y="70836"/>
                </a:lnTo>
                <a:lnTo>
                  <a:pt x="150397" y="45003"/>
                </a:lnTo>
                <a:close/>
                <a:moveTo>
                  <a:pt x="269374" y="87986"/>
                </a:moveTo>
                <a:cubicBezTo>
                  <a:pt x="263184" y="83817"/>
                  <a:pt x="248914" y="82312"/>
                  <a:pt x="237953" y="84375"/>
                </a:cubicBezTo>
                <a:cubicBezTo>
                  <a:pt x="236535" y="74059"/>
                  <a:pt x="230775" y="65076"/>
                  <a:pt x="220287" y="56995"/>
                </a:cubicBezTo>
                <a:lnTo>
                  <a:pt x="214270" y="52998"/>
                </a:lnTo>
                <a:lnTo>
                  <a:pt x="210272" y="59015"/>
                </a:lnTo>
                <a:cubicBezTo>
                  <a:pt x="202363" y="70965"/>
                  <a:pt x="200214" y="90651"/>
                  <a:pt x="208682" y="103632"/>
                </a:cubicBezTo>
                <a:cubicBezTo>
                  <a:pt x="204942" y="105652"/>
                  <a:pt x="197592" y="108403"/>
                  <a:pt x="187878" y="108231"/>
                </a:cubicBezTo>
                <a:lnTo>
                  <a:pt x="1032" y="108231"/>
                </a:lnTo>
                <a:cubicBezTo>
                  <a:pt x="-2708" y="130066"/>
                  <a:pt x="3525" y="158435"/>
                  <a:pt x="19944" y="177906"/>
                </a:cubicBezTo>
                <a:cubicBezTo>
                  <a:pt x="35891" y="196775"/>
                  <a:pt x="59789" y="206361"/>
                  <a:pt x="91038" y="206361"/>
                </a:cubicBezTo>
                <a:cubicBezTo>
                  <a:pt x="158693" y="206361"/>
                  <a:pt x="208768" y="175198"/>
                  <a:pt x="232193" y="118590"/>
                </a:cubicBezTo>
                <a:cubicBezTo>
                  <a:pt x="241392" y="118762"/>
                  <a:pt x="261250" y="118633"/>
                  <a:pt x="271437" y="99161"/>
                </a:cubicBezTo>
                <a:cubicBezTo>
                  <a:pt x="272081" y="98087"/>
                  <a:pt x="274274" y="93488"/>
                  <a:pt x="275090" y="91811"/>
                </a:cubicBezTo>
                <a:lnTo>
                  <a:pt x="269374" y="87986"/>
                </a:lnTo>
                <a:close/>
                <a:moveTo>
                  <a:pt x="49688" y="75994"/>
                </a:moveTo>
                <a:lnTo>
                  <a:pt x="21319" y="75994"/>
                </a:lnTo>
                <a:lnTo>
                  <a:pt x="21319" y="101525"/>
                </a:lnTo>
                <a:lnTo>
                  <a:pt x="49731" y="101525"/>
                </a:lnTo>
                <a:lnTo>
                  <a:pt x="49731" y="75994"/>
                </a:lnTo>
                <a:lnTo>
                  <a:pt x="49688" y="75994"/>
                </a:lnTo>
                <a:close/>
                <a:moveTo>
                  <a:pt x="83258" y="75994"/>
                </a:moveTo>
                <a:lnTo>
                  <a:pt x="54846" y="75994"/>
                </a:lnTo>
                <a:lnTo>
                  <a:pt x="54846" y="101525"/>
                </a:lnTo>
                <a:lnTo>
                  <a:pt x="83258" y="101525"/>
                </a:lnTo>
                <a:lnTo>
                  <a:pt x="83258" y="75994"/>
                </a:lnTo>
                <a:close/>
                <a:moveTo>
                  <a:pt x="116827" y="75994"/>
                </a:moveTo>
                <a:lnTo>
                  <a:pt x="88416" y="75994"/>
                </a:lnTo>
                <a:lnTo>
                  <a:pt x="88416" y="101525"/>
                </a:lnTo>
                <a:lnTo>
                  <a:pt x="116827" y="101525"/>
                </a:lnTo>
                <a:lnTo>
                  <a:pt x="116827" y="75994"/>
                </a:lnTo>
                <a:close/>
                <a:moveTo>
                  <a:pt x="83258" y="45003"/>
                </a:moveTo>
                <a:lnTo>
                  <a:pt x="54846" y="45003"/>
                </a:lnTo>
                <a:lnTo>
                  <a:pt x="54846" y="70836"/>
                </a:lnTo>
                <a:lnTo>
                  <a:pt x="83258" y="70836"/>
                </a:lnTo>
                <a:lnTo>
                  <a:pt x="83258" y="45003"/>
                </a:lnTo>
                <a:close/>
              </a:path>
            </a:pathLst>
          </a:custGeom>
          <a:solidFill>
            <a:srgbClr val="2B7FFF"/>
          </a:solidFill>
          <a:ln/>
        </p:spPr>
      </p:sp>
      <p:sp>
        <p:nvSpPr>
          <p:cNvPr id="10" name="Text 8"/>
          <p:cNvSpPr/>
          <p:nvPr/>
        </p:nvSpPr>
        <p:spPr>
          <a:xfrm>
            <a:off x="1146576" y="2059876"/>
            <a:ext cx="633808" cy="264087"/>
          </a:xfrm>
          <a:prstGeom prst="rect">
            <a:avLst/>
          </a:prstGeom>
          <a:noFill/>
          <a:ln/>
        </p:spPr>
        <p:txBody>
          <a:bodyPr wrap="square" lIns="0" tIns="0" rIns="0" bIns="0" rtlCol="0" anchor="ctr"/>
          <a:lstStyle/>
          <a:p>
            <a:pPr>
              <a:lnSpc>
                <a:spcPct val="130000"/>
              </a:lnSpc>
            </a:pPr>
            <a:r>
              <a:rPr lang="en-US" sz="1386" b="1" dirty="0">
                <a:solidFill>
                  <a:srgbClr val="1D293D"/>
                </a:solidFill>
                <a:latin typeface="Quattrocento Sans" pitchFamily="34" charset="0"/>
                <a:ea typeface="Quattrocento Sans" pitchFamily="34" charset="-122"/>
                <a:cs typeface="Quattrocento Sans" pitchFamily="34" charset="-120"/>
              </a:rPr>
              <a:t>Docker</a:t>
            </a:r>
            <a:endParaRPr lang="en-US" sz="1600" dirty="0"/>
          </a:p>
        </p:txBody>
      </p:sp>
      <p:sp>
        <p:nvSpPr>
          <p:cNvPr id="11" name="Text 9"/>
          <p:cNvSpPr/>
          <p:nvPr/>
        </p:nvSpPr>
        <p:spPr>
          <a:xfrm>
            <a:off x="783457" y="2411991"/>
            <a:ext cx="3281277" cy="440144"/>
          </a:xfrm>
          <a:prstGeom prst="rect">
            <a:avLst/>
          </a:prstGeom>
          <a:noFill/>
          <a:ln/>
        </p:spPr>
        <p:txBody>
          <a:bodyPr wrap="square" lIns="0" tIns="0" rIns="0" bIns="0" rtlCol="0" anchor="ctr"/>
          <a:lstStyle/>
          <a:p>
            <a:pPr>
              <a:lnSpc>
                <a:spcPct val="120000"/>
              </a:lnSpc>
            </a:pPr>
            <a:r>
              <a:rPr lang="en-US" sz="1213" dirty="0">
                <a:solidFill>
                  <a:srgbClr val="45556C"/>
                </a:solidFill>
                <a:latin typeface="Quattrocento Sans" pitchFamily="34" charset="0"/>
                <a:ea typeface="Quattrocento Sans" pitchFamily="34" charset="-122"/>
                <a:cs typeface="Quattrocento Sans" pitchFamily="34" charset="-120"/>
              </a:rPr>
              <a:t>Containerization platform for consistent environments</a:t>
            </a:r>
            <a:endParaRPr lang="en-US" sz="1600" dirty="0"/>
          </a:p>
        </p:txBody>
      </p:sp>
      <p:sp>
        <p:nvSpPr>
          <p:cNvPr id="12" name="Shape 10"/>
          <p:cNvSpPr/>
          <p:nvPr/>
        </p:nvSpPr>
        <p:spPr>
          <a:xfrm>
            <a:off x="4336523" y="1883818"/>
            <a:ext cx="3556367" cy="1144375"/>
          </a:xfrm>
          <a:custGeom>
            <a:avLst/>
            <a:gdLst/>
            <a:ahLst/>
            <a:cxnLst/>
            <a:rect l="l" t="t" r="r" b="b"/>
            <a:pathLst>
              <a:path w="3556367" h="1144375">
                <a:moveTo>
                  <a:pt x="44013" y="0"/>
                </a:moveTo>
                <a:lnTo>
                  <a:pt x="3512354" y="0"/>
                </a:lnTo>
                <a:cubicBezTo>
                  <a:pt x="3536662" y="0"/>
                  <a:pt x="3556367" y="19705"/>
                  <a:pt x="3556367" y="44013"/>
                </a:cubicBezTo>
                <a:lnTo>
                  <a:pt x="3556367" y="1100363"/>
                </a:lnTo>
                <a:cubicBezTo>
                  <a:pt x="3556367" y="1124670"/>
                  <a:pt x="3536662" y="1144375"/>
                  <a:pt x="3512354" y="1144375"/>
                </a:cubicBezTo>
                <a:lnTo>
                  <a:pt x="44013" y="1144375"/>
                </a:lnTo>
                <a:cubicBezTo>
                  <a:pt x="19721" y="1144375"/>
                  <a:pt x="0" y="1124654"/>
                  <a:pt x="0" y="1100363"/>
                </a:cubicBezTo>
                <a:lnTo>
                  <a:pt x="0" y="44013"/>
                </a:lnTo>
                <a:cubicBezTo>
                  <a:pt x="0" y="19721"/>
                  <a:pt x="19721" y="0"/>
                  <a:pt x="44013" y="0"/>
                </a:cubicBezTo>
                <a:close/>
              </a:path>
            </a:pathLst>
          </a:custGeom>
          <a:solidFill>
            <a:srgbClr val="FFFFFF"/>
          </a:solidFill>
          <a:ln/>
          <a:effectLst>
            <a:outerShdw sx="100000" sy="100000" kx="0" ky="0" algn="bl" rotWithShape="0" blurRad="26409" dist="8803" dir="5400000">
              <a:srgbClr val="000000">
                <a:alpha val="10196"/>
              </a:srgbClr>
            </a:outerShdw>
          </a:effectLst>
        </p:spPr>
      </p:sp>
      <p:sp>
        <p:nvSpPr>
          <p:cNvPr id="13" name="Shape 11"/>
          <p:cNvSpPr/>
          <p:nvPr/>
        </p:nvSpPr>
        <p:spPr>
          <a:xfrm>
            <a:off x="4538989" y="2081883"/>
            <a:ext cx="220072" cy="220072"/>
          </a:xfrm>
          <a:custGeom>
            <a:avLst/>
            <a:gdLst/>
            <a:ahLst/>
            <a:cxnLst/>
            <a:rect l="l" t="t" r="r" b="b"/>
            <a:pathLst>
              <a:path w="220072" h="220072">
                <a:moveTo>
                  <a:pt x="83860" y="4083"/>
                </a:moveTo>
                <a:cubicBezTo>
                  <a:pt x="85149" y="-2278"/>
                  <a:pt x="90780" y="-6877"/>
                  <a:pt x="97313" y="-6877"/>
                </a:cubicBezTo>
                <a:lnTo>
                  <a:pt x="123017" y="-6877"/>
                </a:lnTo>
                <a:cubicBezTo>
                  <a:pt x="129550" y="-6877"/>
                  <a:pt x="135181" y="-2278"/>
                  <a:pt x="136471" y="4083"/>
                </a:cubicBezTo>
                <a:lnTo>
                  <a:pt x="142703" y="34171"/>
                </a:lnTo>
                <a:cubicBezTo>
                  <a:pt x="148764" y="36750"/>
                  <a:pt x="154437" y="40060"/>
                  <a:pt x="159595" y="43971"/>
                </a:cubicBezTo>
                <a:lnTo>
                  <a:pt x="188738" y="34300"/>
                </a:lnTo>
                <a:cubicBezTo>
                  <a:pt x="194927" y="32237"/>
                  <a:pt x="201719" y="34816"/>
                  <a:pt x="204985" y="40490"/>
                </a:cubicBezTo>
                <a:lnTo>
                  <a:pt x="217837" y="62755"/>
                </a:lnTo>
                <a:cubicBezTo>
                  <a:pt x="221104" y="68429"/>
                  <a:pt x="219943" y="75564"/>
                  <a:pt x="215043" y="79905"/>
                </a:cubicBezTo>
                <a:lnTo>
                  <a:pt x="192133" y="100279"/>
                </a:lnTo>
                <a:cubicBezTo>
                  <a:pt x="192520" y="103460"/>
                  <a:pt x="192692" y="106726"/>
                  <a:pt x="192692" y="110036"/>
                </a:cubicBezTo>
                <a:cubicBezTo>
                  <a:pt x="192692" y="113346"/>
                  <a:pt x="192477" y="116612"/>
                  <a:pt x="192133" y="119793"/>
                </a:cubicBezTo>
                <a:lnTo>
                  <a:pt x="215086" y="140210"/>
                </a:lnTo>
                <a:cubicBezTo>
                  <a:pt x="219986" y="144551"/>
                  <a:pt x="221104" y="151729"/>
                  <a:pt x="217880" y="157360"/>
                </a:cubicBezTo>
                <a:lnTo>
                  <a:pt x="205028" y="179625"/>
                </a:lnTo>
                <a:cubicBezTo>
                  <a:pt x="201762" y="185256"/>
                  <a:pt x="194970" y="187878"/>
                  <a:pt x="188781" y="185815"/>
                </a:cubicBezTo>
                <a:lnTo>
                  <a:pt x="159638" y="176144"/>
                </a:lnTo>
                <a:cubicBezTo>
                  <a:pt x="154437" y="180055"/>
                  <a:pt x="148764" y="183322"/>
                  <a:pt x="142746" y="185944"/>
                </a:cubicBezTo>
                <a:lnTo>
                  <a:pt x="136557" y="215989"/>
                </a:lnTo>
                <a:cubicBezTo>
                  <a:pt x="135224" y="222393"/>
                  <a:pt x="129593" y="226949"/>
                  <a:pt x="123103" y="226949"/>
                </a:cubicBezTo>
                <a:lnTo>
                  <a:pt x="97399" y="226949"/>
                </a:lnTo>
                <a:cubicBezTo>
                  <a:pt x="90866" y="226949"/>
                  <a:pt x="85235" y="222350"/>
                  <a:pt x="83946" y="215989"/>
                </a:cubicBezTo>
                <a:lnTo>
                  <a:pt x="77756" y="185944"/>
                </a:lnTo>
                <a:cubicBezTo>
                  <a:pt x="71695" y="183365"/>
                  <a:pt x="66065" y="180055"/>
                  <a:pt x="60864" y="176144"/>
                </a:cubicBezTo>
                <a:lnTo>
                  <a:pt x="31592" y="185815"/>
                </a:lnTo>
                <a:cubicBezTo>
                  <a:pt x="25403" y="187878"/>
                  <a:pt x="18612" y="185299"/>
                  <a:pt x="15345" y="179625"/>
                </a:cubicBezTo>
                <a:lnTo>
                  <a:pt x="2493" y="157360"/>
                </a:lnTo>
                <a:cubicBezTo>
                  <a:pt x="-774" y="151686"/>
                  <a:pt x="387" y="144551"/>
                  <a:pt x="5287" y="140210"/>
                </a:cubicBezTo>
                <a:lnTo>
                  <a:pt x="28240" y="119793"/>
                </a:lnTo>
                <a:cubicBezTo>
                  <a:pt x="27853" y="116612"/>
                  <a:pt x="27681" y="113346"/>
                  <a:pt x="27681" y="110036"/>
                </a:cubicBezTo>
                <a:cubicBezTo>
                  <a:pt x="27681" y="106726"/>
                  <a:pt x="27896" y="103460"/>
                  <a:pt x="28240" y="100279"/>
                </a:cubicBezTo>
                <a:lnTo>
                  <a:pt x="5287" y="79862"/>
                </a:lnTo>
                <a:cubicBezTo>
                  <a:pt x="387" y="75521"/>
                  <a:pt x="-731" y="68343"/>
                  <a:pt x="2493" y="62712"/>
                </a:cubicBezTo>
                <a:lnTo>
                  <a:pt x="15345" y="40447"/>
                </a:lnTo>
                <a:cubicBezTo>
                  <a:pt x="18612" y="34773"/>
                  <a:pt x="25403" y="32194"/>
                  <a:pt x="31592" y="34257"/>
                </a:cubicBezTo>
                <a:lnTo>
                  <a:pt x="60735" y="43928"/>
                </a:lnTo>
                <a:cubicBezTo>
                  <a:pt x="65936" y="40017"/>
                  <a:pt x="71609" y="36750"/>
                  <a:pt x="77627" y="34128"/>
                </a:cubicBezTo>
                <a:lnTo>
                  <a:pt x="83860" y="4083"/>
                </a:lnTo>
                <a:close/>
                <a:moveTo>
                  <a:pt x="110165" y="144422"/>
                </a:moveTo>
                <a:cubicBezTo>
                  <a:pt x="122450" y="144376"/>
                  <a:pt x="133777" y="137780"/>
                  <a:pt x="139880" y="127118"/>
                </a:cubicBezTo>
                <a:cubicBezTo>
                  <a:pt x="145983" y="116455"/>
                  <a:pt x="145933" y="103347"/>
                  <a:pt x="139751" y="92731"/>
                </a:cubicBezTo>
                <a:cubicBezTo>
                  <a:pt x="133569" y="82115"/>
                  <a:pt x="122192" y="75604"/>
                  <a:pt x="109907" y="75650"/>
                </a:cubicBezTo>
                <a:cubicBezTo>
                  <a:pt x="97622" y="75696"/>
                  <a:pt x="86295" y="82292"/>
                  <a:pt x="80192" y="92955"/>
                </a:cubicBezTo>
                <a:cubicBezTo>
                  <a:pt x="74090" y="103617"/>
                  <a:pt x="74139" y="116725"/>
                  <a:pt x="80321" y="127341"/>
                </a:cubicBezTo>
                <a:cubicBezTo>
                  <a:pt x="86504" y="137957"/>
                  <a:pt x="97880" y="144468"/>
                  <a:pt x="110165" y="144422"/>
                </a:cubicBezTo>
                <a:close/>
              </a:path>
            </a:pathLst>
          </a:custGeom>
          <a:solidFill>
            <a:srgbClr val="6A7282"/>
          </a:solidFill>
          <a:ln/>
        </p:spPr>
      </p:sp>
      <p:sp>
        <p:nvSpPr>
          <p:cNvPr id="14" name="Text 12"/>
          <p:cNvSpPr/>
          <p:nvPr/>
        </p:nvSpPr>
        <p:spPr>
          <a:xfrm>
            <a:off x="4875700" y="2059876"/>
            <a:ext cx="1364448" cy="264087"/>
          </a:xfrm>
          <a:prstGeom prst="rect">
            <a:avLst/>
          </a:prstGeom>
          <a:noFill/>
          <a:ln/>
        </p:spPr>
        <p:txBody>
          <a:bodyPr wrap="square" lIns="0" tIns="0" rIns="0" bIns="0" rtlCol="0" anchor="ctr"/>
          <a:lstStyle/>
          <a:p>
            <a:pPr>
              <a:lnSpc>
                <a:spcPct val="130000"/>
              </a:lnSpc>
            </a:pPr>
            <a:r>
              <a:rPr lang="en-US" sz="1386" b="1" dirty="0">
                <a:solidFill>
                  <a:srgbClr val="1D293D"/>
                </a:solidFill>
                <a:latin typeface="Quattrocento Sans" pitchFamily="34" charset="0"/>
                <a:ea typeface="Quattrocento Sans" pitchFamily="34" charset="-122"/>
                <a:cs typeface="Quattrocento Sans" pitchFamily="34" charset="-120"/>
              </a:rPr>
              <a:t>Config Managers</a:t>
            </a:r>
            <a:endParaRPr lang="en-US" sz="1600" dirty="0"/>
          </a:p>
        </p:txBody>
      </p:sp>
      <p:sp>
        <p:nvSpPr>
          <p:cNvPr id="15" name="Text 13"/>
          <p:cNvSpPr/>
          <p:nvPr/>
        </p:nvSpPr>
        <p:spPr>
          <a:xfrm>
            <a:off x="4512581" y="2411991"/>
            <a:ext cx="3281277" cy="440144"/>
          </a:xfrm>
          <a:prstGeom prst="rect">
            <a:avLst/>
          </a:prstGeom>
          <a:noFill/>
          <a:ln/>
        </p:spPr>
        <p:txBody>
          <a:bodyPr wrap="square" lIns="0" tIns="0" rIns="0" bIns="0" rtlCol="0" anchor="ctr"/>
          <a:lstStyle/>
          <a:p>
            <a:pPr>
              <a:lnSpc>
                <a:spcPct val="120000"/>
              </a:lnSpc>
            </a:pPr>
            <a:r>
              <a:rPr lang="en-US" sz="1213" dirty="0">
                <a:solidFill>
                  <a:srgbClr val="45556C"/>
                </a:solidFill>
                <a:latin typeface="Quattrocento Sans" pitchFamily="34" charset="0"/>
                <a:ea typeface="Quattrocento Sans" pitchFamily="34" charset="-122"/>
                <a:cs typeface="Quattrocento Sans" pitchFamily="34" charset="-120"/>
              </a:rPr>
              <a:t>Tools like Ansible, Chef for configuration management</a:t>
            </a:r>
            <a:endParaRPr lang="en-US" sz="1600" dirty="0"/>
          </a:p>
        </p:txBody>
      </p:sp>
      <p:sp>
        <p:nvSpPr>
          <p:cNvPr id="16" name="Shape 14"/>
          <p:cNvSpPr/>
          <p:nvPr/>
        </p:nvSpPr>
        <p:spPr>
          <a:xfrm>
            <a:off x="8065646" y="1883818"/>
            <a:ext cx="3556367" cy="1144375"/>
          </a:xfrm>
          <a:custGeom>
            <a:avLst/>
            <a:gdLst/>
            <a:ahLst/>
            <a:cxnLst/>
            <a:rect l="l" t="t" r="r" b="b"/>
            <a:pathLst>
              <a:path w="3556367" h="1144375">
                <a:moveTo>
                  <a:pt x="44013" y="0"/>
                </a:moveTo>
                <a:lnTo>
                  <a:pt x="3512354" y="0"/>
                </a:lnTo>
                <a:cubicBezTo>
                  <a:pt x="3536662" y="0"/>
                  <a:pt x="3556367" y="19705"/>
                  <a:pt x="3556367" y="44013"/>
                </a:cubicBezTo>
                <a:lnTo>
                  <a:pt x="3556367" y="1100363"/>
                </a:lnTo>
                <a:cubicBezTo>
                  <a:pt x="3556367" y="1124670"/>
                  <a:pt x="3536662" y="1144375"/>
                  <a:pt x="3512354" y="1144375"/>
                </a:cubicBezTo>
                <a:lnTo>
                  <a:pt x="44013" y="1144375"/>
                </a:lnTo>
                <a:cubicBezTo>
                  <a:pt x="19721" y="1144375"/>
                  <a:pt x="0" y="1124654"/>
                  <a:pt x="0" y="1100363"/>
                </a:cubicBezTo>
                <a:lnTo>
                  <a:pt x="0" y="44013"/>
                </a:lnTo>
                <a:cubicBezTo>
                  <a:pt x="0" y="19721"/>
                  <a:pt x="19721" y="0"/>
                  <a:pt x="44013" y="0"/>
                </a:cubicBezTo>
                <a:close/>
              </a:path>
            </a:pathLst>
          </a:custGeom>
          <a:solidFill>
            <a:srgbClr val="FFFFFF"/>
          </a:solidFill>
          <a:ln/>
          <a:effectLst>
            <a:outerShdw sx="100000" sy="100000" kx="0" ky="0" algn="bl" rotWithShape="0" blurRad="26409" dist="8803" dir="5400000">
              <a:srgbClr val="000000">
                <a:alpha val="10196"/>
              </a:srgbClr>
            </a:outerShdw>
          </a:effectLst>
        </p:spPr>
      </p:sp>
      <p:sp>
        <p:nvSpPr>
          <p:cNvPr id="17" name="Shape 15"/>
          <p:cNvSpPr/>
          <p:nvPr/>
        </p:nvSpPr>
        <p:spPr>
          <a:xfrm>
            <a:off x="8254358" y="2081883"/>
            <a:ext cx="247581" cy="220072"/>
          </a:xfrm>
          <a:custGeom>
            <a:avLst/>
            <a:gdLst/>
            <a:ahLst/>
            <a:cxnLst/>
            <a:rect l="l" t="t" r="r" b="b"/>
            <a:pathLst>
              <a:path w="247581" h="220072">
                <a:moveTo>
                  <a:pt x="0" y="144422"/>
                </a:moveTo>
                <a:cubicBezTo>
                  <a:pt x="0" y="178594"/>
                  <a:pt x="27724" y="206318"/>
                  <a:pt x="61895" y="206318"/>
                </a:cubicBezTo>
                <a:lnTo>
                  <a:pt x="192563" y="206318"/>
                </a:lnTo>
                <a:cubicBezTo>
                  <a:pt x="222952" y="206318"/>
                  <a:pt x="247581" y="181689"/>
                  <a:pt x="247581" y="151300"/>
                </a:cubicBezTo>
                <a:cubicBezTo>
                  <a:pt x="247581" y="129120"/>
                  <a:pt x="234471" y="109993"/>
                  <a:pt x="215559" y="101311"/>
                </a:cubicBezTo>
                <a:cubicBezTo>
                  <a:pt x="218439" y="95680"/>
                  <a:pt x="220072" y="89275"/>
                  <a:pt x="220072" y="82527"/>
                </a:cubicBezTo>
                <a:cubicBezTo>
                  <a:pt x="220072" y="59746"/>
                  <a:pt x="201590" y="41264"/>
                  <a:pt x="178809" y="41264"/>
                </a:cubicBezTo>
                <a:cubicBezTo>
                  <a:pt x="171201" y="41264"/>
                  <a:pt x="164109" y="43327"/>
                  <a:pt x="158005" y="46894"/>
                </a:cubicBezTo>
                <a:cubicBezTo>
                  <a:pt x="147646" y="27208"/>
                  <a:pt x="126971" y="13755"/>
                  <a:pt x="103159" y="13755"/>
                </a:cubicBezTo>
                <a:cubicBezTo>
                  <a:pt x="68987" y="13755"/>
                  <a:pt x="41264" y="41478"/>
                  <a:pt x="41264" y="75650"/>
                </a:cubicBezTo>
                <a:cubicBezTo>
                  <a:pt x="41264" y="79088"/>
                  <a:pt x="41564" y="82484"/>
                  <a:pt x="42080" y="85751"/>
                </a:cubicBezTo>
                <a:cubicBezTo>
                  <a:pt x="17623" y="94003"/>
                  <a:pt x="0" y="117171"/>
                  <a:pt x="0" y="144422"/>
                </a:cubicBezTo>
                <a:close/>
              </a:path>
            </a:pathLst>
          </a:custGeom>
          <a:solidFill>
            <a:srgbClr val="00A6F4"/>
          </a:solidFill>
          <a:ln/>
        </p:spPr>
      </p:sp>
      <p:sp>
        <p:nvSpPr>
          <p:cNvPr id="18" name="Text 16"/>
          <p:cNvSpPr/>
          <p:nvPr/>
        </p:nvSpPr>
        <p:spPr>
          <a:xfrm>
            <a:off x="8604823" y="2059876"/>
            <a:ext cx="950712" cy="264087"/>
          </a:xfrm>
          <a:prstGeom prst="rect">
            <a:avLst/>
          </a:prstGeom>
          <a:noFill/>
          <a:ln/>
        </p:spPr>
        <p:txBody>
          <a:bodyPr wrap="square" lIns="0" tIns="0" rIns="0" bIns="0" rtlCol="0" anchor="ctr"/>
          <a:lstStyle/>
          <a:p>
            <a:pPr>
              <a:lnSpc>
                <a:spcPct val="130000"/>
              </a:lnSpc>
            </a:pPr>
            <a:r>
              <a:rPr lang="en-US" sz="1386" b="1" dirty="0">
                <a:solidFill>
                  <a:srgbClr val="1D293D"/>
                </a:solidFill>
                <a:latin typeface="Quattrocento Sans" pitchFamily="34" charset="0"/>
                <a:ea typeface="Quattrocento Sans" pitchFamily="34" charset="-122"/>
                <a:cs typeface="Quattrocento Sans" pitchFamily="34" charset="-120"/>
              </a:rPr>
              <a:t>Cloud Sync</a:t>
            </a:r>
            <a:endParaRPr lang="en-US" sz="1600" dirty="0"/>
          </a:p>
        </p:txBody>
      </p:sp>
      <p:sp>
        <p:nvSpPr>
          <p:cNvPr id="19" name="Text 17"/>
          <p:cNvSpPr/>
          <p:nvPr/>
        </p:nvSpPr>
        <p:spPr>
          <a:xfrm>
            <a:off x="8241704" y="2411991"/>
            <a:ext cx="3281277" cy="220072"/>
          </a:xfrm>
          <a:prstGeom prst="rect">
            <a:avLst/>
          </a:prstGeom>
          <a:noFill/>
          <a:ln/>
        </p:spPr>
        <p:txBody>
          <a:bodyPr wrap="square" lIns="0" tIns="0" rIns="0" bIns="0" rtlCol="0" anchor="ctr"/>
          <a:lstStyle/>
          <a:p>
            <a:pPr>
              <a:lnSpc>
                <a:spcPct val="120000"/>
              </a:lnSpc>
            </a:pPr>
            <a:r>
              <a:rPr lang="en-US" sz="1213" dirty="0">
                <a:solidFill>
                  <a:srgbClr val="45556C"/>
                </a:solidFill>
                <a:latin typeface="Quattrocento Sans" pitchFamily="34" charset="0"/>
                <a:ea typeface="Quattrocento Sans" pitchFamily="34" charset="-122"/>
                <a:cs typeface="Quattrocento Sans" pitchFamily="34" charset="-120"/>
              </a:rPr>
              <a:t>Settings sync services from IDEs and editors</a:t>
            </a:r>
            <a:endParaRPr lang="en-US" sz="1600" dirty="0"/>
          </a:p>
        </p:txBody>
      </p:sp>
      <p:sp>
        <p:nvSpPr>
          <p:cNvPr id="20" name="Shape 18"/>
          <p:cNvSpPr/>
          <p:nvPr/>
        </p:nvSpPr>
        <p:spPr>
          <a:xfrm>
            <a:off x="369721" y="3424323"/>
            <a:ext cx="11470163" cy="1496491"/>
          </a:xfrm>
          <a:custGeom>
            <a:avLst/>
            <a:gdLst/>
            <a:ahLst/>
            <a:cxnLst/>
            <a:rect l="l" t="t" r="r" b="b"/>
            <a:pathLst>
              <a:path w="11470163" h="1496491">
                <a:moveTo>
                  <a:pt x="35212" y="0"/>
                </a:moveTo>
                <a:lnTo>
                  <a:pt x="11382140" y="0"/>
                </a:lnTo>
                <a:cubicBezTo>
                  <a:pt x="11430754" y="0"/>
                  <a:pt x="11470163" y="39410"/>
                  <a:pt x="11470163" y="88024"/>
                </a:cubicBezTo>
                <a:lnTo>
                  <a:pt x="11470163" y="1408467"/>
                </a:lnTo>
                <a:cubicBezTo>
                  <a:pt x="11470163" y="1457081"/>
                  <a:pt x="11430754" y="1496491"/>
                  <a:pt x="11382140" y="1496491"/>
                </a:cubicBezTo>
                <a:lnTo>
                  <a:pt x="35212" y="1496491"/>
                </a:lnTo>
                <a:cubicBezTo>
                  <a:pt x="15765" y="1496491"/>
                  <a:pt x="0" y="1480726"/>
                  <a:pt x="0" y="1461279"/>
                </a:cubicBezTo>
                <a:lnTo>
                  <a:pt x="0" y="35212"/>
                </a:lnTo>
                <a:cubicBezTo>
                  <a:pt x="0" y="15778"/>
                  <a:pt x="15778" y="0"/>
                  <a:pt x="35212" y="0"/>
                </a:cubicBezTo>
                <a:close/>
              </a:path>
            </a:pathLst>
          </a:custGeom>
          <a:solidFill>
            <a:srgbClr val="FEF2F2"/>
          </a:solidFill>
          <a:ln/>
        </p:spPr>
      </p:sp>
      <p:sp>
        <p:nvSpPr>
          <p:cNvPr id="21" name="Shape 19"/>
          <p:cNvSpPr/>
          <p:nvPr/>
        </p:nvSpPr>
        <p:spPr>
          <a:xfrm>
            <a:off x="369721" y="3424323"/>
            <a:ext cx="35212" cy="1496491"/>
          </a:xfrm>
          <a:custGeom>
            <a:avLst/>
            <a:gdLst/>
            <a:ahLst/>
            <a:cxnLst/>
            <a:rect l="l" t="t" r="r" b="b"/>
            <a:pathLst>
              <a:path w="35212" h="1496491">
                <a:moveTo>
                  <a:pt x="35212" y="0"/>
                </a:moveTo>
                <a:lnTo>
                  <a:pt x="35212" y="0"/>
                </a:lnTo>
                <a:lnTo>
                  <a:pt x="35212" y="1496491"/>
                </a:lnTo>
                <a:lnTo>
                  <a:pt x="35212" y="1496491"/>
                </a:lnTo>
                <a:cubicBezTo>
                  <a:pt x="15765" y="1496491"/>
                  <a:pt x="0" y="1480726"/>
                  <a:pt x="0" y="1461279"/>
                </a:cubicBezTo>
                <a:lnTo>
                  <a:pt x="0" y="35212"/>
                </a:lnTo>
                <a:cubicBezTo>
                  <a:pt x="0" y="15778"/>
                  <a:pt x="15778" y="0"/>
                  <a:pt x="35212" y="0"/>
                </a:cubicBezTo>
                <a:close/>
              </a:path>
            </a:pathLst>
          </a:custGeom>
          <a:solidFill>
            <a:srgbClr val="FF6467"/>
          </a:solidFill>
          <a:ln/>
        </p:spPr>
      </p:sp>
      <p:sp>
        <p:nvSpPr>
          <p:cNvPr id="22" name="Shape 20"/>
          <p:cNvSpPr/>
          <p:nvPr/>
        </p:nvSpPr>
        <p:spPr>
          <a:xfrm>
            <a:off x="633808" y="3688410"/>
            <a:ext cx="220072" cy="220072"/>
          </a:xfrm>
          <a:custGeom>
            <a:avLst/>
            <a:gdLst/>
            <a:ahLst/>
            <a:cxnLst/>
            <a:rect l="l" t="t" r="r" b="b"/>
            <a:pathLst>
              <a:path w="220072" h="220072">
                <a:moveTo>
                  <a:pt x="110036" y="220072"/>
                </a:moveTo>
                <a:cubicBezTo>
                  <a:pt x="170767" y="220072"/>
                  <a:pt x="220072" y="170767"/>
                  <a:pt x="220072" y="110036"/>
                </a:cubicBezTo>
                <a:cubicBezTo>
                  <a:pt x="220072" y="49306"/>
                  <a:pt x="170767" y="0"/>
                  <a:pt x="110036" y="0"/>
                </a:cubicBezTo>
                <a:cubicBezTo>
                  <a:pt x="49306" y="0"/>
                  <a:pt x="0" y="49306"/>
                  <a:pt x="0" y="110036"/>
                </a:cubicBezTo>
                <a:cubicBezTo>
                  <a:pt x="0" y="170767"/>
                  <a:pt x="49306" y="220072"/>
                  <a:pt x="110036" y="220072"/>
                </a:cubicBezTo>
                <a:close/>
                <a:moveTo>
                  <a:pt x="110036" y="58457"/>
                </a:moveTo>
                <a:cubicBezTo>
                  <a:pt x="115753" y="58457"/>
                  <a:pt x="120352" y="63056"/>
                  <a:pt x="120352" y="68773"/>
                </a:cubicBezTo>
                <a:lnTo>
                  <a:pt x="120352" y="116913"/>
                </a:lnTo>
                <a:cubicBezTo>
                  <a:pt x="120352" y="122630"/>
                  <a:pt x="115753" y="127229"/>
                  <a:pt x="110036" y="127229"/>
                </a:cubicBezTo>
                <a:cubicBezTo>
                  <a:pt x="104319" y="127229"/>
                  <a:pt x="99720" y="122630"/>
                  <a:pt x="99720" y="116913"/>
                </a:cubicBezTo>
                <a:lnTo>
                  <a:pt x="99720" y="68773"/>
                </a:lnTo>
                <a:cubicBezTo>
                  <a:pt x="99720" y="63056"/>
                  <a:pt x="104319" y="58457"/>
                  <a:pt x="110036" y="58457"/>
                </a:cubicBezTo>
                <a:close/>
                <a:moveTo>
                  <a:pt x="98560" y="151300"/>
                </a:moveTo>
                <a:cubicBezTo>
                  <a:pt x="98299" y="147040"/>
                  <a:pt x="100423" y="142987"/>
                  <a:pt x="104075" y="140778"/>
                </a:cubicBezTo>
                <a:cubicBezTo>
                  <a:pt x="107727" y="138569"/>
                  <a:pt x="112303" y="138569"/>
                  <a:pt x="115954" y="140778"/>
                </a:cubicBezTo>
                <a:cubicBezTo>
                  <a:pt x="119606" y="142987"/>
                  <a:pt x="121731" y="147040"/>
                  <a:pt x="121470" y="151300"/>
                </a:cubicBezTo>
                <a:cubicBezTo>
                  <a:pt x="121731" y="155560"/>
                  <a:pt x="119606" y="159612"/>
                  <a:pt x="115954" y="161821"/>
                </a:cubicBezTo>
                <a:cubicBezTo>
                  <a:pt x="112303" y="164030"/>
                  <a:pt x="107727" y="164030"/>
                  <a:pt x="104075" y="161821"/>
                </a:cubicBezTo>
                <a:cubicBezTo>
                  <a:pt x="100423" y="159612"/>
                  <a:pt x="98299" y="155560"/>
                  <a:pt x="98560" y="151300"/>
                </a:cubicBezTo>
                <a:close/>
              </a:path>
            </a:pathLst>
          </a:custGeom>
          <a:solidFill>
            <a:srgbClr val="FB2C36"/>
          </a:solidFill>
          <a:ln/>
        </p:spPr>
      </p:sp>
      <p:sp>
        <p:nvSpPr>
          <p:cNvPr id="23" name="Text 21"/>
          <p:cNvSpPr/>
          <p:nvPr/>
        </p:nvSpPr>
        <p:spPr>
          <a:xfrm>
            <a:off x="880289" y="3644396"/>
            <a:ext cx="10849560" cy="308101"/>
          </a:xfrm>
          <a:prstGeom prst="rect">
            <a:avLst/>
          </a:prstGeom>
          <a:noFill/>
          <a:ln/>
        </p:spPr>
        <p:txBody>
          <a:bodyPr wrap="square" lIns="0" tIns="0" rIns="0" bIns="0" rtlCol="0" anchor="ctr"/>
          <a:lstStyle/>
          <a:p>
            <a:pPr>
              <a:lnSpc>
                <a:spcPct val="120000"/>
              </a:lnSpc>
            </a:pPr>
            <a:r>
              <a:rPr lang="en-US" sz="1733" b="1" dirty="0">
                <a:solidFill>
                  <a:srgbClr val="1D293D"/>
                </a:solidFill>
                <a:latin typeface="Quattrocento Sans" pitchFamily="34" charset="0"/>
                <a:ea typeface="Quattrocento Sans" pitchFamily="34" charset="-122"/>
                <a:cs typeface="Quattrocento Sans" pitchFamily="34" charset="-120"/>
              </a:rPr>
              <a:t>Limitations of Existing Approaches</a:t>
            </a:r>
            <a:endParaRPr lang="en-US" sz="1600" dirty="0"/>
          </a:p>
        </p:txBody>
      </p:sp>
      <p:sp>
        <p:nvSpPr>
          <p:cNvPr id="24" name="Shape 22"/>
          <p:cNvSpPr/>
          <p:nvPr/>
        </p:nvSpPr>
        <p:spPr>
          <a:xfrm>
            <a:off x="640410" y="4128555"/>
            <a:ext cx="154051" cy="176058"/>
          </a:xfrm>
          <a:custGeom>
            <a:avLst/>
            <a:gdLst/>
            <a:ahLst/>
            <a:cxnLst/>
            <a:rect l="l" t="t" r="r" b="b"/>
            <a:pathLst>
              <a:path w="154051" h="176058">
                <a:moveTo>
                  <a:pt x="0" y="88029"/>
                </a:moveTo>
                <a:cubicBezTo>
                  <a:pt x="0" y="81943"/>
                  <a:pt x="4917" y="77025"/>
                  <a:pt x="11004" y="77025"/>
                </a:cubicBezTo>
                <a:lnTo>
                  <a:pt x="143047" y="77025"/>
                </a:lnTo>
                <a:cubicBezTo>
                  <a:pt x="149133" y="77025"/>
                  <a:pt x="154051" y="81943"/>
                  <a:pt x="154051" y="88029"/>
                </a:cubicBezTo>
                <a:cubicBezTo>
                  <a:pt x="154051" y="94115"/>
                  <a:pt x="149133" y="99032"/>
                  <a:pt x="143047" y="99032"/>
                </a:cubicBezTo>
                <a:lnTo>
                  <a:pt x="11004" y="99032"/>
                </a:lnTo>
                <a:cubicBezTo>
                  <a:pt x="4917" y="99032"/>
                  <a:pt x="0" y="94115"/>
                  <a:pt x="0" y="88029"/>
                </a:cubicBezTo>
                <a:close/>
              </a:path>
            </a:pathLst>
          </a:custGeom>
          <a:solidFill>
            <a:srgbClr val="FF6467"/>
          </a:solidFill>
          <a:ln/>
        </p:spPr>
      </p:sp>
      <p:sp>
        <p:nvSpPr>
          <p:cNvPr id="25" name="Text 23"/>
          <p:cNvSpPr/>
          <p:nvPr/>
        </p:nvSpPr>
        <p:spPr>
          <a:xfrm>
            <a:off x="915500" y="4084540"/>
            <a:ext cx="3873271" cy="264087"/>
          </a:xfrm>
          <a:prstGeom prst="rect">
            <a:avLst/>
          </a:prstGeom>
          <a:noFill/>
          <a:ln/>
        </p:spPr>
        <p:txBody>
          <a:bodyPr wrap="square" lIns="0" tIns="0" rIns="0" bIns="0" rtlCol="0" anchor="ctr"/>
          <a:lstStyle/>
          <a:p>
            <a:pPr>
              <a:lnSpc>
                <a:spcPct val="130000"/>
              </a:lnSpc>
            </a:pPr>
            <a:r>
              <a:rPr lang="en-US" sz="1386" dirty="0">
                <a:solidFill>
                  <a:srgbClr val="314158"/>
                </a:solidFill>
                <a:latin typeface="Quattrocento Sans" pitchFamily="34" charset="0"/>
                <a:ea typeface="Quattrocento Sans" pitchFamily="34" charset="-122"/>
                <a:cs typeface="Quattrocento Sans" pitchFamily="34" charset="-120"/>
              </a:rPr>
              <a:t>Docker requires significant resources and learning</a:t>
            </a:r>
            <a:endParaRPr lang="en-US" sz="1600" dirty="0"/>
          </a:p>
        </p:txBody>
      </p:sp>
      <p:sp>
        <p:nvSpPr>
          <p:cNvPr id="26" name="Shape 24"/>
          <p:cNvSpPr/>
          <p:nvPr/>
        </p:nvSpPr>
        <p:spPr>
          <a:xfrm>
            <a:off x="640410" y="4480670"/>
            <a:ext cx="154051" cy="176058"/>
          </a:xfrm>
          <a:custGeom>
            <a:avLst/>
            <a:gdLst/>
            <a:ahLst/>
            <a:cxnLst/>
            <a:rect l="l" t="t" r="r" b="b"/>
            <a:pathLst>
              <a:path w="154051" h="176058">
                <a:moveTo>
                  <a:pt x="0" y="88029"/>
                </a:moveTo>
                <a:cubicBezTo>
                  <a:pt x="0" y="81943"/>
                  <a:pt x="4917" y="77025"/>
                  <a:pt x="11004" y="77025"/>
                </a:cubicBezTo>
                <a:lnTo>
                  <a:pt x="143047" y="77025"/>
                </a:lnTo>
                <a:cubicBezTo>
                  <a:pt x="149133" y="77025"/>
                  <a:pt x="154051" y="81943"/>
                  <a:pt x="154051" y="88029"/>
                </a:cubicBezTo>
                <a:cubicBezTo>
                  <a:pt x="154051" y="94115"/>
                  <a:pt x="149133" y="99032"/>
                  <a:pt x="143047" y="99032"/>
                </a:cubicBezTo>
                <a:lnTo>
                  <a:pt x="11004" y="99032"/>
                </a:lnTo>
                <a:cubicBezTo>
                  <a:pt x="4917" y="99032"/>
                  <a:pt x="0" y="94115"/>
                  <a:pt x="0" y="88029"/>
                </a:cubicBezTo>
                <a:close/>
              </a:path>
            </a:pathLst>
          </a:custGeom>
          <a:solidFill>
            <a:srgbClr val="FF6467"/>
          </a:solidFill>
          <a:ln/>
        </p:spPr>
      </p:sp>
      <p:sp>
        <p:nvSpPr>
          <p:cNvPr id="27" name="Text 25"/>
          <p:cNvSpPr/>
          <p:nvPr/>
        </p:nvSpPr>
        <p:spPr>
          <a:xfrm>
            <a:off x="915500" y="4436656"/>
            <a:ext cx="3617987" cy="264087"/>
          </a:xfrm>
          <a:prstGeom prst="rect">
            <a:avLst/>
          </a:prstGeom>
          <a:noFill/>
          <a:ln/>
        </p:spPr>
        <p:txBody>
          <a:bodyPr wrap="square" lIns="0" tIns="0" rIns="0" bIns="0" rtlCol="0" anchor="ctr"/>
          <a:lstStyle/>
          <a:p>
            <a:pPr>
              <a:lnSpc>
                <a:spcPct val="130000"/>
              </a:lnSpc>
            </a:pPr>
            <a:r>
              <a:rPr lang="en-US" sz="1386" dirty="0">
                <a:solidFill>
                  <a:srgbClr val="314158"/>
                </a:solidFill>
                <a:latin typeface="Quattrocento Sans" pitchFamily="34" charset="0"/>
                <a:ea typeface="Quattrocento Sans" pitchFamily="34" charset="-122"/>
                <a:cs typeface="Quattrocento Sans" pitchFamily="34" charset="-120"/>
              </a:rPr>
              <a:t>Config managers are complex for personal use</a:t>
            </a:r>
            <a:endParaRPr lang="en-US" sz="1600" dirty="0"/>
          </a:p>
        </p:txBody>
      </p:sp>
      <p:sp>
        <p:nvSpPr>
          <p:cNvPr id="28" name="Shape 26"/>
          <p:cNvSpPr/>
          <p:nvPr/>
        </p:nvSpPr>
        <p:spPr>
          <a:xfrm>
            <a:off x="6234095" y="4128555"/>
            <a:ext cx="154051" cy="176058"/>
          </a:xfrm>
          <a:custGeom>
            <a:avLst/>
            <a:gdLst/>
            <a:ahLst/>
            <a:cxnLst/>
            <a:rect l="l" t="t" r="r" b="b"/>
            <a:pathLst>
              <a:path w="154051" h="176058">
                <a:moveTo>
                  <a:pt x="0" y="88029"/>
                </a:moveTo>
                <a:cubicBezTo>
                  <a:pt x="0" y="81943"/>
                  <a:pt x="4917" y="77025"/>
                  <a:pt x="11004" y="77025"/>
                </a:cubicBezTo>
                <a:lnTo>
                  <a:pt x="143047" y="77025"/>
                </a:lnTo>
                <a:cubicBezTo>
                  <a:pt x="149133" y="77025"/>
                  <a:pt x="154051" y="81943"/>
                  <a:pt x="154051" y="88029"/>
                </a:cubicBezTo>
                <a:cubicBezTo>
                  <a:pt x="154051" y="94115"/>
                  <a:pt x="149133" y="99032"/>
                  <a:pt x="143047" y="99032"/>
                </a:cubicBezTo>
                <a:lnTo>
                  <a:pt x="11004" y="99032"/>
                </a:lnTo>
                <a:cubicBezTo>
                  <a:pt x="4917" y="99032"/>
                  <a:pt x="0" y="94115"/>
                  <a:pt x="0" y="88029"/>
                </a:cubicBezTo>
                <a:close/>
              </a:path>
            </a:pathLst>
          </a:custGeom>
          <a:solidFill>
            <a:srgbClr val="FF6467"/>
          </a:solidFill>
          <a:ln/>
        </p:spPr>
      </p:sp>
      <p:sp>
        <p:nvSpPr>
          <p:cNvPr id="29" name="Text 27"/>
          <p:cNvSpPr/>
          <p:nvPr/>
        </p:nvSpPr>
        <p:spPr>
          <a:xfrm>
            <a:off x="6509186" y="4084540"/>
            <a:ext cx="2887347" cy="264087"/>
          </a:xfrm>
          <a:prstGeom prst="rect">
            <a:avLst/>
          </a:prstGeom>
          <a:noFill/>
          <a:ln/>
        </p:spPr>
        <p:txBody>
          <a:bodyPr wrap="square" lIns="0" tIns="0" rIns="0" bIns="0" rtlCol="0" anchor="ctr"/>
          <a:lstStyle/>
          <a:p>
            <a:pPr>
              <a:lnSpc>
                <a:spcPct val="130000"/>
              </a:lnSpc>
            </a:pPr>
            <a:r>
              <a:rPr lang="en-US" sz="1386" dirty="0">
                <a:solidFill>
                  <a:srgbClr val="314158"/>
                </a:solidFill>
                <a:latin typeface="Quattrocento Sans" pitchFamily="34" charset="0"/>
                <a:ea typeface="Quattrocento Sans" pitchFamily="34" charset="-122"/>
                <a:cs typeface="Quattrocento Sans" pitchFamily="34" charset="-120"/>
              </a:rPr>
              <a:t>Cloud sync limited to specific editors</a:t>
            </a:r>
            <a:endParaRPr lang="en-US" sz="1600" dirty="0"/>
          </a:p>
        </p:txBody>
      </p:sp>
      <p:sp>
        <p:nvSpPr>
          <p:cNvPr id="30" name="Shape 28"/>
          <p:cNvSpPr/>
          <p:nvPr/>
        </p:nvSpPr>
        <p:spPr>
          <a:xfrm>
            <a:off x="6234095" y="4480670"/>
            <a:ext cx="154051" cy="176058"/>
          </a:xfrm>
          <a:custGeom>
            <a:avLst/>
            <a:gdLst/>
            <a:ahLst/>
            <a:cxnLst/>
            <a:rect l="l" t="t" r="r" b="b"/>
            <a:pathLst>
              <a:path w="154051" h="176058">
                <a:moveTo>
                  <a:pt x="0" y="88029"/>
                </a:moveTo>
                <a:cubicBezTo>
                  <a:pt x="0" y="81943"/>
                  <a:pt x="4917" y="77025"/>
                  <a:pt x="11004" y="77025"/>
                </a:cubicBezTo>
                <a:lnTo>
                  <a:pt x="143047" y="77025"/>
                </a:lnTo>
                <a:cubicBezTo>
                  <a:pt x="149133" y="77025"/>
                  <a:pt x="154051" y="81943"/>
                  <a:pt x="154051" y="88029"/>
                </a:cubicBezTo>
                <a:cubicBezTo>
                  <a:pt x="154051" y="94115"/>
                  <a:pt x="149133" y="99032"/>
                  <a:pt x="143047" y="99032"/>
                </a:cubicBezTo>
                <a:lnTo>
                  <a:pt x="11004" y="99032"/>
                </a:lnTo>
                <a:cubicBezTo>
                  <a:pt x="4917" y="99032"/>
                  <a:pt x="0" y="94115"/>
                  <a:pt x="0" y="88029"/>
                </a:cubicBezTo>
                <a:close/>
              </a:path>
            </a:pathLst>
          </a:custGeom>
          <a:solidFill>
            <a:srgbClr val="FF6467"/>
          </a:solidFill>
          <a:ln/>
        </p:spPr>
      </p:sp>
      <p:sp>
        <p:nvSpPr>
          <p:cNvPr id="31" name="Text 29"/>
          <p:cNvSpPr/>
          <p:nvPr/>
        </p:nvSpPr>
        <p:spPr>
          <a:xfrm>
            <a:off x="6509186" y="4436656"/>
            <a:ext cx="3397915" cy="264087"/>
          </a:xfrm>
          <a:prstGeom prst="rect">
            <a:avLst/>
          </a:prstGeom>
          <a:noFill/>
          <a:ln/>
        </p:spPr>
        <p:txBody>
          <a:bodyPr wrap="square" lIns="0" tIns="0" rIns="0" bIns="0" rtlCol="0" anchor="ctr"/>
          <a:lstStyle/>
          <a:p>
            <a:pPr>
              <a:lnSpc>
                <a:spcPct val="130000"/>
              </a:lnSpc>
            </a:pPr>
            <a:r>
              <a:rPr lang="en-US" sz="1386" dirty="0">
                <a:solidFill>
                  <a:srgbClr val="314158"/>
                </a:solidFill>
                <a:latin typeface="Quattrocento Sans" pitchFamily="34" charset="0"/>
                <a:ea typeface="Quattrocento Sans" pitchFamily="34" charset="-122"/>
                <a:cs typeface="Quattrocento Sans" pitchFamily="34" charset="-120"/>
              </a:rPr>
              <a:t>Many solutions lack cross-platform support</a:t>
            </a:r>
            <a:endParaRPr lang="en-US" sz="1600" dirty="0"/>
          </a:p>
        </p:txBody>
      </p:sp>
      <p:sp>
        <p:nvSpPr>
          <p:cNvPr id="32" name="Shape 30"/>
          <p:cNvSpPr/>
          <p:nvPr/>
        </p:nvSpPr>
        <p:spPr>
          <a:xfrm>
            <a:off x="369721" y="5096872"/>
            <a:ext cx="11470163" cy="1408462"/>
          </a:xfrm>
          <a:custGeom>
            <a:avLst/>
            <a:gdLst/>
            <a:ahLst/>
            <a:cxnLst/>
            <a:rect l="l" t="t" r="r" b="b"/>
            <a:pathLst>
              <a:path w="11470163" h="1408462">
                <a:moveTo>
                  <a:pt x="35212" y="0"/>
                </a:moveTo>
                <a:lnTo>
                  <a:pt x="11382134" y="0"/>
                </a:lnTo>
                <a:cubicBezTo>
                  <a:pt x="11430751" y="0"/>
                  <a:pt x="11470163" y="39412"/>
                  <a:pt x="11470163" y="88029"/>
                </a:cubicBezTo>
                <a:lnTo>
                  <a:pt x="11470163" y="1320433"/>
                </a:lnTo>
                <a:cubicBezTo>
                  <a:pt x="11470163" y="1369050"/>
                  <a:pt x="11430751" y="1408462"/>
                  <a:pt x="11382134" y="1408462"/>
                </a:cubicBezTo>
                <a:lnTo>
                  <a:pt x="35212" y="1408462"/>
                </a:lnTo>
                <a:cubicBezTo>
                  <a:pt x="15765" y="1408462"/>
                  <a:pt x="0" y="1392697"/>
                  <a:pt x="0" y="1373251"/>
                </a:cubicBezTo>
                <a:lnTo>
                  <a:pt x="0" y="35212"/>
                </a:lnTo>
                <a:cubicBezTo>
                  <a:pt x="0" y="15778"/>
                  <a:pt x="15778" y="0"/>
                  <a:pt x="35212" y="0"/>
                </a:cubicBezTo>
                <a:close/>
              </a:path>
            </a:pathLst>
          </a:custGeom>
          <a:solidFill>
            <a:srgbClr val="F0FDF4"/>
          </a:solidFill>
          <a:ln/>
        </p:spPr>
      </p:sp>
      <p:sp>
        <p:nvSpPr>
          <p:cNvPr id="33" name="Shape 31"/>
          <p:cNvSpPr/>
          <p:nvPr/>
        </p:nvSpPr>
        <p:spPr>
          <a:xfrm>
            <a:off x="369721" y="5096872"/>
            <a:ext cx="35212" cy="1408462"/>
          </a:xfrm>
          <a:custGeom>
            <a:avLst/>
            <a:gdLst/>
            <a:ahLst/>
            <a:cxnLst/>
            <a:rect l="l" t="t" r="r" b="b"/>
            <a:pathLst>
              <a:path w="35212" h="1408462">
                <a:moveTo>
                  <a:pt x="35212" y="0"/>
                </a:moveTo>
                <a:lnTo>
                  <a:pt x="35212" y="0"/>
                </a:lnTo>
                <a:lnTo>
                  <a:pt x="35212" y="1408462"/>
                </a:lnTo>
                <a:lnTo>
                  <a:pt x="35212" y="1408462"/>
                </a:lnTo>
                <a:cubicBezTo>
                  <a:pt x="15765" y="1408462"/>
                  <a:pt x="0" y="1392697"/>
                  <a:pt x="0" y="1373251"/>
                </a:cubicBezTo>
                <a:lnTo>
                  <a:pt x="0" y="35212"/>
                </a:lnTo>
                <a:cubicBezTo>
                  <a:pt x="0" y="15778"/>
                  <a:pt x="15778" y="0"/>
                  <a:pt x="35212" y="0"/>
                </a:cubicBezTo>
                <a:close/>
              </a:path>
            </a:pathLst>
          </a:custGeom>
          <a:solidFill>
            <a:srgbClr val="05DF72"/>
          </a:solidFill>
          <a:ln/>
        </p:spPr>
      </p:sp>
      <p:sp>
        <p:nvSpPr>
          <p:cNvPr id="34" name="Shape 32"/>
          <p:cNvSpPr/>
          <p:nvPr/>
        </p:nvSpPr>
        <p:spPr>
          <a:xfrm>
            <a:off x="620053" y="5360959"/>
            <a:ext cx="247581" cy="220072"/>
          </a:xfrm>
          <a:custGeom>
            <a:avLst/>
            <a:gdLst/>
            <a:ahLst/>
            <a:cxnLst/>
            <a:rect l="l" t="t" r="r" b="b"/>
            <a:pathLst>
              <a:path w="247581" h="220072">
                <a:moveTo>
                  <a:pt x="133032" y="-8124"/>
                </a:moveTo>
                <a:cubicBezTo>
                  <a:pt x="131270" y="-11562"/>
                  <a:pt x="127702" y="-13755"/>
                  <a:pt x="123834" y="-13755"/>
                </a:cubicBezTo>
                <a:cubicBezTo>
                  <a:pt x="119965" y="-13755"/>
                  <a:pt x="116398" y="-11562"/>
                  <a:pt x="114635" y="-8124"/>
                </a:cubicBezTo>
                <a:lnTo>
                  <a:pt x="83000" y="53858"/>
                </a:lnTo>
                <a:lnTo>
                  <a:pt x="14270" y="64775"/>
                </a:lnTo>
                <a:cubicBezTo>
                  <a:pt x="10445" y="65377"/>
                  <a:pt x="7264" y="68085"/>
                  <a:pt x="6061" y="71781"/>
                </a:cubicBezTo>
                <a:cubicBezTo>
                  <a:pt x="4857" y="75478"/>
                  <a:pt x="5846" y="79518"/>
                  <a:pt x="8554" y="82269"/>
                </a:cubicBezTo>
                <a:lnTo>
                  <a:pt x="57726" y="131485"/>
                </a:lnTo>
                <a:lnTo>
                  <a:pt x="46894" y="200214"/>
                </a:lnTo>
                <a:cubicBezTo>
                  <a:pt x="46293" y="204040"/>
                  <a:pt x="47883" y="207908"/>
                  <a:pt x="51021" y="210186"/>
                </a:cubicBezTo>
                <a:cubicBezTo>
                  <a:pt x="54158" y="212464"/>
                  <a:pt x="58285" y="212808"/>
                  <a:pt x="61766" y="211046"/>
                </a:cubicBezTo>
                <a:lnTo>
                  <a:pt x="123834" y="179496"/>
                </a:lnTo>
                <a:lnTo>
                  <a:pt x="185858" y="211046"/>
                </a:lnTo>
                <a:cubicBezTo>
                  <a:pt x="189296" y="212808"/>
                  <a:pt x="193466" y="212464"/>
                  <a:pt x="196604" y="210186"/>
                </a:cubicBezTo>
                <a:cubicBezTo>
                  <a:pt x="199741" y="207908"/>
                  <a:pt x="201332" y="204083"/>
                  <a:pt x="200730" y="200214"/>
                </a:cubicBezTo>
                <a:lnTo>
                  <a:pt x="189855" y="131485"/>
                </a:lnTo>
                <a:lnTo>
                  <a:pt x="239028" y="82269"/>
                </a:lnTo>
                <a:cubicBezTo>
                  <a:pt x="241779" y="79518"/>
                  <a:pt x="242724" y="75478"/>
                  <a:pt x="241521" y="71781"/>
                </a:cubicBezTo>
                <a:cubicBezTo>
                  <a:pt x="240317" y="68085"/>
                  <a:pt x="237179" y="65377"/>
                  <a:pt x="233311" y="64775"/>
                </a:cubicBezTo>
                <a:lnTo>
                  <a:pt x="164624" y="53858"/>
                </a:lnTo>
                <a:lnTo>
                  <a:pt x="133032" y="-8124"/>
                </a:lnTo>
                <a:close/>
              </a:path>
            </a:pathLst>
          </a:custGeom>
          <a:solidFill>
            <a:srgbClr val="00C950"/>
          </a:solidFill>
          <a:ln/>
        </p:spPr>
      </p:sp>
      <p:sp>
        <p:nvSpPr>
          <p:cNvPr id="35" name="Text 33"/>
          <p:cNvSpPr/>
          <p:nvPr/>
        </p:nvSpPr>
        <p:spPr>
          <a:xfrm>
            <a:off x="880289" y="5316944"/>
            <a:ext cx="10849560" cy="308101"/>
          </a:xfrm>
          <a:prstGeom prst="rect">
            <a:avLst/>
          </a:prstGeom>
          <a:noFill/>
          <a:ln/>
        </p:spPr>
        <p:txBody>
          <a:bodyPr wrap="square" lIns="0" tIns="0" rIns="0" bIns="0" rtlCol="0" anchor="ctr"/>
          <a:lstStyle/>
          <a:p>
            <a:pPr>
              <a:lnSpc>
                <a:spcPct val="120000"/>
              </a:lnSpc>
            </a:pPr>
            <a:r>
              <a:rPr lang="en-US" sz="1733" b="1" dirty="0">
                <a:solidFill>
                  <a:srgbClr val="1D293D"/>
                </a:solidFill>
                <a:latin typeface="Quattrocento Sans" pitchFamily="34" charset="0"/>
                <a:ea typeface="Quattrocento Sans" pitchFamily="34" charset="-122"/>
                <a:cs typeface="Quattrocento Sans" pitchFamily="34" charset="-120"/>
              </a:rPr>
              <a:t>Need for a Simpler Alternative</a:t>
            </a:r>
            <a:endParaRPr lang="en-US" sz="1600" dirty="0"/>
          </a:p>
        </p:txBody>
      </p:sp>
      <p:sp>
        <p:nvSpPr>
          <p:cNvPr id="36" name="Text 34"/>
          <p:cNvSpPr/>
          <p:nvPr/>
        </p:nvSpPr>
        <p:spPr>
          <a:xfrm>
            <a:off x="607399" y="5713074"/>
            <a:ext cx="11100442" cy="572188"/>
          </a:xfrm>
          <a:prstGeom prst="rect">
            <a:avLst/>
          </a:prstGeom>
          <a:noFill/>
          <a:ln/>
        </p:spPr>
        <p:txBody>
          <a:bodyPr wrap="square" lIns="0" tIns="0" rIns="0" bIns="0" rtlCol="0" anchor="ctr"/>
          <a:lstStyle/>
          <a:p>
            <a:pPr>
              <a:lnSpc>
                <a:spcPct val="140000"/>
              </a:lnSpc>
            </a:pPr>
            <a:r>
              <a:rPr lang="en-US" sz="1386" dirty="0">
                <a:solidFill>
                  <a:srgbClr val="314158"/>
                </a:solidFill>
                <a:latin typeface="Quattrocento Sans" pitchFamily="34" charset="0"/>
                <a:ea typeface="Quattrocento Sans" pitchFamily="34" charset="-122"/>
                <a:cs typeface="Quattrocento Sans" pitchFamily="34" charset="-120"/>
              </a:rPr>
              <a:t>A lightweight, transparent solution using native OS scripting provides the simplicity and control that developers need for personal environment management without the overhead of enterprise tools.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1019175"/>
            <a:ext cx="2457450" cy="38100"/>
          </a:xfrm>
          <a:custGeom>
            <a:avLst/>
            <a:gdLst/>
            <a:ahLst/>
            <a:cxnLst/>
            <a:rect l="l" t="t" r="r" b="b"/>
            <a:pathLst>
              <a:path w="2457450" h="38100">
                <a:moveTo>
                  <a:pt x="0" y="0"/>
                </a:moveTo>
                <a:lnTo>
                  <a:pt x="2457450" y="0"/>
                </a:lnTo>
                <a:lnTo>
                  <a:pt x="2457450" y="38100"/>
                </a:lnTo>
                <a:lnTo>
                  <a:pt x="0" y="38100"/>
                </a:lnTo>
                <a:lnTo>
                  <a:pt x="0" y="0"/>
                </a:lnTo>
                <a:close/>
              </a:path>
            </a:pathLst>
          </a:custGeom>
          <a:solidFill>
            <a:srgbClr val="2B7FFF"/>
          </a:solidFill>
          <a:ln/>
        </p:spPr>
      </p:sp>
      <p:sp>
        <p:nvSpPr>
          <p:cNvPr id="3" name="Text 1"/>
          <p:cNvSpPr/>
          <p:nvPr/>
        </p:nvSpPr>
        <p:spPr>
          <a:xfrm>
            <a:off x="381000" y="381000"/>
            <a:ext cx="2671763" cy="619125"/>
          </a:xfrm>
          <a:prstGeom prst="rect">
            <a:avLst/>
          </a:prstGeom>
          <a:noFill/>
          <a:ln/>
        </p:spPr>
        <p:txBody>
          <a:bodyPr wrap="square" lIns="0" tIns="0" rIns="0" bIns="142875" rtlCol="0" anchor="ctr"/>
          <a:lstStyle/>
          <a:p>
            <a:pPr>
              <a:lnSpc>
                <a:spcPct val="90000"/>
              </a:lnSpc>
            </a:pPr>
            <a:r>
              <a:rPr lang="en-US" sz="3375" b="1" dirty="0">
                <a:solidFill>
                  <a:srgbClr val="1D293D"/>
                </a:solidFill>
                <a:latin typeface="Quattrocento Sans" pitchFamily="34" charset="0"/>
                <a:ea typeface="Quattrocento Sans" pitchFamily="34" charset="-122"/>
                <a:cs typeface="Quattrocento Sans" pitchFamily="34" charset="-120"/>
              </a:rPr>
              <a:t>Methodology</a:t>
            </a:r>
            <a:endParaRPr lang="en-US" sz="1600" dirty="0"/>
          </a:p>
        </p:txBody>
      </p:sp>
      <p:sp>
        <p:nvSpPr>
          <p:cNvPr id="4" name="Shape 2"/>
          <p:cNvSpPr/>
          <p:nvPr/>
        </p:nvSpPr>
        <p:spPr>
          <a:xfrm>
            <a:off x="381000" y="1323975"/>
            <a:ext cx="5600700" cy="2428875"/>
          </a:xfrm>
          <a:custGeom>
            <a:avLst/>
            <a:gdLst/>
            <a:ahLst/>
            <a:cxnLst/>
            <a:rect l="l" t="t" r="r" b="b"/>
            <a:pathLst>
              <a:path w="5600700" h="2428875">
                <a:moveTo>
                  <a:pt x="95260" y="0"/>
                </a:moveTo>
                <a:lnTo>
                  <a:pt x="5505440" y="0"/>
                </a:lnTo>
                <a:cubicBezTo>
                  <a:pt x="5558050" y="0"/>
                  <a:pt x="5600700" y="42650"/>
                  <a:pt x="5600700" y="95260"/>
                </a:cubicBezTo>
                <a:lnTo>
                  <a:pt x="5600700" y="2333615"/>
                </a:lnTo>
                <a:cubicBezTo>
                  <a:pt x="5600700" y="2386225"/>
                  <a:pt x="5558050" y="2428875"/>
                  <a:pt x="5505440" y="2428875"/>
                </a:cubicBezTo>
                <a:lnTo>
                  <a:pt x="95260" y="2428875"/>
                </a:lnTo>
                <a:cubicBezTo>
                  <a:pt x="42650" y="2428875"/>
                  <a:pt x="0" y="2386225"/>
                  <a:pt x="0" y="2333615"/>
                </a:cubicBezTo>
                <a:lnTo>
                  <a:pt x="0" y="95260"/>
                </a:lnTo>
                <a:cubicBezTo>
                  <a:pt x="0" y="42650"/>
                  <a:pt x="42650" y="0"/>
                  <a:pt x="95260" y="0"/>
                </a:cubicBezTo>
                <a:close/>
              </a:path>
            </a:pathLst>
          </a:custGeom>
          <a:gradFill rotWithShape="1" flip="none">
            <a:gsLst>
              <a:gs pos="0">
                <a:srgbClr val="EFF6FF"/>
              </a:gs>
              <a:gs pos="100000">
                <a:srgbClr val="DBEAFE"/>
              </a:gs>
            </a:gsLst>
            <a:lin ang="2700000" scaled="1"/>
          </a:gradFill>
          <a:ln/>
        </p:spPr>
      </p:sp>
      <p:sp>
        <p:nvSpPr>
          <p:cNvPr id="5" name="Shape 3"/>
          <p:cNvSpPr/>
          <p:nvPr/>
        </p:nvSpPr>
        <p:spPr>
          <a:xfrm>
            <a:off x="619125" y="1562100"/>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2B7FFF"/>
          </a:solidFill>
          <a:ln/>
        </p:spPr>
      </p:sp>
      <p:sp>
        <p:nvSpPr>
          <p:cNvPr id="6" name="Shape 4"/>
          <p:cNvSpPr/>
          <p:nvPr/>
        </p:nvSpPr>
        <p:spPr>
          <a:xfrm>
            <a:off x="794147" y="1752600"/>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FFFFFF"/>
          </a:solidFill>
          <a:ln/>
        </p:spPr>
      </p:sp>
      <p:sp>
        <p:nvSpPr>
          <p:cNvPr id="7" name="Text 5"/>
          <p:cNvSpPr/>
          <p:nvPr/>
        </p:nvSpPr>
        <p:spPr>
          <a:xfrm>
            <a:off x="1476375" y="1704975"/>
            <a:ext cx="3028950" cy="381000"/>
          </a:xfrm>
          <a:prstGeom prst="rect">
            <a:avLst/>
          </a:prstGeom>
          <a:noFill/>
          <a:ln/>
        </p:spPr>
        <p:txBody>
          <a:bodyPr wrap="square" lIns="0" tIns="0" rIns="0" bIns="0" rtlCol="0" anchor="ctr"/>
          <a:lstStyle/>
          <a:p>
            <a:pPr>
              <a:lnSpc>
                <a:spcPct val="110000"/>
              </a:lnSpc>
            </a:pPr>
            <a:r>
              <a:rPr lang="en-US" sz="2250" b="1" dirty="0">
                <a:solidFill>
                  <a:srgbClr val="1D293D"/>
                </a:solidFill>
                <a:latin typeface="Quattrocento Sans" pitchFamily="34" charset="0"/>
                <a:ea typeface="Quattrocento Sans" pitchFamily="34" charset="-122"/>
                <a:cs typeface="Quattrocento Sans" pitchFamily="34" charset="-120"/>
              </a:rPr>
              <a:t>Script-Based Approach</a:t>
            </a:r>
            <a:endParaRPr lang="en-US" sz="1600" dirty="0"/>
          </a:p>
        </p:txBody>
      </p:sp>
      <p:sp>
        <p:nvSpPr>
          <p:cNvPr id="8" name="Text 6"/>
          <p:cNvSpPr/>
          <p:nvPr/>
        </p:nvSpPr>
        <p:spPr>
          <a:xfrm>
            <a:off x="619125" y="2419350"/>
            <a:ext cx="5219700" cy="619125"/>
          </a:xfrm>
          <a:prstGeom prst="rect">
            <a:avLst/>
          </a:prstGeom>
          <a:noFill/>
          <a:ln/>
        </p:spPr>
        <p:txBody>
          <a:bodyPr wrap="square" lIns="0" tIns="0" rIns="0" bIns="0" rtlCol="0" anchor="ctr"/>
          <a:lstStyle/>
          <a:p>
            <a:pPr>
              <a:lnSpc>
                <a:spcPct val="140000"/>
              </a:lnSpc>
            </a:pPr>
            <a:r>
              <a:rPr lang="en-US" sz="1500" dirty="0">
                <a:solidFill>
                  <a:srgbClr val="314158"/>
                </a:solidFill>
                <a:latin typeface="Quattrocento Sans" pitchFamily="34" charset="0"/>
                <a:ea typeface="Quattrocento Sans" pitchFamily="34" charset="-122"/>
                <a:cs typeface="Quattrocento Sans" pitchFamily="34" charset="-120"/>
              </a:rPr>
              <a:t>The solution uses native scripting languages to interact with the operating system and development tools directly.</a:t>
            </a:r>
            <a:endParaRPr lang="en-US" sz="1600" dirty="0"/>
          </a:p>
        </p:txBody>
      </p:sp>
      <p:sp>
        <p:nvSpPr>
          <p:cNvPr id="9" name="Shape 7"/>
          <p:cNvSpPr/>
          <p:nvPr/>
        </p:nvSpPr>
        <p:spPr>
          <a:xfrm>
            <a:off x="619125" y="3181350"/>
            <a:ext cx="1095375" cy="333375"/>
          </a:xfrm>
          <a:custGeom>
            <a:avLst/>
            <a:gdLst/>
            <a:ahLst/>
            <a:cxnLst/>
            <a:rect l="l" t="t" r="r" b="b"/>
            <a:pathLst>
              <a:path w="1095375" h="333375">
                <a:moveTo>
                  <a:pt x="166688" y="0"/>
                </a:moveTo>
                <a:lnTo>
                  <a:pt x="928688" y="0"/>
                </a:lnTo>
                <a:cubicBezTo>
                  <a:pt x="1020685" y="0"/>
                  <a:pt x="1095375" y="74690"/>
                  <a:pt x="1095375" y="166688"/>
                </a:cubicBezTo>
                <a:lnTo>
                  <a:pt x="1095375" y="166688"/>
                </a:lnTo>
                <a:cubicBezTo>
                  <a:pt x="1095375" y="258685"/>
                  <a:pt x="1020685" y="333375"/>
                  <a:pt x="928688" y="333375"/>
                </a:cubicBezTo>
                <a:lnTo>
                  <a:pt x="166688" y="333375"/>
                </a:lnTo>
                <a:cubicBezTo>
                  <a:pt x="74690" y="333375"/>
                  <a:pt x="0" y="258685"/>
                  <a:pt x="0" y="166688"/>
                </a:cubicBezTo>
                <a:lnTo>
                  <a:pt x="0" y="166688"/>
                </a:lnTo>
                <a:cubicBezTo>
                  <a:pt x="0" y="74690"/>
                  <a:pt x="74690" y="0"/>
                  <a:pt x="166687" y="0"/>
                </a:cubicBezTo>
                <a:close/>
              </a:path>
            </a:pathLst>
          </a:custGeom>
          <a:solidFill>
            <a:srgbClr val="BEDBFF"/>
          </a:solidFill>
          <a:ln/>
        </p:spPr>
      </p:sp>
      <p:sp>
        <p:nvSpPr>
          <p:cNvPr id="10" name="Text 8"/>
          <p:cNvSpPr/>
          <p:nvPr/>
        </p:nvSpPr>
        <p:spPr>
          <a:xfrm>
            <a:off x="619125" y="3181350"/>
            <a:ext cx="1178719" cy="333375"/>
          </a:xfrm>
          <a:prstGeom prst="rect">
            <a:avLst/>
          </a:prstGeom>
          <a:noFill/>
          <a:ln/>
        </p:spPr>
        <p:txBody>
          <a:bodyPr wrap="square" lIns="142875" tIns="47625" rIns="142875" bIns="47625" rtlCol="0" anchor="ctr"/>
          <a:lstStyle/>
          <a:p>
            <a:pPr>
              <a:lnSpc>
                <a:spcPct val="120000"/>
              </a:lnSpc>
            </a:pPr>
            <a:r>
              <a:rPr lang="en-US" sz="1313" b="1" dirty="0">
                <a:solidFill>
                  <a:srgbClr val="193CB8"/>
                </a:solidFill>
                <a:latin typeface="Quattrocento Sans" pitchFamily="34" charset="0"/>
                <a:ea typeface="Quattrocento Sans" pitchFamily="34" charset="-122"/>
                <a:cs typeface="Quattrocento Sans" pitchFamily="34" charset="-120"/>
              </a:rPr>
              <a:t>PowerShell</a:t>
            </a:r>
            <a:endParaRPr lang="en-US" sz="1600" dirty="0"/>
          </a:p>
        </p:txBody>
      </p:sp>
      <p:sp>
        <p:nvSpPr>
          <p:cNvPr id="11" name="Shape 9"/>
          <p:cNvSpPr/>
          <p:nvPr/>
        </p:nvSpPr>
        <p:spPr>
          <a:xfrm>
            <a:off x="1812608" y="3181350"/>
            <a:ext cx="628650" cy="333375"/>
          </a:xfrm>
          <a:custGeom>
            <a:avLst/>
            <a:gdLst/>
            <a:ahLst/>
            <a:cxnLst/>
            <a:rect l="l" t="t" r="r" b="b"/>
            <a:pathLst>
              <a:path w="628650" h="333375">
                <a:moveTo>
                  <a:pt x="166688" y="0"/>
                </a:moveTo>
                <a:lnTo>
                  <a:pt x="461963" y="0"/>
                </a:lnTo>
                <a:cubicBezTo>
                  <a:pt x="553960" y="0"/>
                  <a:pt x="628650" y="74690"/>
                  <a:pt x="628650" y="166688"/>
                </a:cubicBezTo>
                <a:lnTo>
                  <a:pt x="628650" y="166688"/>
                </a:lnTo>
                <a:cubicBezTo>
                  <a:pt x="628650" y="258685"/>
                  <a:pt x="553960" y="333375"/>
                  <a:pt x="461963" y="333375"/>
                </a:cubicBezTo>
                <a:lnTo>
                  <a:pt x="166688" y="333375"/>
                </a:lnTo>
                <a:cubicBezTo>
                  <a:pt x="74690" y="333375"/>
                  <a:pt x="0" y="258685"/>
                  <a:pt x="0" y="166688"/>
                </a:cubicBezTo>
                <a:lnTo>
                  <a:pt x="0" y="166688"/>
                </a:lnTo>
                <a:cubicBezTo>
                  <a:pt x="0" y="74690"/>
                  <a:pt x="74690" y="0"/>
                  <a:pt x="166687" y="0"/>
                </a:cubicBezTo>
                <a:close/>
              </a:path>
            </a:pathLst>
          </a:custGeom>
          <a:solidFill>
            <a:srgbClr val="BEDBFF"/>
          </a:solidFill>
          <a:ln/>
        </p:spPr>
      </p:sp>
      <p:sp>
        <p:nvSpPr>
          <p:cNvPr id="12" name="Text 10"/>
          <p:cNvSpPr/>
          <p:nvPr/>
        </p:nvSpPr>
        <p:spPr>
          <a:xfrm>
            <a:off x="1812608" y="3181350"/>
            <a:ext cx="711994" cy="333375"/>
          </a:xfrm>
          <a:prstGeom prst="rect">
            <a:avLst/>
          </a:prstGeom>
          <a:noFill/>
          <a:ln/>
        </p:spPr>
        <p:txBody>
          <a:bodyPr wrap="square" lIns="142875" tIns="47625" rIns="142875" bIns="47625" rtlCol="0" anchor="ctr"/>
          <a:lstStyle/>
          <a:p>
            <a:pPr>
              <a:lnSpc>
                <a:spcPct val="120000"/>
              </a:lnSpc>
            </a:pPr>
            <a:r>
              <a:rPr lang="en-US" sz="1313" b="1" dirty="0">
                <a:solidFill>
                  <a:srgbClr val="193CB8"/>
                </a:solidFill>
                <a:latin typeface="Quattrocento Sans" pitchFamily="34" charset="0"/>
                <a:ea typeface="Quattrocento Sans" pitchFamily="34" charset="-122"/>
                <a:cs typeface="Quattrocento Sans" pitchFamily="34" charset="-120"/>
              </a:rPr>
              <a:t>Bash</a:t>
            </a:r>
            <a:endParaRPr lang="en-US" sz="1600" dirty="0"/>
          </a:p>
        </p:txBody>
      </p:sp>
      <p:sp>
        <p:nvSpPr>
          <p:cNvPr id="13" name="Shape 11"/>
          <p:cNvSpPr/>
          <p:nvPr/>
        </p:nvSpPr>
        <p:spPr>
          <a:xfrm>
            <a:off x="2534126" y="3181350"/>
            <a:ext cx="638175" cy="333375"/>
          </a:xfrm>
          <a:custGeom>
            <a:avLst/>
            <a:gdLst/>
            <a:ahLst/>
            <a:cxnLst/>
            <a:rect l="l" t="t" r="r" b="b"/>
            <a:pathLst>
              <a:path w="638175" h="333375">
                <a:moveTo>
                  <a:pt x="166688" y="0"/>
                </a:moveTo>
                <a:lnTo>
                  <a:pt x="471488" y="0"/>
                </a:lnTo>
                <a:cubicBezTo>
                  <a:pt x="563485" y="0"/>
                  <a:pt x="638175" y="74690"/>
                  <a:pt x="638175" y="166688"/>
                </a:cubicBezTo>
                <a:lnTo>
                  <a:pt x="638175" y="166688"/>
                </a:lnTo>
                <a:cubicBezTo>
                  <a:pt x="638175" y="258685"/>
                  <a:pt x="563485" y="333375"/>
                  <a:pt x="471488" y="333375"/>
                </a:cubicBezTo>
                <a:lnTo>
                  <a:pt x="166688" y="333375"/>
                </a:lnTo>
                <a:cubicBezTo>
                  <a:pt x="74690" y="333375"/>
                  <a:pt x="0" y="258685"/>
                  <a:pt x="0" y="166688"/>
                </a:cubicBezTo>
                <a:lnTo>
                  <a:pt x="0" y="166688"/>
                </a:lnTo>
                <a:cubicBezTo>
                  <a:pt x="0" y="74690"/>
                  <a:pt x="74690" y="0"/>
                  <a:pt x="166687" y="0"/>
                </a:cubicBezTo>
                <a:close/>
              </a:path>
            </a:pathLst>
          </a:custGeom>
          <a:solidFill>
            <a:srgbClr val="BEDBFF"/>
          </a:solidFill>
          <a:ln/>
        </p:spPr>
      </p:sp>
      <p:sp>
        <p:nvSpPr>
          <p:cNvPr id="14" name="Text 12"/>
          <p:cNvSpPr/>
          <p:nvPr/>
        </p:nvSpPr>
        <p:spPr>
          <a:xfrm>
            <a:off x="2534126" y="3181350"/>
            <a:ext cx="721519" cy="333375"/>
          </a:xfrm>
          <a:prstGeom prst="rect">
            <a:avLst/>
          </a:prstGeom>
          <a:noFill/>
          <a:ln/>
        </p:spPr>
        <p:txBody>
          <a:bodyPr wrap="square" lIns="142875" tIns="47625" rIns="142875" bIns="47625" rtlCol="0" anchor="ctr"/>
          <a:lstStyle/>
          <a:p>
            <a:pPr>
              <a:lnSpc>
                <a:spcPct val="120000"/>
              </a:lnSpc>
            </a:pPr>
            <a:r>
              <a:rPr lang="en-US" sz="1313" b="1" dirty="0">
                <a:solidFill>
                  <a:srgbClr val="193CB8"/>
                </a:solidFill>
                <a:latin typeface="Quattrocento Sans" pitchFamily="34" charset="0"/>
                <a:ea typeface="Quattrocento Sans" pitchFamily="34" charset="-122"/>
                <a:cs typeface="Quattrocento Sans" pitchFamily="34" charset="-120"/>
              </a:rPr>
              <a:t>Shell</a:t>
            </a:r>
            <a:endParaRPr lang="en-US" sz="1600" dirty="0"/>
          </a:p>
        </p:txBody>
      </p:sp>
      <p:sp>
        <p:nvSpPr>
          <p:cNvPr id="15" name="Shape 13"/>
          <p:cNvSpPr/>
          <p:nvPr/>
        </p:nvSpPr>
        <p:spPr>
          <a:xfrm>
            <a:off x="6215063" y="1323975"/>
            <a:ext cx="5600700" cy="2428875"/>
          </a:xfrm>
          <a:custGeom>
            <a:avLst/>
            <a:gdLst/>
            <a:ahLst/>
            <a:cxnLst/>
            <a:rect l="l" t="t" r="r" b="b"/>
            <a:pathLst>
              <a:path w="5600700" h="2428875">
                <a:moveTo>
                  <a:pt x="95260" y="0"/>
                </a:moveTo>
                <a:lnTo>
                  <a:pt x="5505440" y="0"/>
                </a:lnTo>
                <a:cubicBezTo>
                  <a:pt x="5558050" y="0"/>
                  <a:pt x="5600700" y="42650"/>
                  <a:pt x="5600700" y="95260"/>
                </a:cubicBezTo>
                <a:lnTo>
                  <a:pt x="5600700" y="2333615"/>
                </a:lnTo>
                <a:cubicBezTo>
                  <a:pt x="5600700" y="2386225"/>
                  <a:pt x="5558050" y="2428875"/>
                  <a:pt x="5505440" y="2428875"/>
                </a:cubicBezTo>
                <a:lnTo>
                  <a:pt x="95260" y="2428875"/>
                </a:lnTo>
                <a:cubicBezTo>
                  <a:pt x="42650" y="2428875"/>
                  <a:pt x="0" y="2386225"/>
                  <a:pt x="0" y="2333615"/>
                </a:cubicBezTo>
                <a:lnTo>
                  <a:pt x="0" y="95260"/>
                </a:lnTo>
                <a:cubicBezTo>
                  <a:pt x="0" y="42650"/>
                  <a:pt x="42650" y="0"/>
                  <a:pt x="95260" y="0"/>
                </a:cubicBezTo>
                <a:close/>
              </a:path>
            </a:pathLst>
          </a:custGeom>
          <a:gradFill rotWithShape="1" flip="none">
            <a:gsLst>
              <a:gs pos="0">
                <a:srgbClr val="F0FDF4"/>
              </a:gs>
              <a:gs pos="100000">
                <a:srgbClr val="DCFCE7"/>
              </a:gs>
            </a:gsLst>
            <a:lin ang="2700000" scaled="1"/>
          </a:gradFill>
          <a:ln/>
        </p:spPr>
      </p:sp>
      <p:sp>
        <p:nvSpPr>
          <p:cNvPr id="16" name="Shape 14"/>
          <p:cNvSpPr/>
          <p:nvPr/>
        </p:nvSpPr>
        <p:spPr>
          <a:xfrm>
            <a:off x="6453188" y="1562100"/>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00C950"/>
          </a:solidFill>
          <a:ln/>
        </p:spPr>
      </p:sp>
      <p:sp>
        <p:nvSpPr>
          <p:cNvPr id="17" name="Shape 15"/>
          <p:cNvSpPr/>
          <p:nvPr/>
        </p:nvSpPr>
        <p:spPr>
          <a:xfrm>
            <a:off x="6610350" y="1752600"/>
            <a:ext cx="357188" cy="285750"/>
          </a:xfrm>
          <a:custGeom>
            <a:avLst/>
            <a:gdLst/>
            <a:ahLst/>
            <a:cxnLst/>
            <a:rect l="l" t="t" r="r" b="b"/>
            <a:pathLst>
              <a:path w="357188" h="285750">
                <a:moveTo>
                  <a:pt x="71438" y="17859"/>
                </a:moveTo>
                <a:cubicBezTo>
                  <a:pt x="51736" y="17859"/>
                  <a:pt x="35719" y="33877"/>
                  <a:pt x="35719" y="53578"/>
                </a:cubicBezTo>
                <a:lnTo>
                  <a:pt x="35719" y="187523"/>
                </a:lnTo>
                <a:lnTo>
                  <a:pt x="71438" y="187523"/>
                </a:lnTo>
                <a:lnTo>
                  <a:pt x="71438" y="53578"/>
                </a:lnTo>
                <a:lnTo>
                  <a:pt x="285750" y="53578"/>
                </a:lnTo>
                <a:lnTo>
                  <a:pt x="285750" y="187523"/>
                </a:lnTo>
                <a:lnTo>
                  <a:pt x="321469" y="187523"/>
                </a:lnTo>
                <a:lnTo>
                  <a:pt x="321469" y="53578"/>
                </a:lnTo>
                <a:cubicBezTo>
                  <a:pt x="321469" y="33877"/>
                  <a:pt x="305451" y="17859"/>
                  <a:pt x="285750" y="17859"/>
                </a:cubicBezTo>
                <a:lnTo>
                  <a:pt x="71438" y="17859"/>
                </a:lnTo>
                <a:close/>
                <a:moveTo>
                  <a:pt x="10716" y="214313"/>
                </a:moveTo>
                <a:cubicBezTo>
                  <a:pt x="4800" y="214313"/>
                  <a:pt x="0" y="219112"/>
                  <a:pt x="0" y="225028"/>
                </a:cubicBezTo>
                <a:cubicBezTo>
                  <a:pt x="0" y="248692"/>
                  <a:pt x="19199" y="267891"/>
                  <a:pt x="42863" y="267891"/>
                </a:cubicBezTo>
                <a:lnTo>
                  <a:pt x="314325" y="267891"/>
                </a:lnTo>
                <a:cubicBezTo>
                  <a:pt x="337989" y="267891"/>
                  <a:pt x="357187" y="248692"/>
                  <a:pt x="357187" y="225028"/>
                </a:cubicBezTo>
                <a:cubicBezTo>
                  <a:pt x="357187" y="219112"/>
                  <a:pt x="352388" y="214313"/>
                  <a:pt x="346472" y="214313"/>
                </a:cubicBezTo>
                <a:lnTo>
                  <a:pt x="10716" y="214313"/>
                </a:lnTo>
                <a:close/>
              </a:path>
            </a:pathLst>
          </a:custGeom>
          <a:solidFill>
            <a:srgbClr val="FFFFFF"/>
          </a:solidFill>
          <a:ln/>
        </p:spPr>
      </p:sp>
      <p:sp>
        <p:nvSpPr>
          <p:cNvPr id="18" name="Text 16"/>
          <p:cNvSpPr/>
          <p:nvPr/>
        </p:nvSpPr>
        <p:spPr>
          <a:xfrm>
            <a:off x="7310438" y="1704975"/>
            <a:ext cx="2781300" cy="381000"/>
          </a:xfrm>
          <a:prstGeom prst="rect">
            <a:avLst/>
          </a:prstGeom>
          <a:noFill/>
          <a:ln/>
        </p:spPr>
        <p:txBody>
          <a:bodyPr wrap="square" lIns="0" tIns="0" rIns="0" bIns="0" rtlCol="0" anchor="ctr"/>
          <a:lstStyle/>
          <a:p>
            <a:pPr>
              <a:lnSpc>
                <a:spcPct val="110000"/>
              </a:lnSpc>
            </a:pPr>
            <a:r>
              <a:rPr lang="en-US" sz="2250" b="1" dirty="0">
                <a:solidFill>
                  <a:srgbClr val="1D293D"/>
                </a:solidFill>
                <a:latin typeface="Quattrocento Sans" pitchFamily="34" charset="0"/>
                <a:ea typeface="Quattrocento Sans" pitchFamily="34" charset="-122"/>
                <a:cs typeface="Quattrocento Sans" pitchFamily="34" charset="-120"/>
              </a:rPr>
              <a:t>OS-Specific Scripting</a:t>
            </a:r>
            <a:endParaRPr lang="en-US" sz="1600" dirty="0"/>
          </a:p>
        </p:txBody>
      </p:sp>
      <p:sp>
        <p:nvSpPr>
          <p:cNvPr id="19" name="Text 17"/>
          <p:cNvSpPr/>
          <p:nvPr/>
        </p:nvSpPr>
        <p:spPr>
          <a:xfrm>
            <a:off x="6453188" y="2419350"/>
            <a:ext cx="5219700" cy="619125"/>
          </a:xfrm>
          <a:prstGeom prst="rect">
            <a:avLst/>
          </a:prstGeom>
          <a:noFill/>
          <a:ln/>
        </p:spPr>
        <p:txBody>
          <a:bodyPr wrap="square" lIns="0" tIns="0" rIns="0" bIns="0" rtlCol="0" anchor="ctr"/>
          <a:lstStyle/>
          <a:p>
            <a:pPr>
              <a:lnSpc>
                <a:spcPct val="140000"/>
              </a:lnSpc>
            </a:pPr>
            <a:r>
              <a:rPr lang="en-US" sz="1500" dirty="0">
                <a:solidFill>
                  <a:srgbClr val="314158"/>
                </a:solidFill>
                <a:latin typeface="Quattrocento Sans" pitchFamily="34" charset="0"/>
                <a:ea typeface="Quattrocento Sans" pitchFamily="34" charset="-122"/>
                <a:cs typeface="Quattrocento Sans" pitchFamily="34" charset="-120"/>
              </a:rPr>
              <a:t>Separate scripts for each operating system handle platform-specific commands and file paths.</a:t>
            </a:r>
            <a:endParaRPr lang="en-US" sz="1600" dirty="0"/>
          </a:p>
        </p:txBody>
      </p:sp>
      <p:sp>
        <p:nvSpPr>
          <p:cNvPr id="20" name="Shape 18"/>
          <p:cNvSpPr/>
          <p:nvPr/>
        </p:nvSpPr>
        <p:spPr>
          <a:xfrm>
            <a:off x="6453188" y="3181350"/>
            <a:ext cx="1400175" cy="333375"/>
          </a:xfrm>
          <a:custGeom>
            <a:avLst/>
            <a:gdLst/>
            <a:ahLst/>
            <a:cxnLst/>
            <a:rect l="l" t="t" r="r" b="b"/>
            <a:pathLst>
              <a:path w="1400175" h="333375">
                <a:moveTo>
                  <a:pt x="166688" y="0"/>
                </a:moveTo>
                <a:lnTo>
                  <a:pt x="1233488" y="0"/>
                </a:lnTo>
                <a:cubicBezTo>
                  <a:pt x="1325485" y="0"/>
                  <a:pt x="1400175" y="74690"/>
                  <a:pt x="1400175" y="166688"/>
                </a:cubicBezTo>
                <a:lnTo>
                  <a:pt x="1400175" y="166688"/>
                </a:lnTo>
                <a:cubicBezTo>
                  <a:pt x="1400175" y="258685"/>
                  <a:pt x="1325485" y="333375"/>
                  <a:pt x="1233488" y="333375"/>
                </a:cubicBezTo>
                <a:lnTo>
                  <a:pt x="166688" y="333375"/>
                </a:lnTo>
                <a:cubicBezTo>
                  <a:pt x="74690" y="333375"/>
                  <a:pt x="0" y="258685"/>
                  <a:pt x="0" y="166688"/>
                </a:cubicBezTo>
                <a:lnTo>
                  <a:pt x="0" y="166688"/>
                </a:lnTo>
                <a:cubicBezTo>
                  <a:pt x="0" y="74690"/>
                  <a:pt x="74690" y="0"/>
                  <a:pt x="166687" y="0"/>
                </a:cubicBezTo>
                <a:close/>
              </a:path>
            </a:pathLst>
          </a:custGeom>
          <a:solidFill>
            <a:srgbClr val="B9F8CF"/>
          </a:solidFill>
          <a:ln/>
        </p:spPr>
      </p:sp>
      <p:sp>
        <p:nvSpPr>
          <p:cNvPr id="21" name="Text 19"/>
          <p:cNvSpPr/>
          <p:nvPr/>
        </p:nvSpPr>
        <p:spPr>
          <a:xfrm>
            <a:off x="6453188" y="3181350"/>
            <a:ext cx="1483519" cy="333375"/>
          </a:xfrm>
          <a:prstGeom prst="rect">
            <a:avLst/>
          </a:prstGeom>
          <a:noFill/>
          <a:ln/>
        </p:spPr>
        <p:txBody>
          <a:bodyPr wrap="square" lIns="142875" tIns="47625" rIns="142875" bIns="47625" rtlCol="0" anchor="ctr"/>
          <a:lstStyle/>
          <a:p>
            <a:pPr>
              <a:lnSpc>
                <a:spcPct val="120000"/>
              </a:lnSpc>
            </a:pPr>
            <a:r>
              <a:rPr lang="en-US" sz="1313" b="1" dirty="0">
                <a:solidFill>
                  <a:srgbClr val="016630"/>
                </a:solidFill>
                <a:latin typeface="Quattrocento Sans" pitchFamily="34" charset="0"/>
                <a:ea typeface="Quattrocento Sans" pitchFamily="34" charset="-122"/>
                <a:cs typeface="Quattrocento Sans" pitchFamily="34" charset="-120"/>
              </a:rPr>
              <a:t>Windows (.ps1)</a:t>
            </a:r>
            <a:endParaRPr lang="en-US" sz="1600" dirty="0"/>
          </a:p>
        </p:txBody>
      </p:sp>
      <p:sp>
        <p:nvSpPr>
          <p:cNvPr id="22" name="Shape 20"/>
          <p:cNvSpPr/>
          <p:nvPr/>
        </p:nvSpPr>
        <p:spPr>
          <a:xfrm>
            <a:off x="7948493" y="3181350"/>
            <a:ext cx="1019175" cy="333375"/>
          </a:xfrm>
          <a:custGeom>
            <a:avLst/>
            <a:gdLst/>
            <a:ahLst/>
            <a:cxnLst/>
            <a:rect l="l" t="t" r="r" b="b"/>
            <a:pathLst>
              <a:path w="1019175" h="333375">
                <a:moveTo>
                  <a:pt x="166688" y="0"/>
                </a:moveTo>
                <a:lnTo>
                  <a:pt x="852488" y="0"/>
                </a:lnTo>
                <a:cubicBezTo>
                  <a:pt x="944485" y="0"/>
                  <a:pt x="1019175" y="74690"/>
                  <a:pt x="1019175" y="166688"/>
                </a:cubicBezTo>
                <a:lnTo>
                  <a:pt x="1019175" y="166688"/>
                </a:lnTo>
                <a:cubicBezTo>
                  <a:pt x="1019175" y="258685"/>
                  <a:pt x="944485" y="333375"/>
                  <a:pt x="852488" y="333375"/>
                </a:cubicBezTo>
                <a:lnTo>
                  <a:pt x="166688" y="333375"/>
                </a:lnTo>
                <a:cubicBezTo>
                  <a:pt x="74690" y="333375"/>
                  <a:pt x="0" y="258685"/>
                  <a:pt x="0" y="166688"/>
                </a:cubicBezTo>
                <a:lnTo>
                  <a:pt x="0" y="166688"/>
                </a:lnTo>
                <a:cubicBezTo>
                  <a:pt x="0" y="74690"/>
                  <a:pt x="74690" y="0"/>
                  <a:pt x="166687" y="0"/>
                </a:cubicBezTo>
                <a:close/>
              </a:path>
            </a:pathLst>
          </a:custGeom>
          <a:solidFill>
            <a:srgbClr val="B9F8CF"/>
          </a:solidFill>
          <a:ln/>
        </p:spPr>
      </p:sp>
      <p:sp>
        <p:nvSpPr>
          <p:cNvPr id="23" name="Text 21"/>
          <p:cNvSpPr/>
          <p:nvPr/>
        </p:nvSpPr>
        <p:spPr>
          <a:xfrm>
            <a:off x="7948493" y="3181350"/>
            <a:ext cx="1102519" cy="333375"/>
          </a:xfrm>
          <a:prstGeom prst="rect">
            <a:avLst/>
          </a:prstGeom>
          <a:noFill/>
          <a:ln/>
        </p:spPr>
        <p:txBody>
          <a:bodyPr wrap="square" lIns="142875" tIns="47625" rIns="142875" bIns="47625" rtlCol="0" anchor="ctr"/>
          <a:lstStyle/>
          <a:p>
            <a:pPr>
              <a:lnSpc>
                <a:spcPct val="120000"/>
              </a:lnSpc>
            </a:pPr>
            <a:r>
              <a:rPr lang="en-US" sz="1313" b="1" dirty="0">
                <a:solidFill>
                  <a:srgbClr val="016630"/>
                </a:solidFill>
                <a:latin typeface="Quattrocento Sans" pitchFamily="34" charset="0"/>
                <a:ea typeface="Quattrocento Sans" pitchFamily="34" charset="-122"/>
                <a:cs typeface="Quattrocento Sans" pitchFamily="34" charset="-120"/>
              </a:rPr>
              <a:t>Linux (.sh)</a:t>
            </a:r>
            <a:endParaRPr lang="en-US" sz="1600" dirty="0"/>
          </a:p>
        </p:txBody>
      </p:sp>
      <p:sp>
        <p:nvSpPr>
          <p:cNvPr id="24" name="Shape 22"/>
          <p:cNvSpPr/>
          <p:nvPr/>
        </p:nvSpPr>
        <p:spPr>
          <a:xfrm>
            <a:off x="9063752" y="3181350"/>
            <a:ext cx="1162050" cy="333375"/>
          </a:xfrm>
          <a:custGeom>
            <a:avLst/>
            <a:gdLst/>
            <a:ahLst/>
            <a:cxnLst/>
            <a:rect l="l" t="t" r="r" b="b"/>
            <a:pathLst>
              <a:path w="1162050" h="333375">
                <a:moveTo>
                  <a:pt x="166688" y="0"/>
                </a:moveTo>
                <a:lnTo>
                  <a:pt x="995363" y="0"/>
                </a:lnTo>
                <a:cubicBezTo>
                  <a:pt x="1087360" y="0"/>
                  <a:pt x="1162050" y="74690"/>
                  <a:pt x="1162050" y="166688"/>
                </a:cubicBezTo>
                <a:lnTo>
                  <a:pt x="1162050" y="166688"/>
                </a:lnTo>
                <a:cubicBezTo>
                  <a:pt x="1162050" y="258685"/>
                  <a:pt x="1087360" y="333375"/>
                  <a:pt x="995363" y="333375"/>
                </a:cubicBezTo>
                <a:lnTo>
                  <a:pt x="166688" y="333375"/>
                </a:lnTo>
                <a:cubicBezTo>
                  <a:pt x="74690" y="333375"/>
                  <a:pt x="0" y="258685"/>
                  <a:pt x="0" y="166688"/>
                </a:cubicBezTo>
                <a:lnTo>
                  <a:pt x="0" y="166688"/>
                </a:lnTo>
                <a:cubicBezTo>
                  <a:pt x="0" y="74690"/>
                  <a:pt x="74690" y="0"/>
                  <a:pt x="166687" y="0"/>
                </a:cubicBezTo>
                <a:close/>
              </a:path>
            </a:pathLst>
          </a:custGeom>
          <a:solidFill>
            <a:srgbClr val="B9F8CF"/>
          </a:solidFill>
          <a:ln/>
        </p:spPr>
      </p:sp>
      <p:sp>
        <p:nvSpPr>
          <p:cNvPr id="25" name="Text 23"/>
          <p:cNvSpPr/>
          <p:nvPr/>
        </p:nvSpPr>
        <p:spPr>
          <a:xfrm>
            <a:off x="9063752" y="3181350"/>
            <a:ext cx="1245394" cy="333375"/>
          </a:xfrm>
          <a:prstGeom prst="rect">
            <a:avLst/>
          </a:prstGeom>
          <a:noFill/>
          <a:ln/>
        </p:spPr>
        <p:txBody>
          <a:bodyPr wrap="square" lIns="142875" tIns="47625" rIns="142875" bIns="47625" rtlCol="0" anchor="ctr"/>
          <a:lstStyle/>
          <a:p>
            <a:pPr>
              <a:lnSpc>
                <a:spcPct val="120000"/>
              </a:lnSpc>
            </a:pPr>
            <a:r>
              <a:rPr lang="en-US" sz="1313" b="1" dirty="0">
                <a:solidFill>
                  <a:srgbClr val="016630"/>
                </a:solidFill>
                <a:latin typeface="Quattrocento Sans" pitchFamily="34" charset="0"/>
                <a:ea typeface="Quattrocento Sans" pitchFamily="34" charset="-122"/>
                <a:cs typeface="Quattrocento Sans" pitchFamily="34" charset="-120"/>
              </a:rPr>
              <a:t>macOS (.sh)</a:t>
            </a:r>
            <a:endParaRPr lang="en-US" sz="1600" dirty="0"/>
          </a:p>
        </p:txBody>
      </p:sp>
      <p:sp>
        <p:nvSpPr>
          <p:cNvPr id="26" name="Shape 24"/>
          <p:cNvSpPr/>
          <p:nvPr/>
        </p:nvSpPr>
        <p:spPr>
          <a:xfrm>
            <a:off x="381000" y="3990975"/>
            <a:ext cx="11430000" cy="2333625"/>
          </a:xfrm>
          <a:custGeom>
            <a:avLst/>
            <a:gdLst/>
            <a:ahLst/>
            <a:cxnLst/>
            <a:rect l="l" t="t" r="r" b="b"/>
            <a:pathLst>
              <a:path w="11430000" h="2333625">
                <a:moveTo>
                  <a:pt x="95259" y="0"/>
                </a:moveTo>
                <a:lnTo>
                  <a:pt x="11334741" y="0"/>
                </a:lnTo>
                <a:cubicBezTo>
                  <a:pt x="11387351" y="0"/>
                  <a:pt x="11430000" y="42649"/>
                  <a:pt x="11430000" y="95259"/>
                </a:cubicBezTo>
                <a:lnTo>
                  <a:pt x="11430000" y="2238366"/>
                </a:lnTo>
                <a:cubicBezTo>
                  <a:pt x="11430000" y="2290976"/>
                  <a:pt x="11387351" y="2333625"/>
                  <a:pt x="11334741" y="2333625"/>
                </a:cubicBezTo>
                <a:lnTo>
                  <a:pt x="95259" y="2333625"/>
                </a:lnTo>
                <a:cubicBezTo>
                  <a:pt x="42649" y="2333625"/>
                  <a:pt x="0" y="2290976"/>
                  <a:pt x="0" y="2238366"/>
                </a:cubicBezTo>
                <a:lnTo>
                  <a:pt x="0" y="95259"/>
                </a:lnTo>
                <a:cubicBezTo>
                  <a:pt x="0" y="42684"/>
                  <a:pt x="42684" y="0"/>
                  <a:pt x="95259" y="0"/>
                </a:cubicBezTo>
                <a:close/>
              </a:path>
            </a:pathLst>
          </a:custGeom>
          <a:gradFill rotWithShape="1" flip="none">
            <a:gsLst>
              <a:gs pos="0">
                <a:srgbClr val="FAF5FF"/>
              </a:gs>
              <a:gs pos="100000">
                <a:srgbClr val="F3E8FF"/>
              </a:gs>
            </a:gsLst>
            <a:lin ang="2700000" scaled="1"/>
          </a:gradFill>
          <a:ln/>
        </p:spPr>
      </p:sp>
      <p:sp>
        <p:nvSpPr>
          <p:cNvPr id="27" name="Shape 25"/>
          <p:cNvSpPr/>
          <p:nvPr/>
        </p:nvSpPr>
        <p:spPr>
          <a:xfrm>
            <a:off x="619125" y="4229100"/>
            <a:ext cx="666750" cy="666750"/>
          </a:xfrm>
          <a:custGeom>
            <a:avLst/>
            <a:gdLst/>
            <a:ahLst/>
            <a:cxnLst/>
            <a:rect l="l" t="t" r="r" b="b"/>
            <a:pathLst>
              <a:path w="666750" h="666750">
                <a:moveTo>
                  <a:pt x="333375" y="0"/>
                </a:moveTo>
                <a:lnTo>
                  <a:pt x="333375" y="0"/>
                </a:lnTo>
                <a:cubicBezTo>
                  <a:pt x="517370" y="0"/>
                  <a:pt x="666750" y="149380"/>
                  <a:pt x="666750" y="333375"/>
                </a:cubicBezTo>
                <a:lnTo>
                  <a:pt x="666750" y="333375"/>
                </a:lnTo>
                <a:cubicBezTo>
                  <a:pt x="666750" y="517370"/>
                  <a:pt x="517370" y="666750"/>
                  <a:pt x="333375" y="666750"/>
                </a:cubicBezTo>
                <a:lnTo>
                  <a:pt x="333375" y="666750"/>
                </a:lnTo>
                <a:cubicBezTo>
                  <a:pt x="149380" y="666750"/>
                  <a:pt x="0" y="517370"/>
                  <a:pt x="0" y="333375"/>
                </a:cubicBezTo>
                <a:lnTo>
                  <a:pt x="0" y="333375"/>
                </a:lnTo>
                <a:cubicBezTo>
                  <a:pt x="0" y="149380"/>
                  <a:pt x="149380" y="0"/>
                  <a:pt x="333375" y="0"/>
                </a:cubicBezTo>
                <a:close/>
              </a:path>
            </a:pathLst>
          </a:custGeom>
          <a:solidFill>
            <a:srgbClr val="AD46FF"/>
          </a:solidFill>
          <a:ln/>
        </p:spPr>
      </p:sp>
      <p:sp>
        <p:nvSpPr>
          <p:cNvPr id="28" name="Shape 26"/>
          <p:cNvSpPr/>
          <p:nvPr/>
        </p:nvSpPr>
        <p:spPr>
          <a:xfrm>
            <a:off x="829866" y="4419600"/>
            <a:ext cx="250031" cy="2857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a:ln/>
        </p:spPr>
      </p:sp>
      <p:sp>
        <p:nvSpPr>
          <p:cNvPr id="29" name="Text 27"/>
          <p:cNvSpPr/>
          <p:nvPr/>
        </p:nvSpPr>
        <p:spPr>
          <a:xfrm>
            <a:off x="1476375" y="4371975"/>
            <a:ext cx="3105150" cy="381000"/>
          </a:xfrm>
          <a:prstGeom prst="rect">
            <a:avLst/>
          </a:prstGeom>
          <a:noFill/>
          <a:ln/>
        </p:spPr>
        <p:txBody>
          <a:bodyPr wrap="square" lIns="0" tIns="0" rIns="0" bIns="0" rtlCol="0" anchor="ctr"/>
          <a:lstStyle/>
          <a:p>
            <a:pPr>
              <a:lnSpc>
                <a:spcPct val="110000"/>
              </a:lnSpc>
            </a:pPr>
            <a:r>
              <a:rPr lang="en-US" sz="2250" b="1" dirty="0">
                <a:solidFill>
                  <a:srgbClr val="1D293D"/>
                </a:solidFill>
                <a:latin typeface="Quattrocento Sans" pitchFamily="34" charset="0"/>
                <a:ea typeface="Quattrocento Sans" pitchFamily="34" charset="-122"/>
                <a:cs typeface="Quattrocento Sans" pitchFamily="34" charset="-120"/>
              </a:rPr>
              <a:t>Structured Data Storage</a:t>
            </a:r>
            <a:endParaRPr lang="en-US" sz="1600" dirty="0"/>
          </a:p>
        </p:txBody>
      </p:sp>
      <p:sp>
        <p:nvSpPr>
          <p:cNvPr id="30" name="Shape 28"/>
          <p:cNvSpPr/>
          <p:nvPr/>
        </p:nvSpPr>
        <p:spPr>
          <a:xfrm>
            <a:off x="619125" y="5086350"/>
            <a:ext cx="3524250" cy="1000125"/>
          </a:xfrm>
          <a:custGeom>
            <a:avLst/>
            <a:gdLst/>
            <a:ahLst/>
            <a:cxnLst/>
            <a:rect l="l" t="t" r="r" b="b"/>
            <a:pathLst>
              <a:path w="3524250" h="1000125">
                <a:moveTo>
                  <a:pt x="95252" y="0"/>
                </a:moveTo>
                <a:lnTo>
                  <a:pt x="3428998" y="0"/>
                </a:lnTo>
                <a:cubicBezTo>
                  <a:pt x="3481604" y="0"/>
                  <a:pt x="3524250" y="42646"/>
                  <a:pt x="3524250" y="95252"/>
                </a:cubicBezTo>
                <a:lnTo>
                  <a:pt x="3524250" y="904873"/>
                </a:lnTo>
                <a:cubicBezTo>
                  <a:pt x="3524250" y="957479"/>
                  <a:pt x="3481604" y="1000125"/>
                  <a:pt x="3428998" y="1000125"/>
                </a:cubicBezTo>
                <a:lnTo>
                  <a:pt x="95252" y="1000125"/>
                </a:lnTo>
                <a:cubicBezTo>
                  <a:pt x="42646" y="1000125"/>
                  <a:pt x="0" y="957479"/>
                  <a:pt x="0" y="904873"/>
                </a:cubicBezTo>
                <a:lnTo>
                  <a:pt x="0" y="95252"/>
                </a:lnTo>
                <a:cubicBezTo>
                  <a:pt x="0" y="42646"/>
                  <a:pt x="42646" y="0"/>
                  <a:pt x="95252"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1" name="Shape 29"/>
          <p:cNvSpPr/>
          <p:nvPr/>
        </p:nvSpPr>
        <p:spPr>
          <a:xfrm>
            <a:off x="857250" y="5324475"/>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57373" y="109984"/>
                </a:moveTo>
                <a:cubicBezTo>
                  <a:pt x="60573" y="106226"/>
                  <a:pt x="60164" y="100608"/>
                  <a:pt x="56406" y="97408"/>
                </a:cubicBezTo>
                <a:cubicBezTo>
                  <a:pt x="52648" y="94208"/>
                  <a:pt x="47030" y="94617"/>
                  <a:pt x="43830" y="98375"/>
                </a:cubicBezTo>
                <a:lnTo>
                  <a:pt x="25971" y="119211"/>
                </a:lnTo>
                <a:cubicBezTo>
                  <a:pt x="23106" y="122560"/>
                  <a:pt x="23106" y="127471"/>
                  <a:pt x="25971" y="130820"/>
                </a:cubicBezTo>
                <a:lnTo>
                  <a:pt x="43830" y="151656"/>
                </a:lnTo>
                <a:cubicBezTo>
                  <a:pt x="47030" y="155414"/>
                  <a:pt x="52685" y="155823"/>
                  <a:pt x="56406" y="152623"/>
                </a:cubicBezTo>
                <a:cubicBezTo>
                  <a:pt x="60127" y="149423"/>
                  <a:pt x="60573" y="143768"/>
                  <a:pt x="57373" y="140047"/>
                </a:cubicBezTo>
                <a:lnTo>
                  <a:pt x="44500" y="125016"/>
                </a:lnTo>
                <a:lnTo>
                  <a:pt x="57373" y="109984"/>
                </a:lnTo>
                <a:close/>
                <a:moveTo>
                  <a:pt x="99045" y="98375"/>
                </a:moveTo>
                <a:cubicBezTo>
                  <a:pt x="95845" y="94617"/>
                  <a:pt x="90190" y="94208"/>
                  <a:pt x="86469" y="97408"/>
                </a:cubicBezTo>
                <a:cubicBezTo>
                  <a:pt x="82748" y="100608"/>
                  <a:pt x="82302" y="106263"/>
                  <a:pt x="85502" y="109984"/>
                </a:cubicBezTo>
                <a:lnTo>
                  <a:pt x="98375" y="125016"/>
                </a:lnTo>
                <a:lnTo>
                  <a:pt x="85502" y="140047"/>
                </a:lnTo>
                <a:cubicBezTo>
                  <a:pt x="82302" y="143805"/>
                  <a:pt x="82711" y="149423"/>
                  <a:pt x="86469" y="152623"/>
                </a:cubicBezTo>
                <a:cubicBezTo>
                  <a:pt x="90227" y="155823"/>
                  <a:pt x="95845" y="155414"/>
                  <a:pt x="99045" y="151656"/>
                </a:cubicBezTo>
                <a:lnTo>
                  <a:pt x="116904" y="130820"/>
                </a:lnTo>
                <a:cubicBezTo>
                  <a:pt x="119769" y="127471"/>
                  <a:pt x="119769" y="122560"/>
                  <a:pt x="116904" y="119211"/>
                </a:cubicBezTo>
                <a:lnTo>
                  <a:pt x="99045" y="98375"/>
                </a:lnTo>
                <a:close/>
              </a:path>
            </a:pathLst>
          </a:custGeom>
          <a:solidFill>
            <a:srgbClr val="AD46FF"/>
          </a:solidFill>
          <a:ln/>
        </p:spPr>
      </p:sp>
      <p:sp>
        <p:nvSpPr>
          <p:cNvPr id="32" name="Text 30"/>
          <p:cNvSpPr/>
          <p:nvPr/>
        </p:nvSpPr>
        <p:spPr>
          <a:xfrm>
            <a:off x="1143000" y="5276850"/>
            <a:ext cx="942975" cy="285750"/>
          </a:xfrm>
          <a:prstGeom prst="rect">
            <a:avLst/>
          </a:prstGeom>
          <a:noFill/>
          <a:ln/>
        </p:spPr>
        <p:txBody>
          <a:bodyPr wrap="square" lIns="0" tIns="0" rIns="0" bIns="0" rtlCol="0" anchor="ctr"/>
          <a:lstStyle/>
          <a:p>
            <a:pPr>
              <a:lnSpc>
                <a:spcPct val="130000"/>
              </a:lnSpc>
            </a:pPr>
            <a:r>
              <a:rPr lang="en-US" sz="1500" b="1" dirty="0">
                <a:solidFill>
                  <a:srgbClr val="1D293D"/>
                </a:solidFill>
                <a:latin typeface="Quattrocento Sans" pitchFamily="34" charset="0"/>
                <a:ea typeface="Quattrocento Sans" pitchFamily="34" charset="-122"/>
                <a:cs typeface="Quattrocento Sans" pitchFamily="34" charset="-120"/>
              </a:rPr>
              <a:t>JSON Files</a:t>
            </a:r>
            <a:endParaRPr lang="en-US" sz="1600" dirty="0"/>
          </a:p>
        </p:txBody>
      </p:sp>
      <p:sp>
        <p:nvSpPr>
          <p:cNvPr id="33" name="Text 31"/>
          <p:cNvSpPr/>
          <p:nvPr/>
        </p:nvSpPr>
        <p:spPr>
          <a:xfrm>
            <a:off x="809625" y="5657850"/>
            <a:ext cx="3226594" cy="238125"/>
          </a:xfrm>
          <a:prstGeom prst="rect">
            <a:avLst/>
          </a:prstGeom>
          <a:noFill/>
          <a:ln/>
        </p:spPr>
        <p:txBody>
          <a:bodyPr wrap="square" lIns="0" tIns="0" rIns="0" bIns="0" rtlCol="0" anchor="ctr"/>
          <a:lstStyle/>
          <a:p>
            <a:pPr>
              <a:lnSpc>
                <a:spcPct val="120000"/>
              </a:lnSpc>
            </a:pPr>
            <a:r>
              <a:rPr lang="en-US" sz="1313" dirty="0">
                <a:solidFill>
                  <a:srgbClr val="45556C"/>
                </a:solidFill>
                <a:latin typeface="Quattrocento Sans" pitchFamily="34" charset="0"/>
                <a:ea typeface="Quattrocento Sans" pitchFamily="34" charset="-122"/>
                <a:cs typeface="Quattrocento Sans" pitchFamily="34" charset="-120"/>
              </a:rPr>
              <a:t>VS Code settings and extensions</a:t>
            </a:r>
            <a:endParaRPr lang="en-US" sz="1600" dirty="0"/>
          </a:p>
        </p:txBody>
      </p:sp>
      <p:sp>
        <p:nvSpPr>
          <p:cNvPr id="34" name="Shape 32"/>
          <p:cNvSpPr/>
          <p:nvPr/>
        </p:nvSpPr>
        <p:spPr>
          <a:xfrm>
            <a:off x="4333875" y="5086350"/>
            <a:ext cx="3524250" cy="1000125"/>
          </a:xfrm>
          <a:custGeom>
            <a:avLst/>
            <a:gdLst/>
            <a:ahLst/>
            <a:cxnLst/>
            <a:rect l="l" t="t" r="r" b="b"/>
            <a:pathLst>
              <a:path w="3524250" h="1000125">
                <a:moveTo>
                  <a:pt x="95252" y="0"/>
                </a:moveTo>
                <a:lnTo>
                  <a:pt x="3428998" y="0"/>
                </a:lnTo>
                <a:cubicBezTo>
                  <a:pt x="3481604" y="0"/>
                  <a:pt x="3524250" y="42646"/>
                  <a:pt x="3524250" y="95252"/>
                </a:cubicBezTo>
                <a:lnTo>
                  <a:pt x="3524250" y="904873"/>
                </a:lnTo>
                <a:cubicBezTo>
                  <a:pt x="3524250" y="957479"/>
                  <a:pt x="3481604" y="1000125"/>
                  <a:pt x="3428998" y="1000125"/>
                </a:cubicBezTo>
                <a:lnTo>
                  <a:pt x="95252" y="1000125"/>
                </a:lnTo>
                <a:cubicBezTo>
                  <a:pt x="42646" y="1000125"/>
                  <a:pt x="0" y="957479"/>
                  <a:pt x="0" y="904873"/>
                </a:cubicBezTo>
                <a:lnTo>
                  <a:pt x="0" y="95252"/>
                </a:lnTo>
                <a:cubicBezTo>
                  <a:pt x="0" y="42646"/>
                  <a:pt x="42646" y="0"/>
                  <a:pt x="95252"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5" name="Shape 33"/>
          <p:cNvSpPr/>
          <p:nvPr/>
        </p:nvSpPr>
        <p:spPr>
          <a:xfrm>
            <a:off x="4572000" y="5324475"/>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44648" y="95250"/>
                </a:moveTo>
                <a:cubicBezTo>
                  <a:pt x="39700" y="95250"/>
                  <a:pt x="35719" y="99231"/>
                  <a:pt x="35719" y="104180"/>
                </a:cubicBezTo>
                <a:cubicBezTo>
                  <a:pt x="35719" y="109128"/>
                  <a:pt x="39700" y="113109"/>
                  <a:pt x="44648" y="113109"/>
                </a:cubicBezTo>
                <a:lnTo>
                  <a:pt x="98227" y="113109"/>
                </a:lnTo>
                <a:cubicBezTo>
                  <a:pt x="103175" y="113109"/>
                  <a:pt x="107156" y="109128"/>
                  <a:pt x="107156" y="104180"/>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8"/>
                  <a:pt x="44648" y="148828"/>
                </a:cubicBezTo>
                <a:lnTo>
                  <a:pt x="98227" y="148828"/>
                </a:lnTo>
                <a:cubicBezTo>
                  <a:pt x="103175" y="148828"/>
                  <a:pt x="107156" y="144847"/>
                  <a:pt x="107156" y="139898"/>
                </a:cubicBezTo>
                <a:cubicBezTo>
                  <a:pt x="107156" y="134950"/>
                  <a:pt x="103175" y="130969"/>
                  <a:pt x="98227" y="130969"/>
                </a:cubicBezTo>
                <a:lnTo>
                  <a:pt x="44648" y="130969"/>
                </a:lnTo>
                <a:close/>
              </a:path>
            </a:pathLst>
          </a:custGeom>
          <a:solidFill>
            <a:srgbClr val="AD46FF"/>
          </a:solidFill>
          <a:ln/>
        </p:spPr>
      </p:sp>
      <p:sp>
        <p:nvSpPr>
          <p:cNvPr id="36" name="Text 34"/>
          <p:cNvSpPr/>
          <p:nvPr/>
        </p:nvSpPr>
        <p:spPr>
          <a:xfrm>
            <a:off x="4857750" y="5276850"/>
            <a:ext cx="866775" cy="285750"/>
          </a:xfrm>
          <a:prstGeom prst="rect">
            <a:avLst/>
          </a:prstGeom>
          <a:noFill/>
          <a:ln/>
        </p:spPr>
        <p:txBody>
          <a:bodyPr wrap="square" lIns="0" tIns="0" rIns="0" bIns="0" rtlCol="0" anchor="ctr"/>
          <a:lstStyle/>
          <a:p>
            <a:pPr>
              <a:lnSpc>
                <a:spcPct val="130000"/>
              </a:lnSpc>
            </a:pPr>
            <a:r>
              <a:rPr lang="en-US" sz="1500" b="1" dirty="0">
                <a:solidFill>
                  <a:srgbClr val="1D293D"/>
                </a:solidFill>
                <a:latin typeface="Quattrocento Sans" pitchFamily="34" charset="0"/>
                <a:ea typeface="Quattrocento Sans" pitchFamily="34" charset="-122"/>
                <a:cs typeface="Quattrocento Sans" pitchFamily="34" charset="-120"/>
              </a:rPr>
              <a:t>Text Files</a:t>
            </a:r>
            <a:endParaRPr lang="en-US" sz="1600" dirty="0"/>
          </a:p>
        </p:txBody>
      </p:sp>
      <p:sp>
        <p:nvSpPr>
          <p:cNvPr id="37" name="Text 35"/>
          <p:cNvSpPr/>
          <p:nvPr/>
        </p:nvSpPr>
        <p:spPr>
          <a:xfrm>
            <a:off x="4524375" y="5657850"/>
            <a:ext cx="3226594" cy="238125"/>
          </a:xfrm>
          <a:prstGeom prst="rect">
            <a:avLst/>
          </a:prstGeom>
          <a:noFill/>
          <a:ln/>
        </p:spPr>
        <p:txBody>
          <a:bodyPr wrap="square" lIns="0" tIns="0" rIns="0" bIns="0" rtlCol="0" anchor="ctr"/>
          <a:lstStyle/>
          <a:p>
            <a:pPr>
              <a:lnSpc>
                <a:spcPct val="120000"/>
              </a:lnSpc>
            </a:pPr>
            <a:r>
              <a:rPr lang="en-US" sz="1313" dirty="0">
                <a:solidFill>
                  <a:srgbClr val="45556C"/>
                </a:solidFill>
                <a:latin typeface="Quattrocento Sans" pitchFamily="34" charset="0"/>
                <a:ea typeface="Quattrocento Sans" pitchFamily="34" charset="-122"/>
                <a:cs typeface="Quattrocento Sans" pitchFamily="34" charset="-120"/>
              </a:rPr>
              <a:t>Package lists for npm, pip, Composer</a:t>
            </a:r>
            <a:endParaRPr lang="en-US" sz="1600" dirty="0"/>
          </a:p>
        </p:txBody>
      </p:sp>
      <p:sp>
        <p:nvSpPr>
          <p:cNvPr id="38" name="Shape 36"/>
          <p:cNvSpPr/>
          <p:nvPr/>
        </p:nvSpPr>
        <p:spPr>
          <a:xfrm>
            <a:off x="8048625" y="5086350"/>
            <a:ext cx="3524250" cy="1000125"/>
          </a:xfrm>
          <a:custGeom>
            <a:avLst/>
            <a:gdLst/>
            <a:ahLst/>
            <a:cxnLst/>
            <a:rect l="l" t="t" r="r" b="b"/>
            <a:pathLst>
              <a:path w="3524250" h="1000125">
                <a:moveTo>
                  <a:pt x="95252" y="0"/>
                </a:moveTo>
                <a:lnTo>
                  <a:pt x="3428998" y="0"/>
                </a:lnTo>
                <a:cubicBezTo>
                  <a:pt x="3481604" y="0"/>
                  <a:pt x="3524250" y="42646"/>
                  <a:pt x="3524250" y="95252"/>
                </a:cubicBezTo>
                <a:lnTo>
                  <a:pt x="3524250" y="904873"/>
                </a:lnTo>
                <a:cubicBezTo>
                  <a:pt x="3524250" y="957479"/>
                  <a:pt x="3481604" y="1000125"/>
                  <a:pt x="3428998" y="1000125"/>
                </a:cubicBezTo>
                <a:lnTo>
                  <a:pt x="95252" y="1000125"/>
                </a:lnTo>
                <a:cubicBezTo>
                  <a:pt x="42646" y="1000125"/>
                  <a:pt x="0" y="957479"/>
                  <a:pt x="0" y="904873"/>
                </a:cubicBezTo>
                <a:lnTo>
                  <a:pt x="0" y="95252"/>
                </a:lnTo>
                <a:cubicBezTo>
                  <a:pt x="0" y="42646"/>
                  <a:pt x="42646" y="0"/>
                  <a:pt x="95252"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9" name="Shape 37"/>
          <p:cNvSpPr/>
          <p:nvPr/>
        </p:nvSpPr>
        <p:spPr>
          <a:xfrm>
            <a:off x="8262938" y="5324475"/>
            <a:ext cx="190500" cy="190500"/>
          </a:xfrm>
          <a:custGeom>
            <a:avLst/>
            <a:gdLst/>
            <a:ahLst/>
            <a:cxnLst/>
            <a:rect l="l" t="t" r="r" b="b"/>
            <a:pathLst>
              <a:path w="190500" h="190500">
                <a:moveTo>
                  <a:pt x="23812" y="166688"/>
                </a:moveTo>
                <a:lnTo>
                  <a:pt x="166688" y="166688"/>
                </a:lnTo>
                <a:cubicBezTo>
                  <a:pt x="179822" y="166688"/>
                  <a:pt x="190500" y="156009"/>
                  <a:pt x="190500" y="142875"/>
                </a:cubicBezTo>
                <a:lnTo>
                  <a:pt x="190500" y="53578"/>
                </a:lnTo>
                <a:cubicBezTo>
                  <a:pt x="190500" y="40444"/>
                  <a:pt x="179822" y="29766"/>
                  <a:pt x="166688" y="29766"/>
                </a:cubicBezTo>
                <a:lnTo>
                  <a:pt x="111137" y="29766"/>
                </a:lnTo>
                <a:cubicBezTo>
                  <a:pt x="108570" y="29766"/>
                  <a:pt x="106040" y="28947"/>
                  <a:pt x="103994" y="27384"/>
                </a:cubicBezTo>
                <a:lnTo>
                  <a:pt x="89706" y="16669"/>
                </a:lnTo>
                <a:cubicBezTo>
                  <a:pt x="85576" y="13581"/>
                  <a:pt x="80553" y="11906"/>
                  <a:pt x="75419" y="11906"/>
                </a:cubicBezTo>
                <a:lnTo>
                  <a:pt x="23812" y="11906"/>
                </a:lnTo>
                <a:cubicBezTo>
                  <a:pt x="10678" y="11906"/>
                  <a:pt x="0" y="22585"/>
                  <a:pt x="0" y="35719"/>
                </a:cubicBezTo>
                <a:lnTo>
                  <a:pt x="0" y="142875"/>
                </a:lnTo>
                <a:cubicBezTo>
                  <a:pt x="0" y="156009"/>
                  <a:pt x="10678" y="166688"/>
                  <a:pt x="23812" y="166688"/>
                </a:cubicBezTo>
                <a:close/>
              </a:path>
            </a:pathLst>
          </a:custGeom>
          <a:solidFill>
            <a:srgbClr val="AD46FF"/>
          </a:solidFill>
          <a:ln/>
        </p:spPr>
      </p:sp>
      <p:sp>
        <p:nvSpPr>
          <p:cNvPr id="40" name="Text 38"/>
          <p:cNvSpPr/>
          <p:nvPr/>
        </p:nvSpPr>
        <p:spPr>
          <a:xfrm>
            <a:off x="8572500" y="5276850"/>
            <a:ext cx="1676400" cy="285750"/>
          </a:xfrm>
          <a:prstGeom prst="rect">
            <a:avLst/>
          </a:prstGeom>
          <a:noFill/>
          <a:ln/>
        </p:spPr>
        <p:txBody>
          <a:bodyPr wrap="square" lIns="0" tIns="0" rIns="0" bIns="0" rtlCol="0" anchor="ctr"/>
          <a:lstStyle/>
          <a:p>
            <a:pPr>
              <a:lnSpc>
                <a:spcPct val="130000"/>
              </a:lnSpc>
            </a:pPr>
            <a:r>
              <a:rPr lang="en-US" sz="1500" b="1" dirty="0">
                <a:solidFill>
                  <a:srgbClr val="1D293D"/>
                </a:solidFill>
                <a:latin typeface="Quattrocento Sans" pitchFamily="34" charset="0"/>
                <a:ea typeface="Quattrocento Sans" pitchFamily="34" charset="-122"/>
                <a:cs typeface="Quattrocento Sans" pitchFamily="34" charset="-120"/>
              </a:rPr>
              <a:t>Directory Structure</a:t>
            </a:r>
            <a:endParaRPr lang="en-US" sz="1600" dirty="0"/>
          </a:p>
        </p:txBody>
      </p:sp>
      <p:sp>
        <p:nvSpPr>
          <p:cNvPr id="41" name="Text 39"/>
          <p:cNvSpPr/>
          <p:nvPr/>
        </p:nvSpPr>
        <p:spPr>
          <a:xfrm>
            <a:off x="8239125" y="5657850"/>
            <a:ext cx="3226594" cy="238125"/>
          </a:xfrm>
          <a:prstGeom prst="rect">
            <a:avLst/>
          </a:prstGeom>
          <a:noFill/>
          <a:ln/>
        </p:spPr>
        <p:txBody>
          <a:bodyPr wrap="square" lIns="0" tIns="0" rIns="0" bIns="0" rtlCol="0" anchor="ctr"/>
          <a:lstStyle/>
          <a:p>
            <a:pPr>
              <a:lnSpc>
                <a:spcPct val="120000"/>
              </a:lnSpc>
            </a:pPr>
            <a:r>
              <a:rPr lang="en-US" sz="1313" dirty="0">
                <a:solidFill>
                  <a:srgbClr val="45556C"/>
                </a:solidFill>
                <a:latin typeface="Quattrocento Sans" pitchFamily="34" charset="0"/>
                <a:ea typeface="Quattrocento Sans" pitchFamily="34" charset="-122"/>
                <a:cs typeface="Quattrocento Sans" pitchFamily="34" charset="-120"/>
              </a:rPr>
              <a:t>Organized backup storage</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31755" y="887445"/>
            <a:ext cx="3500016" cy="33176"/>
          </a:xfrm>
          <a:custGeom>
            <a:avLst/>
            <a:gdLst/>
            <a:ahLst/>
            <a:cxnLst/>
            <a:rect l="l" t="t" r="r" b="b"/>
            <a:pathLst>
              <a:path w="3500016" h="33176">
                <a:moveTo>
                  <a:pt x="0" y="0"/>
                </a:moveTo>
                <a:lnTo>
                  <a:pt x="3500016" y="0"/>
                </a:lnTo>
                <a:lnTo>
                  <a:pt x="3500016" y="33176"/>
                </a:lnTo>
                <a:lnTo>
                  <a:pt x="0" y="33176"/>
                </a:lnTo>
                <a:lnTo>
                  <a:pt x="0" y="0"/>
                </a:lnTo>
                <a:close/>
              </a:path>
            </a:pathLst>
          </a:custGeom>
          <a:solidFill>
            <a:srgbClr val="2B7FFF"/>
          </a:solidFill>
          <a:ln/>
        </p:spPr>
      </p:sp>
      <p:sp>
        <p:nvSpPr>
          <p:cNvPr id="3" name="Text 1"/>
          <p:cNvSpPr/>
          <p:nvPr/>
        </p:nvSpPr>
        <p:spPr>
          <a:xfrm>
            <a:off x="331755" y="331755"/>
            <a:ext cx="3686629" cy="539102"/>
          </a:xfrm>
          <a:prstGeom prst="rect">
            <a:avLst/>
          </a:prstGeom>
          <a:noFill/>
          <a:ln/>
        </p:spPr>
        <p:txBody>
          <a:bodyPr wrap="square" lIns="0" tIns="0" rIns="0" bIns="124408" rtlCol="0" anchor="ctr"/>
          <a:lstStyle/>
          <a:p>
            <a:pPr>
              <a:lnSpc>
                <a:spcPct val="90000"/>
              </a:lnSpc>
            </a:pPr>
            <a:r>
              <a:rPr lang="en-US" sz="2939" b="1" dirty="0">
                <a:solidFill>
                  <a:srgbClr val="1D293D"/>
                </a:solidFill>
                <a:latin typeface="Quattrocento Sans" pitchFamily="34" charset="0"/>
                <a:ea typeface="Quattrocento Sans" pitchFamily="34" charset="-122"/>
                <a:cs typeface="Quattrocento Sans" pitchFamily="34" charset="-120"/>
              </a:rPr>
              <a:t>Tools and Techniques</a:t>
            </a:r>
            <a:endParaRPr lang="en-US" sz="1600" dirty="0"/>
          </a:p>
        </p:txBody>
      </p:sp>
      <p:sp>
        <p:nvSpPr>
          <p:cNvPr id="4" name="Shape 2"/>
          <p:cNvSpPr/>
          <p:nvPr/>
        </p:nvSpPr>
        <p:spPr>
          <a:xfrm>
            <a:off x="335073" y="1156167"/>
            <a:ext cx="3697411" cy="2577737"/>
          </a:xfrm>
          <a:custGeom>
            <a:avLst/>
            <a:gdLst/>
            <a:ahLst/>
            <a:cxnLst/>
            <a:rect l="l" t="t" r="r" b="b"/>
            <a:pathLst>
              <a:path w="3697411" h="2577737">
                <a:moveTo>
                  <a:pt x="82952" y="0"/>
                </a:moveTo>
                <a:lnTo>
                  <a:pt x="3614459" y="0"/>
                </a:lnTo>
                <a:cubicBezTo>
                  <a:pt x="3660272" y="0"/>
                  <a:pt x="3697411" y="37139"/>
                  <a:pt x="3697411" y="82952"/>
                </a:cubicBezTo>
                <a:lnTo>
                  <a:pt x="3697411" y="2494786"/>
                </a:lnTo>
                <a:cubicBezTo>
                  <a:pt x="3697411" y="2540598"/>
                  <a:pt x="3660272" y="2577737"/>
                  <a:pt x="3614459" y="2577737"/>
                </a:cubicBezTo>
                <a:lnTo>
                  <a:pt x="82952" y="2577737"/>
                </a:lnTo>
                <a:cubicBezTo>
                  <a:pt x="37139" y="2577737"/>
                  <a:pt x="0" y="2540598"/>
                  <a:pt x="0" y="2494786"/>
                </a:cubicBezTo>
                <a:lnTo>
                  <a:pt x="0" y="82952"/>
                </a:lnTo>
                <a:cubicBezTo>
                  <a:pt x="0" y="37169"/>
                  <a:pt x="37169" y="0"/>
                  <a:pt x="82952" y="0"/>
                </a:cubicBezTo>
                <a:close/>
              </a:path>
            </a:pathLst>
          </a:custGeom>
          <a:gradFill rotWithShape="1" flip="none">
            <a:gsLst>
              <a:gs pos="0">
                <a:srgbClr val="EFF6FF"/>
              </a:gs>
              <a:gs pos="100000">
                <a:srgbClr val="FFFFFF"/>
              </a:gs>
            </a:gsLst>
            <a:lin ang="5400000" scaled="1"/>
          </a:gradFill>
          <a:ln w="10160">
            <a:solidFill>
              <a:srgbClr val="BEDBFF"/>
            </a:solidFill>
            <a:prstDash val="solid"/>
          </a:ln>
        </p:spPr>
      </p:sp>
      <p:sp>
        <p:nvSpPr>
          <p:cNvPr id="5" name="Shape 3"/>
          <p:cNvSpPr/>
          <p:nvPr/>
        </p:nvSpPr>
        <p:spPr>
          <a:xfrm>
            <a:off x="1852541" y="1366833"/>
            <a:ext cx="663510" cy="663510"/>
          </a:xfrm>
          <a:custGeom>
            <a:avLst/>
            <a:gdLst/>
            <a:ahLst/>
            <a:cxnLst/>
            <a:rect l="l" t="t" r="r" b="b"/>
            <a:pathLst>
              <a:path w="663510" h="663510">
                <a:moveTo>
                  <a:pt x="331755" y="0"/>
                </a:moveTo>
                <a:lnTo>
                  <a:pt x="331755" y="0"/>
                </a:lnTo>
                <a:cubicBezTo>
                  <a:pt x="514856" y="0"/>
                  <a:pt x="663510" y="148654"/>
                  <a:pt x="663510" y="331755"/>
                </a:cubicBezTo>
                <a:lnTo>
                  <a:pt x="663510" y="331755"/>
                </a:lnTo>
                <a:cubicBezTo>
                  <a:pt x="663510" y="514856"/>
                  <a:pt x="514856" y="663510"/>
                  <a:pt x="331755" y="663510"/>
                </a:cubicBezTo>
                <a:lnTo>
                  <a:pt x="331755" y="663510"/>
                </a:lnTo>
                <a:cubicBezTo>
                  <a:pt x="148654" y="663510"/>
                  <a:pt x="0" y="514856"/>
                  <a:pt x="0" y="331755"/>
                </a:cubicBezTo>
                <a:lnTo>
                  <a:pt x="0" y="331755"/>
                </a:lnTo>
                <a:cubicBezTo>
                  <a:pt x="0" y="148654"/>
                  <a:pt x="148654" y="0"/>
                  <a:pt x="331755" y="0"/>
                </a:cubicBezTo>
                <a:close/>
              </a:path>
            </a:pathLst>
          </a:custGeom>
          <a:solidFill>
            <a:srgbClr val="2B7FFF"/>
          </a:solidFill>
          <a:ln/>
        </p:spPr>
      </p:sp>
      <p:sp>
        <p:nvSpPr>
          <p:cNvPr id="6" name="Shape 4"/>
          <p:cNvSpPr/>
          <p:nvPr/>
        </p:nvSpPr>
        <p:spPr>
          <a:xfrm>
            <a:off x="2048743" y="1545152"/>
            <a:ext cx="272143" cy="311020"/>
          </a:xfrm>
          <a:custGeom>
            <a:avLst/>
            <a:gdLst/>
            <a:ahLst/>
            <a:cxnLst/>
            <a:rect l="l" t="t" r="r" b="b"/>
            <a:pathLst>
              <a:path w="272143" h="311020">
                <a:moveTo>
                  <a:pt x="0" y="56919"/>
                </a:moveTo>
                <a:lnTo>
                  <a:pt x="111530" y="41550"/>
                </a:lnTo>
                <a:lnTo>
                  <a:pt x="111530" y="149314"/>
                </a:lnTo>
                <a:lnTo>
                  <a:pt x="0" y="149314"/>
                </a:lnTo>
                <a:lnTo>
                  <a:pt x="0" y="56919"/>
                </a:lnTo>
                <a:close/>
                <a:moveTo>
                  <a:pt x="0" y="254101"/>
                </a:moveTo>
                <a:lnTo>
                  <a:pt x="111530" y="269470"/>
                </a:lnTo>
                <a:lnTo>
                  <a:pt x="111530" y="163043"/>
                </a:lnTo>
                <a:lnTo>
                  <a:pt x="0" y="163043"/>
                </a:lnTo>
                <a:lnTo>
                  <a:pt x="0" y="254101"/>
                </a:lnTo>
                <a:close/>
                <a:moveTo>
                  <a:pt x="123801" y="271110"/>
                </a:moveTo>
                <a:lnTo>
                  <a:pt x="272143" y="291582"/>
                </a:lnTo>
                <a:lnTo>
                  <a:pt x="272143" y="163043"/>
                </a:lnTo>
                <a:lnTo>
                  <a:pt x="123801" y="163043"/>
                </a:lnTo>
                <a:lnTo>
                  <a:pt x="123801" y="271110"/>
                </a:lnTo>
                <a:close/>
                <a:moveTo>
                  <a:pt x="123801" y="39910"/>
                </a:moveTo>
                <a:lnTo>
                  <a:pt x="123801" y="149314"/>
                </a:lnTo>
                <a:lnTo>
                  <a:pt x="272143" y="149314"/>
                </a:lnTo>
                <a:lnTo>
                  <a:pt x="272143" y="19439"/>
                </a:lnTo>
                <a:lnTo>
                  <a:pt x="123801" y="39910"/>
                </a:lnTo>
                <a:close/>
              </a:path>
            </a:pathLst>
          </a:custGeom>
          <a:solidFill>
            <a:srgbClr val="FFFFFF"/>
          </a:solidFill>
          <a:ln/>
        </p:spPr>
      </p:sp>
      <p:sp>
        <p:nvSpPr>
          <p:cNvPr id="7" name="Text 5"/>
          <p:cNvSpPr/>
          <p:nvPr/>
        </p:nvSpPr>
        <p:spPr>
          <a:xfrm>
            <a:off x="493900" y="2154752"/>
            <a:ext cx="3379755" cy="290286"/>
          </a:xfrm>
          <a:prstGeom prst="rect">
            <a:avLst/>
          </a:prstGeom>
          <a:noFill/>
          <a:ln/>
        </p:spPr>
        <p:txBody>
          <a:bodyPr wrap="square" lIns="0" tIns="0" rIns="0" bIns="0" rtlCol="0" anchor="ctr"/>
          <a:lstStyle/>
          <a:p>
            <a:pPr algn="ctr">
              <a:lnSpc>
                <a:spcPct val="120000"/>
              </a:lnSpc>
            </a:pPr>
            <a:r>
              <a:rPr lang="en-US" sz="1633" b="1" dirty="0">
                <a:solidFill>
                  <a:srgbClr val="1D293D"/>
                </a:solidFill>
                <a:latin typeface="Quattrocento Sans" pitchFamily="34" charset="0"/>
                <a:ea typeface="Quattrocento Sans" pitchFamily="34" charset="-122"/>
                <a:cs typeface="Quattrocento Sans" pitchFamily="34" charset="-120"/>
              </a:rPr>
              <a:t>PowerShell (.ps1)</a:t>
            </a:r>
            <a:endParaRPr lang="en-US" sz="1600" dirty="0"/>
          </a:p>
        </p:txBody>
      </p:sp>
      <p:sp>
        <p:nvSpPr>
          <p:cNvPr id="8" name="Shape 6"/>
          <p:cNvSpPr/>
          <p:nvPr/>
        </p:nvSpPr>
        <p:spPr>
          <a:xfrm>
            <a:off x="576839" y="2652384"/>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2B7FFF"/>
          </a:solidFill>
          <a:ln/>
        </p:spPr>
      </p:sp>
      <p:sp>
        <p:nvSpPr>
          <p:cNvPr id="9" name="Text 7"/>
          <p:cNvSpPr/>
          <p:nvPr/>
        </p:nvSpPr>
        <p:spPr>
          <a:xfrm>
            <a:off x="836023" y="2610915"/>
            <a:ext cx="1642188"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Windows automation</a:t>
            </a:r>
            <a:endParaRPr lang="en-US" sz="1600" dirty="0"/>
          </a:p>
        </p:txBody>
      </p:sp>
      <p:sp>
        <p:nvSpPr>
          <p:cNvPr id="10" name="Shape 8"/>
          <p:cNvSpPr/>
          <p:nvPr/>
        </p:nvSpPr>
        <p:spPr>
          <a:xfrm>
            <a:off x="576839" y="298414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2B7FFF"/>
          </a:solidFill>
          <a:ln/>
        </p:spPr>
      </p:sp>
      <p:sp>
        <p:nvSpPr>
          <p:cNvPr id="11" name="Text 9"/>
          <p:cNvSpPr/>
          <p:nvPr/>
        </p:nvSpPr>
        <p:spPr>
          <a:xfrm>
            <a:off x="836023" y="2942670"/>
            <a:ext cx="1177731"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Registry access</a:t>
            </a:r>
            <a:endParaRPr lang="en-US" sz="1600" dirty="0"/>
          </a:p>
        </p:txBody>
      </p:sp>
      <p:sp>
        <p:nvSpPr>
          <p:cNvPr id="12" name="Shape 10"/>
          <p:cNvSpPr/>
          <p:nvPr/>
        </p:nvSpPr>
        <p:spPr>
          <a:xfrm>
            <a:off x="576839" y="3315895"/>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2B7FFF"/>
          </a:solidFill>
          <a:ln/>
        </p:spPr>
      </p:sp>
      <p:sp>
        <p:nvSpPr>
          <p:cNvPr id="13" name="Text 11"/>
          <p:cNvSpPr/>
          <p:nvPr/>
        </p:nvSpPr>
        <p:spPr>
          <a:xfrm>
            <a:off x="836023" y="3274425"/>
            <a:ext cx="1127967"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File operations</a:t>
            </a:r>
            <a:endParaRPr lang="en-US" sz="1600" dirty="0"/>
          </a:p>
        </p:txBody>
      </p:sp>
      <p:sp>
        <p:nvSpPr>
          <p:cNvPr id="14" name="Shape 12"/>
          <p:cNvSpPr/>
          <p:nvPr/>
        </p:nvSpPr>
        <p:spPr>
          <a:xfrm>
            <a:off x="4247606" y="1156167"/>
            <a:ext cx="3697411" cy="2577737"/>
          </a:xfrm>
          <a:custGeom>
            <a:avLst/>
            <a:gdLst/>
            <a:ahLst/>
            <a:cxnLst/>
            <a:rect l="l" t="t" r="r" b="b"/>
            <a:pathLst>
              <a:path w="3697411" h="2577737">
                <a:moveTo>
                  <a:pt x="82952" y="0"/>
                </a:moveTo>
                <a:lnTo>
                  <a:pt x="3614459" y="0"/>
                </a:lnTo>
                <a:cubicBezTo>
                  <a:pt x="3660272" y="0"/>
                  <a:pt x="3697411" y="37139"/>
                  <a:pt x="3697411" y="82952"/>
                </a:cubicBezTo>
                <a:lnTo>
                  <a:pt x="3697411" y="2494786"/>
                </a:lnTo>
                <a:cubicBezTo>
                  <a:pt x="3697411" y="2540598"/>
                  <a:pt x="3660272" y="2577737"/>
                  <a:pt x="3614459" y="2577737"/>
                </a:cubicBezTo>
                <a:lnTo>
                  <a:pt x="82952" y="2577737"/>
                </a:lnTo>
                <a:cubicBezTo>
                  <a:pt x="37139" y="2577737"/>
                  <a:pt x="0" y="2540598"/>
                  <a:pt x="0" y="2494786"/>
                </a:cubicBezTo>
                <a:lnTo>
                  <a:pt x="0" y="82952"/>
                </a:lnTo>
                <a:cubicBezTo>
                  <a:pt x="0" y="37169"/>
                  <a:pt x="37169" y="0"/>
                  <a:pt x="82952" y="0"/>
                </a:cubicBezTo>
                <a:close/>
              </a:path>
            </a:pathLst>
          </a:custGeom>
          <a:gradFill rotWithShape="1" flip="none">
            <a:gsLst>
              <a:gs pos="0">
                <a:srgbClr val="F0FDF4"/>
              </a:gs>
              <a:gs pos="100000">
                <a:srgbClr val="FFFFFF"/>
              </a:gs>
            </a:gsLst>
            <a:lin ang="5400000" scaled="1"/>
          </a:gradFill>
          <a:ln w="10160">
            <a:solidFill>
              <a:srgbClr val="B9F8CF"/>
            </a:solidFill>
            <a:prstDash val="solid"/>
          </a:ln>
        </p:spPr>
      </p:sp>
      <p:sp>
        <p:nvSpPr>
          <p:cNvPr id="15" name="Shape 13"/>
          <p:cNvSpPr/>
          <p:nvPr/>
        </p:nvSpPr>
        <p:spPr>
          <a:xfrm>
            <a:off x="5765075" y="1366833"/>
            <a:ext cx="663510" cy="663510"/>
          </a:xfrm>
          <a:custGeom>
            <a:avLst/>
            <a:gdLst/>
            <a:ahLst/>
            <a:cxnLst/>
            <a:rect l="l" t="t" r="r" b="b"/>
            <a:pathLst>
              <a:path w="663510" h="663510">
                <a:moveTo>
                  <a:pt x="331755" y="0"/>
                </a:moveTo>
                <a:lnTo>
                  <a:pt x="331755" y="0"/>
                </a:lnTo>
                <a:cubicBezTo>
                  <a:pt x="514856" y="0"/>
                  <a:pt x="663510" y="148654"/>
                  <a:pt x="663510" y="331755"/>
                </a:cubicBezTo>
                <a:lnTo>
                  <a:pt x="663510" y="331755"/>
                </a:lnTo>
                <a:cubicBezTo>
                  <a:pt x="663510" y="514856"/>
                  <a:pt x="514856" y="663510"/>
                  <a:pt x="331755" y="663510"/>
                </a:cubicBezTo>
                <a:lnTo>
                  <a:pt x="331755" y="663510"/>
                </a:lnTo>
                <a:cubicBezTo>
                  <a:pt x="148654" y="663510"/>
                  <a:pt x="0" y="514856"/>
                  <a:pt x="0" y="331755"/>
                </a:cubicBezTo>
                <a:lnTo>
                  <a:pt x="0" y="331755"/>
                </a:lnTo>
                <a:cubicBezTo>
                  <a:pt x="0" y="148654"/>
                  <a:pt x="148654" y="0"/>
                  <a:pt x="331755" y="0"/>
                </a:cubicBezTo>
                <a:close/>
              </a:path>
            </a:pathLst>
          </a:custGeom>
          <a:solidFill>
            <a:srgbClr val="00C950"/>
          </a:solidFill>
          <a:ln/>
        </p:spPr>
      </p:sp>
      <p:sp>
        <p:nvSpPr>
          <p:cNvPr id="16" name="Shape 14"/>
          <p:cNvSpPr/>
          <p:nvPr/>
        </p:nvSpPr>
        <p:spPr>
          <a:xfrm>
            <a:off x="5941838" y="1545152"/>
            <a:ext cx="311020" cy="311020"/>
          </a:xfrm>
          <a:custGeom>
            <a:avLst/>
            <a:gdLst/>
            <a:ahLst/>
            <a:cxnLst/>
            <a:rect l="l" t="t" r="r" b="b"/>
            <a:pathLst>
              <a:path w="311020" h="311020">
                <a:moveTo>
                  <a:pt x="5710" y="72045"/>
                </a:moveTo>
                <a:cubicBezTo>
                  <a:pt x="-1883" y="64452"/>
                  <a:pt x="-1883" y="52120"/>
                  <a:pt x="5710" y="44527"/>
                </a:cubicBezTo>
                <a:cubicBezTo>
                  <a:pt x="13303" y="36934"/>
                  <a:pt x="25635" y="36934"/>
                  <a:pt x="33228" y="44527"/>
                </a:cubicBezTo>
                <a:lnTo>
                  <a:pt x="130422" y="141721"/>
                </a:lnTo>
                <a:cubicBezTo>
                  <a:pt x="138015" y="149314"/>
                  <a:pt x="138015" y="161646"/>
                  <a:pt x="130422" y="169239"/>
                </a:cubicBezTo>
                <a:lnTo>
                  <a:pt x="33228" y="266433"/>
                </a:lnTo>
                <a:cubicBezTo>
                  <a:pt x="25635" y="274026"/>
                  <a:pt x="13303" y="274026"/>
                  <a:pt x="5710" y="266433"/>
                </a:cubicBezTo>
                <a:cubicBezTo>
                  <a:pt x="-1883" y="258839"/>
                  <a:pt x="-1883" y="246508"/>
                  <a:pt x="5710" y="238915"/>
                </a:cubicBezTo>
                <a:lnTo>
                  <a:pt x="89115" y="155510"/>
                </a:lnTo>
                <a:lnTo>
                  <a:pt x="5710" y="72045"/>
                </a:lnTo>
                <a:close/>
                <a:moveTo>
                  <a:pt x="136071" y="233265"/>
                </a:moveTo>
                <a:lnTo>
                  <a:pt x="291582" y="233265"/>
                </a:lnTo>
                <a:cubicBezTo>
                  <a:pt x="302334" y="233265"/>
                  <a:pt x="311020" y="241952"/>
                  <a:pt x="311020" y="252704"/>
                </a:cubicBezTo>
                <a:cubicBezTo>
                  <a:pt x="311020" y="263456"/>
                  <a:pt x="302334" y="272143"/>
                  <a:pt x="291582" y="272143"/>
                </a:cubicBezTo>
                <a:lnTo>
                  <a:pt x="136071" y="272143"/>
                </a:lnTo>
                <a:cubicBezTo>
                  <a:pt x="125319" y="272143"/>
                  <a:pt x="116633" y="263456"/>
                  <a:pt x="116633" y="252704"/>
                </a:cubicBezTo>
                <a:cubicBezTo>
                  <a:pt x="116633" y="241952"/>
                  <a:pt x="125319" y="233265"/>
                  <a:pt x="136071" y="233265"/>
                </a:cubicBezTo>
                <a:close/>
              </a:path>
            </a:pathLst>
          </a:custGeom>
          <a:solidFill>
            <a:srgbClr val="FFFFFF"/>
          </a:solidFill>
          <a:ln/>
        </p:spPr>
      </p:sp>
      <p:sp>
        <p:nvSpPr>
          <p:cNvPr id="17" name="Text 15"/>
          <p:cNvSpPr/>
          <p:nvPr/>
        </p:nvSpPr>
        <p:spPr>
          <a:xfrm>
            <a:off x="4406434" y="2154752"/>
            <a:ext cx="3379755" cy="290286"/>
          </a:xfrm>
          <a:prstGeom prst="rect">
            <a:avLst/>
          </a:prstGeom>
          <a:noFill/>
          <a:ln/>
        </p:spPr>
        <p:txBody>
          <a:bodyPr wrap="square" lIns="0" tIns="0" rIns="0" bIns="0" rtlCol="0" anchor="ctr"/>
          <a:lstStyle/>
          <a:p>
            <a:pPr algn="ctr">
              <a:lnSpc>
                <a:spcPct val="120000"/>
              </a:lnSpc>
            </a:pPr>
            <a:r>
              <a:rPr lang="en-US" sz="1633" b="1" dirty="0">
                <a:solidFill>
                  <a:srgbClr val="1D293D"/>
                </a:solidFill>
                <a:latin typeface="Quattrocento Sans" pitchFamily="34" charset="0"/>
                <a:ea typeface="Quattrocento Sans" pitchFamily="34" charset="-122"/>
                <a:cs typeface="Quattrocento Sans" pitchFamily="34" charset="-120"/>
              </a:rPr>
              <a:t>Shell Scripting (.sh)</a:t>
            </a:r>
            <a:endParaRPr lang="en-US" sz="1600" dirty="0"/>
          </a:p>
        </p:txBody>
      </p:sp>
      <p:sp>
        <p:nvSpPr>
          <p:cNvPr id="18" name="Shape 16"/>
          <p:cNvSpPr/>
          <p:nvPr/>
        </p:nvSpPr>
        <p:spPr>
          <a:xfrm>
            <a:off x="4489373" y="2652384"/>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C950"/>
          </a:solidFill>
          <a:ln/>
        </p:spPr>
      </p:sp>
      <p:sp>
        <p:nvSpPr>
          <p:cNvPr id="19" name="Text 17"/>
          <p:cNvSpPr/>
          <p:nvPr/>
        </p:nvSpPr>
        <p:spPr>
          <a:xfrm>
            <a:off x="4748556" y="2610915"/>
            <a:ext cx="1327020"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Linux automation</a:t>
            </a:r>
            <a:endParaRPr lang="en-US" sz="1600" dirty="0"/>
          </a:p>
        </p:txBody>
      </p:sp>
      <p:sp>
        <p:nvSpPr>
          <p:cNvPr id="20" name="Shape 18"/>
          <p:cNvSpPr/>
          <p:nvPr/>
        </p:nvSpPr>
        <p:spPr>
          <a:xfrm>
            <a:off x="4489373" y="298414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C950"/>
          </a:solidFill>
          <a:ln/>
        </p:spPr>
      </p:sp>
      <p:sp>
        <p:nvSpPr>
          <p:cNvPr id="21" name="Text 19"/>
          <p:cNvSpPr/>
          <p:nvPr/>
        </p:nvSpPr>
        <p:spPr>
          <a:xfrm>
            <a:off x="4748556" y="2942670"/>
            <a:ext cx="1468016"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macOS automation</a:t>
            </a:r>
            <a:endParaRPr lang="en-US" sz="1600" dirty="0"/>
          </a:p>
        </p:txBody>
      </p:sp>
      <p:sp>
        <p:nvSpPr>
          <p:cNvPr id="22" name="Shape 20"/>
          <p:cNvSpPr/>
          <p:nvPr/>
        </p:nvSpPr>
        <p:spPr>
          <a:xfrm>
            <a:off x="4489373" y="3315895"/>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C950"/>
          </a:solidFill>
          <a:ln/>
        </p:spPr>
      </p:sp>
      <p:sp>
        <p:nvSpPr>
          <p:cNvPr id="23" name="Text 21"/>
          <p:cNvSpPr/>
          <p:nvPr/>
        </p:nvSpPr>
        <p:spPr>
          <a:xfrm>
            <a:off x="4748556" y="3274425"/>
            <a:ext cx="1252376"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Unix commands</a:t>
            </a:r>
            <a:endParaRPr lang="en-US" sz="1600" dirty="0"/>
          </a:p>
        </p:txBody>
      </p:sp>
      <p:sp>
        <p:nvSpPr>
          <p:cNvPr id="24" name="Shape 22"/>
          <p:cNvSpPr/>
          <p:nvPr/>
        </p:nvSpPr>
        <p:spPr>
          <a:xfrm>
            <a:off x="8160139" y="1156167"/>
            <a:ext cx="3697411" cy="2577737"/>
          </a:xfrm>
          <a:custGeom>
            <a:avLst/>
            <a:gdLst/>
            <a:ahLst/>
            <a:cxnLst/>
            <a:rect l="l" t="t" r="r" b="b"/>
            <a:pathLst>
              <a:path w="3697411" h="2577737">
                <a:moveTo>
                  <a:pt x="82952" y="0"/>
                </a:moveTo>
                <a:lnTo>
                  <a:pt x="3614459" y="0"/>
                </a:lnTo>
                <a:cubicBezTo>
                  <a:pt x="3660272" y="0"/>
                  <a:pt x="3697411" y="37139"/>
                  <a:pt x="3697411" y="82952"/>
                </a:cubicBezTo>
                <a:lnTo>
                  <a:pt x="3697411" y="2494786"/>
                </a:lnTo>
                <a:cubicBezTo>
                  <a:pt x="3697411" y="2540598"/>
                  <a:pt x="3660272" y="2577737"/>
                  <a:pt x="3614459" y="2577737"/>
                </a:cubicBezTo>
                <a:lnTo>
                  <a:pt x="82952" y="2577737"/>
                </a:lnTo>
                <a:cubicBezTo>
                  <a:pt x="37139" y="2577737"/>
                  <a:pt x="0" y="2540598"/>
                  <a:pt x="0" y="2494786"/>
                </a:cubicBezTo>
                <a:lnTo>
                  <a:pt x="0" y="82952"/>
                </a:lnTo>
                <a:cubicBezTo>
                  <a:pt x="0" y="37169"/>
                  <a:pt x="37169" y="0"/>
                  <a:pt x="82952" y="0"/>
                </a:cubicBezTo>
                <a:close/>
              </a:path>
            </a:pathLst>
          </a:custGeom>
          <a:gradFill rotWithShape="1" flip="none">
            <a:gsLst>
              <a:gs pos="0">
                <a:srgbClr val="FAF5FF"/>
              </a:gs>
              <a:gs pos="100000">
                <a:srgbClr val="FFFFFF"/>
              </a:gs>
            </a:gsLst>
            <a:lin ang="5400000" scaled="1"/>
          </a:gradFill>
          <a:ln w="10160">
            <a:solidFill>
              <a:srgbClr val="E9D4FF"/>
            </a:solidFill>
            <a:prstDash val="solid"/>
          </a:ln>
        </p:spPr>
      </p:sp>
      <p:sp>
        <p:nvSpPr>
          <p:cNvPr id="25" name="Shape 23"/>
          <p:cNvSpPr/>
          <p:nvPr/>
        </p:nvSpPr>
        <p:spPr>
          <a:xfrm>
            <a:off x="9677608" y="1366833"/>
            <a:ext cx="663510" cy="663510"/>
          </a:xfrm>
          <a:custGeom>
            <a:avLst/>
            <a:gdLst/>
            <a:ahLst/>
            <a:cxnLst/>
            <a:rect l="l" t="t" r="r" b="b"/>
            <a:pathLst>
              <a:path w="663510" h="663510">
                <a:moveTo>
                  <a:pt x="331755" y="0"/>
                </a:moveTo>
                <a:lnTo>
                  <a:pt x="331755" y="0"/>
                </a:lnTo>
                <a:cubicBezTo>
                  <a:pt x="514856" y="0"/>
                  <a:pt x="663510" y="148654"/>
                  <a:pt x="663510" y="331755"/>
                </a:cubicBezTo>
                <a:lnTo>
                  <a:pt x="663510" y="331755"/>
                </a:lnTo>
                <a:cubicBezTo>
                  <a:pt x="663510" y="514856"/>
                  <a:pt x="514856" y="663510"/>
                  <a:pt x="331755" y="663510"/>
                </a:cubicBezTo>
                <a:lnTo>
                  <a:pt x="331755" y="663510"/>
                </a:lnTo>
                <a:cubicBezTo>
                  <a:pt x="148654" y="663510"/>
                  <a:pt x="0" y="514856"/>
                  <a:pt x="0" y="331755"/>
                </a:cubicBezTo>
                <a:lnTo>
                  <a:pt x="0" y="331755"/>
                </a:lnTo>
                <a:cubicBezTo>
                  <a:pt x="0" y="148654"/>
                  <a:pt x="148654" y="0"/>
                  <a:pt x="331755" y="0"/>
                </a:cubicBezTo>
                <a:close/>
              </a:path>
            </a:pathLst>
          </a:custGeom>
          <a:solidFill>
            <a:srgbClr val="AD46FF"/>
          </a:solidFill>
          <a:ln/>
        </p:spPr>
      </p:sp>
      <p:sp>
        <p:nvSpPr>
          <p:cNvPr id="26" name="Shape 24"/>
          <p:cNvSpPr/>
          <p:nvPr/>
        </p:nvSpPr>
        <p:spPr>
          <a:xfrm>
            <a:off x="9893248" y="1545152"/>
            <a:ext cx="233265" cy="311020"/>
          </a:xfrm>
          <a:custGeom>
            <a:avLst/>
            <a:gdLst/>
            <a:ahLst/>
            <a:cxnLst/>
            <a:rect l="l" t="t" r="r" b="b"/>
            <a:pathLst>
              <a:path w="233265" h="311020">
                <a:moveTo>
                  <a:pt x="0" y="38878"/>
                </a:moveTo>
                <a:cubicBezTo>
                  <a:pt x="0" y="17434"/>
                  <a:pt x="17434" y="0"/>
                  <a:pt x="38878" y="0"/>
                </a:cubicBezTo>
                <a:lnTo>
                  <a:pt x="129693" y="0"/>
                </a:lnTo>
                <a:cubicBezTo>
                  <a:pt x="140020" y="0"/>
                  <a:pt x="149922" y="4070"/>
                  <a:pt x="157211" y="11360"/>
                </a:cubicBezTo>
                <a:lnTo>
                  <a:pt x="221906" y="76115"/>
                </a:lnTo>
                <a:cubicBezTo>
                  <a:pt x="229195" y="83404"/>
                  <a:pt x="233265" y="93306"/>
                  <a:pt x="233265" y="103633"/>
                </a:cubicBezTo>
                <a:lnTo>
                  <a:pt x="233265" y="272143"/>
                </a:lnTo>
                <a:cubicBezTo>
                  <a:pt x="233265" y="293586"/>
                  <a:pt x="215831" y="311020"/>
                  <a:pt x="194388" y="311020"/>
                </a:cubicBezTo>
                <a:lnTo>
                  <a:pt x="38878" y="311020"/>
                </a:lnTo>
                <a:cubicBezTo>
                  <a:pt x="17434" y="311020"/>
                  <a:pt x="0" y="293586"/>
                  <a:pt x="0" y="272143"/>
                </a:cubicBezTo>
                <a:lnTo>
                  <a:pt x="0" y="38878"/>
                </a:lnTo>
                <a:close/>
                <a:moveTo>
                  <a:pt x="126352" y="35537"/>
                </a:moveTo>
                <a:lnTo>
                  <a:pt x="126352" y="92334"/>
                </a:lnTo>
                <a:cubicBezTo>
                  <a:pt x="126352" y="100413"/>
                  <a:pt x="132852" y="106913"/>
                  <a:pt x="140931" y="106913"/>
                </a:cubicBezTo>
                <a:lnTo>
                  <a:pt x="197729" y="106913"/>
                </a:lnTo>
                <a:lnTo>
                  <a:pt x="126352" y="35537"/>
                </a:lnTo>
                <a:close/>
                <a:moveTo>
                  <a:pt x="93671" y="179566"/>
                </a:moveTo>
                <a:cubicBezTo>
                  <a:pt x="98895" y="173430"/>
                  <a:pt x="98227" y="164258"/>
                  <a:pt x="92091" y="159033"/>
                </a:cubicBezTo>
                <a:cubicBezTo>
                  <a:pt x="85956" y="153809"/>
                  <a:pt x="76783" y="154478"/>
                  <a:pt x="71559" y="160613"/>
                </a:cubicBezTo>
                <a:lnTo>
                  <a:pt x="42401" y="194631"/>
                </a:lnTo>
                <a:cubicBezTo>
                  <a:pt x="37723" y="200098"/>
                  <a:pt x="37723" y="208116"/>
                  <a:pt x="42401" y="213584"/>
                </a:cubicBezTo>
                <a:lnTo>
                  <a:pt x="71559" y="247601"/>
                </a:lnTo>
                <a:cubicBezTo>
                  <a:pt x="76783" y="253737"/>
                  <a:pt x="86017" y="254405"/>
                  <a:pt x="92091" y="249181"/>
                </a:cubicBezTo>
                <a:cubicBezTo>
                  <a:pt x="98166" y="243957"/>
                  <a:pt x="98895" y="234723"/>
                  <a:pt x="93671" y="228649"/>
                </a:cubicBezTo>
                <a:lnTo>
                  <a:pt x="72652" y="204107"/>
                </a:lnTo>
                <a:lnTo>
                  <a:pt x="93671" y="179566"/>
                </a:lnTo>
                <a:close/>
                <a:moveTo>
                  <a:pt x="161706" y="160613"/>
                </a:moveTo>
                <a:cubicBezTo>
                  <a:pt x="156482" y="154478"/>
                  <a:pt x="147249" y="153809"/>
                  <a:pt x="141174" y="159033"/>
                </a:cubicBezTo>
                <a:cubicBezTo>
                  <a:pt x="135099" y="164258"/>
                  <a:pt x="134371" y="173491"/>
                  <a:pt x="139595" y="179566"/>
                </a:cubicBezTo>
                <a:lnTo>
                  <a:pt x="160613" y="204107"/>
                </a:lnTo>
                <a:lnTo>
                  <a:pt x="139595" y="228649"/>
                </a:lnTo>
                <a:cubicBezTo>
                  <a:pt x="134371" y="234784"/>
                  <a:pt x="135039" y="243957"/>
                  <a:pt x="141174" y="249181"/>
                </a:cubicBezTo>
                <a:cubicBezTo>
                  <a:pt x="147309" y="254405"/>
                  <a:pt x="156482" y="253737"/>
                  <a:pt x="161706" y="247601"/>
                </a:cubicBezTo>
                <a:lnTo>
                  <a:pt x="190864" y="213584"/>
                </a:lnTo>
                <a:cubicBezTo>
                  <a:pt x="195542" y="208116"/>
                  <a:pt x="195542" y="200098"/>
                  <a:pt x="190864" y="194631"/>
                </a:cubicBezTo>
                <a:lnTo>
                  <a:pt x="161706" y="160613"/>
                </a:lnTo>
                <a:close/>
              </a:path>
            </a:pathLst>
          </a:custGeom>
          <a:solidFill>
            <a:srgbClr val="FFFFFF"/>
          </a:solidFill>
          <a:ln/>
        </p:spPr>
      </p:sp>
      <p:sp>
        <p:nvSpPr>
          <p:cNvPr id="27" name="Text 25"/>
          <p:cNvSpPr/>
          <p:nvPr/>
        </p:nvSpPr>
        <p:spPr>
          <a:xfrm>
            <a:off x="8318967" y="2154752"/>
            <a:ext cx="3379755" cy="290286"/>
          </a:xfrm>
          <a:prstGeom prst="rect">
            <a:avLst/>
          </a:prstGeom>
          <a:noFill/>
          <a:ln/>
        </p:spPr>
        <p:txBody>
          <a:bodyPr wrap="square" lIns="0" tIns="0" rIns="0" bIns="0" rtlCol="0" anchor="ctr"/>
          <a:lstStyle/>
          <a:p>
            <a:pPr algn="ctr">
              <a:lnSpc>
                <a:spcPct val="120000"/>
              </a:lnSpc>
            </a:pPr>
            <a:r>
              <a:rPr lang="en-US" sz="1633" b="1" dirty="0">
                <a:solidFill>
                  <a:srgbClr val="1D293D"/>
                </a:solidFill>
                <a:latin typeface="Quattrocento Sans" pitchFamily="34" charset="0"/>
                <a:ea typeface="Quattrocento Sans" pitchFamily="34" charset="-122"/>
                <a:cs typeface="Quattrocento Sans" pitchFamily="34" charset="-120"/>
              </a:rPr>
              <a:t>JSON and Text Files</a:t>
            </a:r>
            <a:endParaRPr lang="en-US" sz="1600" dirty="0"/>
          </a:p>
        </p:txBody>
      </p:sp>
      <p:sp>
        <p:nvSpPr>
          <p:cNvPr id="28" name="Shape 26"/>
          <p:cNvSpPr/>
          <p:nvPr/>
        </p:nvSpPr>
        <p:spPr>
          <a:xfrm>
            <a:off x="8401906" y="2652384"/>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AD46FF"/>
          </a:solidFill>
          <a:ln/>
        </p:spPr>
      </p:sp>
      <p:sp>
        <p:nvSpPr>
          <p:cNvPr id="29" name="Text 27"/>
          <p:cNvSpPr/>
          <p:nvPr/>
        </p:nvSpPr>
        <p:spPr>
          <a:xfrm>
            <a:off x="8661089" y="2610915"/>
            <a:ext cx="1194318"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Structured data</a:t>
            </a:r>
            <a:endParaRPr lang="en-US" sz="1600" dirty="0"/>
          </a:p>
        </p:txBody>
      </p:sp>
      <p:sp>
        <p:nvSpPr>
          <p:cNvPr id="30" name="Shape 28"/>
          <p:cNvSpPr/>
          <p:nvPr/>
        </p:nvSpPr>
        <p:spPr>
          <a:xfrm>
            <a:off x="8401906" y="298414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AD46FF"/>
          </a:solidFill>
          <a:ln/>
        </p:spPr>
      </p:sp>
      <p:sp>
        <p:nvSpPr>
          <p:cNvPr id="31" name="Text 29"/>
          <p:cNvSpPr/>
          <p:nvPr/>
        </p:nvSpPr>
        <p:spPr>
          <a:xfrm>
            <a:off x="8661089" y="2942670"/>
            <a:ext cx="1310433"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Human-readable</a:t>
            </a:r>
            <a:endParaRPr lang="en-US" sz="1600" dirty="0"/>
          </a:p>
        </p:txBody>
      </p:sp>
      <p:sp>
        <p:nvSpPr>
          <p:cNvPr id="32" name="Shape 30"/>
          <p:cNvSpPr/>
          <p:nvPr/>
        </p:nvSpPr>
        <p:spPr>
          <a:xfrm>
            <a:off x="8401906" y="3315895"/>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AD46FF"/>
          </a:solidFill>
          <a:ln/>
        </p:spPr>
      </p:sp>
      <p:sp>
        <p:nvSpPr>
          <p:cNvPr id="33" name="Text 31"/>
          <p:cNvSpPr/>
          <p:nvPr/>
        </p:nvSpPr>
        <p:spPr>
          <a:xfrm>
            <a:off x="8661089" y="3274425"/>
            <a:ext cx="1177731"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Version control</a:t>
            </a:r>
            <a:endParaRPr lang="en-US" sz="1600" dirty="0"/>
          </a:p>
        </p:txBody>
      </p:sp>
      <p:sp>
        <p:nvSpPr>
          <p:cNvPr id="34" name="Shape 32"/>
          <p:cNvSpPr/>
          <p:nvPr/>
        </p:nvSpPr>
        <p:spPr>
          <a:xfrm>
            <a:off x="335073" y="3947887"/>
            <a:ext cx="3697411" cy="2577737"/>
          </a:xfrm>
          <a:custGeom>
            <a:avLst/>
            <a:gdLst/>
            <a:ahLst/>
            <a:cxnLst/>
            <a:rect l="l" t="t" r="r" b="b"/>
            <a:pathLst>
              <a:path w="3697411" h="2577737">
                <a:moveTo>
                  <a:pt x="82952" y="0"/>
                </a:moveTo>
                <a:lnTo>
                  <a:pt x="3614459" y="0"/>
                </a:lnTo>
                <a:cubicBezTo>
                  <a:pt x="3660272" y="0"/>
                  <a:pt x="3697411" y="37139"/>
                  <a:pt x="3697411" y="82952"/>
                </a:cubicBezTo>
                <a:lnTo>
                  <a:pt x="3697411" y="2494786"/>
                </a:lnTo>
                <a:cubicBezTo>
                  <a:pt x="3697411" y="2540598"/>
                  <a:pt x="3660272" y="2577737"/>
                  <a:pt x="3614459" y="2577737"/>
                </a:cubicBezTo>
                <a:lnTo>
                  <a:pt x="82952" y="2577737"/>
                </a:lnTo>
                <a:cubicBezTo>
                  <a:pt x="37139" y="2577737"/>
                  <a:pt x="0" y="2540598"/>
                  <a:pt x="0" y="2494786"/>
                </a:cubicBezTo>
                <a:lnTo>
                  <a:pt x="0" y="82952"/>
                </a:lnTo>
                <a:cubicBezTo>
                  <a:pt x="0" y="37169"/>
                  <a:pt x="37169" y="0"/>
                  <a:pt x="82952" y="0"/>
                </a:cubicBezTo>
                <a:close/>
              </a:path>
            </a:pathLst>
          </a:custGeom>
          <a:gradFill rotWithShape="1" flip="none">
            <a:gsLst>
              <a:gs pos="0">
                <a:srgbClr val="FFF7ED"/>
              </a:gs>
              <a:gs pos="100000">
                <a:srgbClr val="FFFFFF"/>
              </a:gs>
            </a:gsLst>
            <a:lin ang="5400000" scaled="1"/>
          </a:gradFill>
          <a:ln w="10160">
            <a:solidFill>
              <a:srgbClr val="FFD6A7"/>
            </a:solidFill>
            <a:prstDash val="solid"/>
          </a:ln>
        </p:spPr>
      </p:sp>
      <p:sp>
        <p:nvSpPr>
          <p:cNvPr id="35" name="Shape 33"/>
          <p:cNvSpPr/>
          <p:nvPr/>
        </p:nvSpPr>
        <p:spPr>
          <a:xfrm>
            <a:off x="1852541" y="4158549"/>
            <a:ext cx="663510" cy="663510"/>
          </a:xfrm>
          <a:custGeom>
            <a:avLst/>
            <a:gdLst/>
            <a:ahLst/>
            <a:cxnLst/>
            <a:rect l="l" t="t" r="r" b="b"/>
            <a:pathLst>
              <a:path w="663510" h="663510">
                <a:moveTo>
                  <a:pt x="331755" y="0"/>
                </a:moveTo>
                <a:lnTo>
                  <a:pt x="331755" y="0"/>
                </a:lnTo>
                <a:cubicBezTo>
                  <a:pt x="514856" y="0"/>
                  <a:pt x="663510" y="148654"/>
                  <a:pt x="663510" y="331755"/>
                </a:cubicBezTo>
                <a:lnTo>
                  <a:pt x="663510" y="331755"/>
                </a:lnTo>
                <a:cubicBezTo>
                  <a:pt x="663510" y="514856"/>
                  <a:pt x="514856" y="663510"/>
                  <a:pt x="331755" y="663510"/>
                </a:cubicBezTo>
                <a:lnTo>
                  <a:pt x="331755" y="663510"/>
                </a:lnTo>
                <a:cubicBezTo>
                  <a:pt x="148654" y="663510"/>
                  <a:pt x="0" y="514856"/>
                  <a:pt x="0" y="331755"/>
                </a:cubicBezTo>
                <a:lnTo>
                  <a:pt x="0" y="331755"/>
                </a:lnTo>
                <a:cubicBezTo>
                  <a:pt x="0" y="148654"/>
                  <a:pt x="148654" y="0"/>
                  <a:pt x="331755" y="0"/>
                </a:cubicBezTo>
                <a:close/>
              </a:path>
            </a:pathLst>
          </a:custGeom>
          <a:solidFill>
            <a:srgbClr val="FF6900"/>
          </a:solidFill>
          <a:ln/>
        </p:spPr>
      </p:sp>
      <p:sp>
        <p:nvSpPr>
          <p:cNvPr id="36" name="Shape 34"/>
          <p:cNvSpPr/>
          <p:nvPr/>
        </p:nvSpPr>
        <p:spPr>
          <a:xfrm>
            <a:off x="2029305" y="4336868"/>
            <a:ext cx="311020" cy="311020"/>
          </a:xfrm>
          <a:custGeom>
            <a:avLst/>
            <a:gdLst/>
            <a:ahLst/>
            <a:cxnLst/>
            <a:rect l="l" t="t" r="r" b="b"/>
            <a:pathLst>
              <a:path w="311020" h="311020">
                <a:moveTo>
                  <a:pt x="136071" y="0"/>
                </a:moveTo>
                <a:lnTo>
                  <a:pt x="136071" y="38878"/>
                </a:lnTo>
                <a:cubicBezTo>
                  <a:pt x="136071" y="44223"/>
                  <a:pt x="140445" y="48597"/>
                  <a:pt x="145791" y="48597"/>
                </a:cubicBezTo>
                <a:lnTo>
                  <a:pt x="165230" y="48597"/>
                </a:lnTo>
                <a:cubicBezTo>
                  <a:pt x="170575" y="48597"/>
                  <a:pt x="174949" y="44223"/>
                  <a:pt x="174949" y="38878"/>
                </a:cubicBezTo>
                <a:lnTo>
                  <a:pt x="174949" y="0"/>
                </a:lnTo>
                <a:lnTo>
                  <a:pt x="194388" y="0"/>
                </a:lnTo>
                <a:cubicBezTo>
                  <a:pt x="215831" y="0"/>
                  <a:pt x="233265" y="17434"/>
                  <a:pt x="233265" y="38878"/>
                </a:cubicBezTo>
                <a:lnTo>
                  <a:pt x="233265" y="116633"/>
                </a:lnTo>
                <a:cubicBezTo>
                  <a:pt x="233265" y="119974"/>
                  <a:pt x="232840" y="123254"/>
                  <a:pt x="232050" y="126352"/>
                </a:cubicBezTo>
                <a:lnTo>
                  <a:pt x="78970" y="126352"/>
                </a:lnTo>
                <a:cubicBezTo>
                  <a:pt x="78180" y="123254"/>
                  <a:pt x="77755" y="119974"/>
                  <a:pt x="77755" y="116633"/>
                </a:cubicBezTo>
                <a:lnTo>
                  <a:pt x="77755" y="38878"/>
                </a:lnTo>
                <a:cubicBezTo>
                  <a:pt x="77755" y="17434"/>
                  <a:pt x="95189" y="0"/>
                  <a:pt x="116633" y="0"/>
                </a:cubicBezTo>
                <a:lnTo>
                  <a:pt x="136071" y="0"/>
                </a:lnTo>
                <a:close/>
                <a:moveTo>
                  <a:pt x="194388" y="311020"/>
                </a:moveTo>
                <a:cubicBezTo>
                  <a:pt x="187584" y="311020"/>
                  <a:pt x="181145" y="309259"/>
                  <a:pt x="175556" y="306161"/>
                </a:cubicBezTo>
                <a:cubicBezTo>
                  <a:pt x="181327" y="296138"/>
                  <a:pt x="184668" y="284535"/>
                  <a:pt x="184668" y="272143"/>
                </a:cubicBezTo>
                <a:lnTo>
                  <a:pt x="184668" y="194388"/>
                </a:lnTo>
                <a:cubicBezTo>
                  <a:pt x="184668" y="181996"/>
                  <a:pt x="181327" y="170393"/>
                  <a:pt x="175556" y="160370"/>
                </a:cubicBezTo>
                <a:cubicBezTo>
                  <a:pt x="181145" y="157272"/>
                  <a:pt x="187523" y="155510"/>
                  <a:pt x="194388" y="155510"/>
                </a:cubicBezTo>
                <a:lnTo>
                  <a:pt x="213827" y="155510"/>
                </a:lnTo>
                <a:lnTo>
                  <a:pt x="213827" y="194388"/>
                </a:lnTo>
                <a:cubicBezTo>
                  <a:pt x="213827" y="199733"/>
                  <a:pt x="218200" y="204107"/>
                  <a:pt x="223546" y="204107"/>
                </a:cubicBezTo>
                <a:lnTo>
                  <a:pt x="242985" y="204107"/>
                </a:lnTo>
                <a:cubicBezTo>
                  <a:pt x="248330" y="204107"/>
                  <a:pt x="252704" y="199733"/>
                  <a:pt x="252704" y="194388"/>
                </a:cubicBezTo>
                <a:lnTo>
                  <a:pt x="252704" y="155510"/>
                </a:lnTo>
                <a:lnTo>
                  <a:pt x="272143" y="155510"/>
                </a:lnTo>
                <a:cubicBezTo>
                  <a:pt x="293586" y="155510"/>
                  <a:pt x="311020" y="172944"/>
                  <a:pt x="311020" y="194388"/>
                </a:cubicBezTo>
                <a:lnTo>
                  <a:pt x="311020" y="272143"/>
                </a:lnTo>
                <a:cubicBezTo>
                  <a:pt x="311020" y="293586"/>
                  <a:pt x="293586" y="311020"/>
                  <a:pt x="272143" y="311020"/>
                </a:cubicBezTo>
                <a:lnTo>
                  <a:pt x="194388" y="311020"/>
                </a:lnTo>
                <a:close/>
                <a:moveTo>
                  <a:pt x="0" y="194388"/>
                </a:moveTo>
                <a:cubicBezTo>
                  <a:pt x="0" y="172944"/>
                  <a:pt x="17434" y="155510"/>
                  <a:pt x="38878" y="155510"/>
                </a:cubicBezTo>
                <a:lnTo>
                  <a:pt x="58316" y="155510"/>
                </a:lnTo>
                <a:lnTo>
                  <a:pt x="58316" y="194388"/>
                </a:lnTo>
                <a:cubicBezTo>
                  <a:pt x="58316" y="199733"/>
                  <a:pt x="62690" y="204107"/>
                  <a:pt x="68036" y="204107"/>
                </a:cubicBezTo>
                <a:lnTo>
                  <a:pt x="87474" y="204107"/>
                </a:lnTo>
                <a:cubicBezTo>
                  <a:pt x="92820" y="204107"/>
                  <a:pt x="97194" y="199733"/>
                  <a:pt x="97194" y="194388"/>
                </a:cubicBezTo>
                <a:lnTo>
                  <a:pt x="97194" y="155510"/>
                </a:lnTo>
                <a:lnTo>
                  <a:pt x="116633" y="155510"/>
                </a:lnTo>
                <a:cubicBezTo>
                  <a:pt x="138076" y="155510"/>
                  <a:pt x="155510" y="172944"/>
                  <a:pt x="155510" y="194388"/>
                </a:cubicBezTo>
                <a:lnTo>
                  <a:pt x="155510" y="272143"/>
                </a:lnTo>
                <a:cubicBezTo>
                  <a:pt x="155510" y="293586"/>
                  <a:pt x="138076" y="311020"/>
                  <a:pt x="116633" y="311020"/>
                </a:cubicBezTo>
                <a:lnTo>
                  <a:pt x="38878" y="311020"/>
                </a:lnTo>
                <a:cubicBezTo>
                  <a:pt x="17434" y="311020"/>
                  <a:pt x="0" y="293586"/>
                  <a:pt x="0" y="272143"/>
                </a:cubicBezTo>
                <a:lnTo>
                  <a:pt x="0" y="194388"/>
                </a:lnTo>
                <a:close/>
              </a:path>
            </a:pathLst>
          </a:custGeom>
          <a:solidFill>
            <a:srgbClr val="FFFFFF"/>
          </a:solidFill>
          <a:ln/>
        </p:spPr>
      </p:sp>
      <p:sp>
        <p:nvSpPr>
          <p:cNvPr id="37" name="Text 35"/>
          <p:cNvSpPr/>
          <p:nvPr/>
        </p:nvSpPr>
        <p:spPr>
          <a:xfrm>
            <a:off x="493900" y="4946468"/>
            <a:ext cx="3379755" cy="290286"/>
          </a:xfrm>
          <a:prstGeom prst="rect">
            <a:avLst/>
          </a:prstGeom>
          <a:noFill/>
          <a:ln/>
        </p:spPr>
        <p:txBody>
          <a:bodyPr wrap="square" lIns="0" tIns="0" rIns="0" bIns="0" rtlCol="0" anchor="ctr"/>
          <a:lstStyle/>
          <a:p>
            <a:pPr algn="ctr">
              <a:lnSpc>
                <a:spcPct val="120000"/>
              </a:lnSpc>
            </a:pPr>
            <a:r>
              <a:rPr lang="en-US" sz="1633" b="1" dirty="0">
                <a:solidFill>
                  <a:srgbClr val="1D293D"/>
                </a:solidFill>
                <a:latin typeface="Quattrocento Sans" pitchFamily="34" charset="0"/>
                <a:ea typeface="Quattrocento Sans" pitchFamily="34" charset="-122"/>
                <a:cs typeface="Quattrocento Sans" pitchFamily="34" charset="-120"/>
              </a:rPr>
              <a:t>npm, pip, Composer</a:t>
            </a:r>
            <a:endParaRPr lang="en-US" sz="1600" dirty="0"/>
          </a:p>
        </p:txBody>
      </p:sp>
      <p:sp>
        <p:nvSpPr>
          <p:cNvPr id="38" name="Shape 36"/>
          <p:cNvSpPr/>
          <p:nvPr/>
        </p:nvSpPr>
        <p:spPr>
          <a:xfrm>
            <a:off x="576839" y="544410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FF6900"/>
          </a:solidFill>
          <a:ln/>
        </p:spPr>
      </p:sp>
      <p:sp>
        <p:nvSpPr>
          <p:cNvPr id="39" name="Text 37"/>
          <p:cNvSpPr/>
          <p:nvPr/>
        </p:nvSpPr>
        <p:spPr>
          <a:xfrm>
            <a:off x="836023" y="5402631"/>
            <a:ext cx="1409959"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Package managers</a:t>
            </a:r>
            <a:endParaRPr lang="en-US" sz="1600" dirty="0"/>
          </a:p>
        </p:txBody>
      </p:sp>
      <p:sp>
        <p:nvSpPr>
          <p:cNvPr id="40" name="Shape 38"/>
          <p:cNvSpPr/>
          <p:nvPr/>
        </p:nvSpPr>
        <p:spPr>
          <a:xfrm>
            <a:off x="576839" y="5775856"/>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FF6900"/>
          </a:solidFill>
          <a:ln/>
        </p:spPr>
      </p:sp>
      <p:sp>
        <p:nvSpPr>
          <p:cNvPr id="41" name="Text 39"/>
          <p:cNvSpPr/>
          <p:nvPr/>
        </p:nvSpPr>
        <p:spPr>
          <a:xfrm>
            <a:off x="836023" y="5734386"/>
            <a:ext cx="1127967"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List generation</a:t>
            </a:r>
            <a:endParaRPr lang="en-US" sz="1600" dirty="0"/>
          </a:p>
        </p:txBody>
      </p:sp>
      <p:sp>
        <p:nvSpPr>
          <p:cNvPr id="42" name="Shape 40"/>
          <p:cNvSpPr/>
          <p:nvPr/>
        </p:nvSpPr>
        <p:spPr>
          <a:xfrm>
            <a:off x="576839" y="6107611"/>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FF6900"/>
          </a:solidFill>
          <a:ln/>
        </p:spPr>
      </p:sp>
      <p:sp>
        <p:nvSpPr>
          <p:cNvPr id="43" name="Text 41"/>
          <p:cNvSpPr/>
          <p:nvPr/>
        </p:nvSpPr>
        <p:spPr>
          <a:xfrm>
            <a:off x="836023" y="6066141"/>
            <a:ext cx="1194318"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Bulk installation</a:t>
            </a:r>
            <a:endParaRPr lang="en-US" sz="1600" dirty="0"/>
          </a:p>
        </p:txBody>
      </p:sp>
      <p:sp>
        <p:nvSpPr>
          <p:cNvPr id="44" name="Shape 42"/>
          <p:cNvSpPr/>
          <p:nvPr/>
        </p:nvSpPr>
        <p:spPr>
          <a:xfrm>
            <a:off x="4247606" y="3947887"/>
            <a:ext cx="7612121" cy="2577737"/>
          </a:xfrm>
          <a:custGeom>
            <a:avLst/>
            <a:gdLst/>
            <a:ahLst/>
            <a:cxnLst/>
            <a:rect l="l" t="t" r="r" b="b"/>
            <a:pathLst>
              <a:path w="7612121" h="2577737">
                <a:moveTo>
                  <a:pt x="82952" y="0"/>
                </a:moveTo>
                <a:lnTo>
                  <a:pt x="7529169" y="0"/>
                </a:lnTo>
                <a:cubicBezTo>
                  <a:pt x="7574982" y="0"/>
                  <a:pt x="7612121" y="37139"/>
                  <a:pt x="7612121" y="82952"/>
                </a:cubicBezTo>
                <a:lnTo>
                  <a:pt x="7612121" y="2494786"/>
                </a:lnTo>
                <a:cubicBezTo>
                  <a:pt x="7612121" y="2540598"/>
                  <a:pt x="7574982" y="2577737"/>
                  <a:pt x="7529169" y="2577737"/>
                </a:cubicBezTo>
                <a:lnTo>
                  <a:pt x="82952" y="2577737"/>
                </a:lnTo>
                <a:cubicBezTo>
                  <a:pt x="37139" y="2577737"/>
                  <a:pt x="0" y="2540598"/>
                  <a:pt x="0" y="2494786"/>
                </a:cubicBezTo>
                <a:lnTo>
                  <a:pt x="0" y="82952"/>
                </a:lnTo>
                <a:cubicBezTo>
                  <a:pt x="0" y="37169"/>
                  <a:pt x="37169" y="0"/>
                  <a:pt x="82952" y="0"/>
                </a:cubicBezTo>
                <a:close/>
              </a:path>
            </a:pathLst>
          </a:custGeom>
          <a:gradFill rotWithShape="1" flip="none">
            <a:gsLst>
              <a:gs pos="0">
                <a:srgbClr val="ECFEFF"/>
              </a:gs>
              <a:gs pos="100000">
                <a:srgbClr val="FFFFFF"/>
              </a:gs>
            </a:gsLst>
            <a:lin ang="5400000" scaled="1"/>
          </a:gradFill>
          <a:ln w="10160">
            <a:solidFill>
              <a:srgbClr val="A2F4FD"/>
            </a:solidFill>
            <a:prstDash val="solid"/>
          </a:ln>
        </p:spPr>
      </p:sp>
      <p:sp>
        <p:nvSpPr>
          <p:cNvPr id="45" name="Shape 43"/>
          <p:cNvSpPr/>
          <p:nvPr/>
        </p:nvSpPr>
        <p:spPr>
          <a:xfrm>
            <a:off x="7721393" y="4158549"/>
            <a:ext cx="663510" cy="663510"/>
          </a:xfrm>
          <a:custGeom>
            <a:avLst/>
            <a:gdLst/>
            <a:ahLst/>
            <a:cxnLst/>
            <a:rect l="l" t="t" r="r" b="b"/>
            <a:pathLst>
              <a:path w="663510" h="663510">
                <a:moveTo>
                  <a:pt x="331755" y="0"/>
                </a:moveTo>
                <a:lnTo>
                  <a:pt x="331755" y="0"/>
                </a:lnTo>
                <a:cubicBezTo>
                  <a:pt x="514856" y="0"/>
                  <a:pt x="663510" y="148654"/>
                  <a:pt x="663510" y="331755"/>
                </a:cubicBezTo>
                <a:lnTo>
                  <a:pt x="663510" y="331755"/>
                </a:lnTo>
                <a:cubicBezTo>
                  <a:pt x="663510" y="514856"/>
                  <a:pt x="514856" y="663510"/>
                  <a:pt x="331755" y="663510"/>
                </a:cubicBezTo>
                <a:lnTo>
                  <a:pt x="331755" y="663510"/>
                </a:lnTo>
                <a:cubicBezTo>
                  <a:pt x="148654" y="663510"/>
                  <a:pt x="0" y="514856"/>
                  <a:pt x="0" y="331755"/>
                </a:cubicBezTo>
                <a:lnTo>
                  <a:pt x="0" y="331755"/>
                </a:lnTo>
                <a:cubicBezTo>
                  <a:pt x="0" y="148654"/>
                  <a:pt x="148654" y="0"/>
                  <a:pt x="331755" y="0"/>
                </a:cubicBezTo>
                <a:close/>
              </a:path>
            </a:pathLst>
          </a:custGeom>
          <a:solidFill>
            <a:srgbClr val="00B8DB"/>
          </a:solidFill>
          <a:ln/>
        </p:spPr>
      </p:sp>
      <p:sp>
        <p:nvSpPr>
          <p:cNvPr id="46" name="Shape 44"/>
          <p:cNvSpPr/>
          <p:nvPr/>
        </p:nvSpPr>
        <p:spPr>
          <a:xfrm>
            <a:off x="7878717" y="4336868"/>
            <a:ext cx="349898" cy="311020"/>
          </a:xfrm>
          <a:custGeom>
            <a:avLst/>
            <a:gdLst/>
            <a:ahLst/>
            <a:cxnLst/>
            <a:rect l="l" t="t" r="r" b="b"/>
            <a:pathLst>
              <a:path w="349898" h="311020">
                <a:moveTo>
                  <a:pt x="219172" y="729"/>
                </a:moveTo>
                <a:cubicBezTo>
                  <a:pt x="208845" y="-2248"/>
                  <a:pt x="198093" y="3766"/>
                  <a:pt x="195117" y="14093"/>
                </a:cubicBezTo>
                <a:lnTo>
                  <a:pt x="117362" y="286236"/>
                </a:lnTo>
                <a:cubicBezTo>
                  <a:pt x="114385" y="296563"/>
                  <a:pt x="120399" y="307315"/>
                  <a:pt x="130726" y="310291"/>
                </a:cubicBezTo>
                <a:cubicBezTo>
                  <a:pt x="141053" y="313268"/>
                  <a:pt x="151805" y="307254"/>
                  <a:pt x="154781" y="296927"/>
                </a:cubicBezTo>
                <a:lnTo>
                  <a:pt x="232536" y="24784"/>
                </a:lnTo>
                <a:cubicBezTo>
                  <a:pt x="235513" y="14458"/>
                  <a:pt x="229499" y="3706"/>
                  <a:pt x="219172" y="729"/>
                </a:cubicBezTo>
                <a:close/>
                <a:moveTo>
                  <a:pt x="258414" y="83404"/>
                </a:moveTo>
                <a:cubicBezTo>
                  <a:pt x="250821" y="90998"/>
                  <a:pt x="250821" y="103329"/>
                  <a:pt x="258414" y="110923"/>
                </a:cubicBezTo>
                <a:lnTo>
                  <a:pt x="303002" y="155510"/>
                </a:lnTo>
                <a:lnTo>
                  <a:pt x="258414" y="200098"/>
                </a:lnTo>
                <a:cubicBezTo>
                  <a:pt x="250821" y="207691"/>
                  <a:pt x="250821" y="220023"/>
                  <a:pt x="258414" y="227616"/>
                </a:cubicBezTo>
                <a:cubicBezTo>
                  <a:pt x="266007" y="235209"/>
                  <a:pt x="278339" y="235209"/>
                  <a:pt x="285932" y="227616"/>
                </a:cubicBezTo>
                <a:lnTo>
                  <a:pt x="344249" y="169300"/>
                </a:lnTo>
                <a:cubicBezTo>
                  <a:pt x="351842" y="161706"/>
                  <a:pt x="351842" y="149375"/>
                  <a:pt x="344249" y="141782"/>
                </a:cubicBezTo>
                <a:lnTo>
                  <a:pt x="285932" y="83465"/>
                </a:lnTo>
                <a:cubicBezTo>
                  <a:pt x="278339" y="75872"/>
                  <a:pt x="266007" y="75872"/>
                  <a:pt x="258414" y="83465"/>
                </a:cubicBezTo>
                <a:close/>
                <a:moveTo>
                  <a:pt x="91544" y="83404"/>
                </a:moveTo>
                <a:cubicBezTo>
                  <a:pt x="83951" y="75811"/>
                  <a:pt x="71620" y="75811"/>
                  <a:pt x="64026" y="83404"/>
                </a:cubicBezTo>
                <a:lnTo>
                  <a:pt x="5710" y="141721"/>
                </a:lnTo>
                <a:cubicBezTo>
                  <a:pt x="-1883" y="149314"/>
                  <a:pt x="-1883" y="161646"/>
                  <a:pt x="5710" y="169239"/>
                </a:cubicBezTo>
                <a:lnTo>
                  <a:pt x="64026" y="227555"/>
                </a:lnTo>
                <a:cubicBezTo>
                  <a:pt x="71620" y="235148"/>
                  <a:pt x="83951" y="235148"/>
                  <a:pt x="91544" y="227555"/>
                </a:cubicBezTo>
                <a:cubicBezTo>
                  <a:pt x="99138" y="219962"/>
                  <a:pt x="99138" y="207630"/>
                  <a:pt x="91544" y="200037"/>
                </a:cubicBezTo>
                <a:lnTo>
                  <a:pt x="46957" y="155510"/>
                </a:lnTo>
                <a:lnTo>
                  <a:pt x="91484" y="110923"/>
                </a:lnTo>
                <a:cubicBezTo>
                  <a:pt x="99077" y="103329"/>
                  <a:pt x="99077" y="90998"/>
                  <a:pt x="91484" y="83404"/>
                </a:cubicBezTo>
                <a:close/>
              </a:path>
            </a:pathLst>
          </a:custGeom>
          <a:solidFill>
            <a:srgbClr val="FFFFFF"/>
          </a:solidFill>
          <a:ln/>
        </p:spPr>
      </p:sp>
      <p:sp>
        <p:nvSpPr>
          <p:cNvPr id="47" name="Text 45"/>
          <p:cNvSpPr/>
          <p:nvPr/>
        </p:nvSpPr>
        <p:spPr>
          <a:xfrm>
            <a:off x="4406434" y="4946468"/>
            <a:ext cx="7294465" cy="290286"/>
          </a:xfrm>
          <a:prstGeom prst="rect">
            <a:avLst/>
          </a:prstGeom>
          <a:noFill/>
          <a:ln/>
        </p:spPr>
        <p:txBody>
          <a:bodyPr wrap="square" lIns="0" tIns="0" rIns="0" bIns="0" rtlCol="0" anchor="ctr"/>
          <a:lstStyle/>
          <a:p>
            <a:pPr algn="ctr">
              <a:lnSpc>
                <a:spcPct val="120000"/>
              </a:lnSpc>
            </a:pPr>
            <a:r>
              <a:rPr lang="en-US" sz="1633" b="1" dirty="0">
                <a:solidFill>
                  <a:srgbClr val="1D293D"/>
                </a:solidFill>
                <a:latin typeface="Quattrocento Sans" pitchFamily="34" charset="0"/>
                <a:ea typeface="Quattrocento Sans" pitchFamily="34" charset="-122"/>
                <a:cs typeface="Quattrocento Sans" pitchFamily="34" charset="-120"/>
              </a:rPr>
              <a:t>VS Code CLI</a:t>
            </a:r>
            <a:endParaRPr lang="en-US" sz="1600" dirty="0"/>
          </a:p>
        </p:txBody>
      </p:sp>
      <p:sp>
        <p:nvSpPr>
          <p:cNvPr id="48" name="Shape 46"/>
          <p:cNvSpPr/>
          <p:nvPr/>
        </p:nvSpPr>
        <p:spPr>
          <a:xfrm>
            <a:off x="4489373" y="544410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B8DB"/>
          </a:solidFill>
          <a:ln/>
        </p:spPr>
      </p:sp>
      <p:sp>
        <p:nvSpPr>
          <p:cNvPr id="49" name="Text 47"/>
          <p:cNvSpPr/>
          <p:nvPr/>
        </p:nvSpPr>
        <p:spPr>
          <a:xfrm>
            <a:off x="4748556" y="5402631"/>
            <a:ext cx="1758302"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Extension management</a:t>
            </a:r>
            <a:endParaRPr lang="en-US" sz="1600" dirty="0"/>
          </a:p>
        </p:txBody>
      </p:sp>
      <p:sp>
        <p:nvSpPr>
          <p:cNvPr id="50" name="Shape 48"/>
          <p:cNvSpPr/>
          <p:nvPr/>
        </p:nvSpPr>
        <p:spPr>
          <a:xfrm>
            <a:off x="4489373" y="5775856"/>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B8DB"/>
          </a:solidFill>
          <a:ln/>
        </p:spPr>
      </p:sp>
      <p:sp>
        <p:nvSpPr>
          <p:cNvPr id="51" name="Text 49"/>
          <p:cNvSpPr/>
          <p:nvPr/>
        </p:nvSpPr>
        <p:spPr>
          <a:xfrm>
            <a:off x="4748556" y="5734386"/>
            <a:ext cx="1708539"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Settings export/import</a:t>
            </a:r>
            <a:endParaRPr lang="en-US" sz="1600" dirty="0"/>
          </a:p>
        </p:txBody>
      </p:sp>
      <p:sp>
        <p:nvSpPr>
          <p:cNvPr id="52" name="Shape 50"/>
          <p:cNvSpPr/>
          <p:nvPr/>
        </p:nvSpPr>
        <p:spPr>
          <a:xfrm>
            <a:off x="8167189" y="5444100"/>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B8DB"/>
          </a:solidFill>
          <a:ln/>
        </p:spPr>
      </p:sp>
      <p:sp>
        <p:nvSpPr>
          <p:cNvPr id="53" name="Text 51"/>
          <p:cNvSpPr/>
          <p:nvPr/>
        </p:nvSpPr>
        <p:spPr>
          <a:xfrm>
            <a:off x="8426373" y="5402631"/>
            <a:ext cx="1832947"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Command-line interface</a:t>
            </a:r>
            <a:endParaRPr lang="en-US" sz="1600" dirty="0"/>
          </a:p>
        </p:txBody>
      </p:sp>
      <p:sp>
        <p:nvSpPr>
          <p:cNvPr id="54" name="Shape 52"/>
          <p:cNvSpPr/>
          <p:nvPr/>
        </p:nvSpPr>
        <p:spPr>
          <a:xfrm>
            <a:off x="8167189" y="5775856"/>
            <a:ext cx="145143" cy="165878"/>
          </a:xfrm>
          <a:custGeom>
            <a:avLst/>
            <a:gdLst/>
            <a:ahLst/>
            <a:cxnLst/>
            <a:rect l="l" t="t" r="r" b="b"/>
            <a:pathLst>
              <a:path w="145143" h="165878">
                <a:moveTo>
                  <a:pt x="140866" y="22711"/>
                </a:moveTo>
                <a:cubicBezTo>
                  <a:pt x="145499" y="26080"/>
                  <a:pt x="146536" y="32560"/>
                  <a:pt x="143167" y="37193"/>
                </a:cubicBezTo>
                <a:lnTo>
                  <a:pt x="60228" y="151234"/>
                </a:lnTo>
                <a:cubicBezTo>
                  <a:pt x="58446" y="153696"/>
                  <a:pt x="55692" y="155219"/>
                  <a:pt x="52647" y="155478"/>
                </a:cubicBezTo>
                <a:cubicBezTo>
                  <a:pt x="49601" y="155737"/>
                  <a:pt x="46653" y="154603"/>
                  <a:pt x="44515" y="152465"/>
                </a:cubicBezTo>
                <a:lnTo>
                  <a:pt x="3045" y="110995"/>
                </a:lnTo>
                <a:cubicBezTo>
                  <a:pt x="-1004" y="106946"/>
                  <a:pt x="-1004" y="100369"/>
                  <a:pt x="3045" y="96319"/>
                </a:cubicBezTo>
                <a:cubicBezTo>
                  <a:pt x="7095" y="92269"/>
                  <a:pt x="13672" y="92269"/>
                  <a:pt x="17722" y="96319"/>
                </a:cubicBezTo>
                <a:lnTo>
                  <a:pt x="50606" y="129203"/>
                </a:lnTo>
                <a:lnTo>
                  <a:pt x="126417" y="24979"/>
                </a:lnTo>
                <a:cubicBezTo>
                  <a:pt x="129786" y="20346"/>
                  <a:pt x="136266" y="19309"/>
                  <a:pt x="140899" y="22679"/>
                </a:cubicBezTo>
                <a:close/>
              </a:path>
            </a:pathLst>
          </a:custGeom>
          <a:solidFill>
            <a:srgbClr val="00B8DB"/>
          </a:solidFill>
          <a:ln/>
        </p:spPr>
      </p:sp>
      <p:sp>
        <p:nvSpPr>
          <p:cNvPr id="55" name="Text 53"/>
          <p:cNvSpPr/>
          <p:nvPr/>
        </p:nvSpPr>
        <p:spPr>
          <a:xfrm>
            <a:off x="8426373" y="5734386"/>
            <a:ext cx="1683657" cy="248816"/>
          </a:xfrm>
          <a:prstGeom prst="rect">
            <a:avLst/>
          </a:prstGeom>
          <a:noFill/>
          <a:ln/>
        </p:spPr>
        <p:txBody>
          <a:bodyPr wrap="square" lIns="0" tIns="0" rIns="0" bIns="0" rtlCol="0" anchor="ctr"/>
          <a:lstStyle/>
          <a:p>
            <a:pPr>
              <a:lnSpc>
                <a:spcPct val="130000"/>
              </a:lnSpc>
            </a:pPr>
            <a:r>
              <a:rPr lang="en-US" sz="1306" dirty="0">
                <a:solidFill>
                  <a:srgbClr val="314158"/>
                </a:solidFill>
                <a:latin typeface="Quattrocento Sans" pitchFamily="34" charset="0"/>
                <a:ea typeface="Quattrocento Sans" pitchFamily="34" charset="-122"/>
                <a:cs typeface="Quattrocento Sans" pitchFamily="34" charset="-120"/>
              </a:rPr>
              <a:t>Automated operations</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7500" y="849313"/>
            <a:ext cx="3349625" cy="31750"/>
          </a:xfrm>
          <a:custGeom>
            <a:avLst/>
            <a:gdLst/>
            <a:ahLst/>
            <a:cxnLst/>
            <a:rect l="l" t="t" r="r" b="b"/>
            <a:pathLst>
              <a:path w="3349625" h="31750">
                <a:moveTo>
                  <a:pt x="0" y="0"/>
                </a:moveTo>
                <a:lnTo>
                  <a:pt x="3349625" y="0"/>
                </a:lnTo>
                <a:lnTo>
                  <a:pt x="3349625" y="31750"/>
                </a:lnTo>
                <a:lnTo>
                  <a:pt x="0" y="31750"/>
                </a:lnTo>
                <a:lnTo>
                  <a:pt x="0" y="0"/>
                </a:lnTo>
                <a:close/>
              </a:path>
            </a:pathLst>
          </a:custGeom>
          <a:solidFill>
            <a:srgbClr val="2B7FFF"/>
          </a:solidFill>
          <a:ln/>
        </p:spPr>
      </p:sp>
      <p:sp>
        <p:nvSpPr>
          <p:cNvPr id="3" name="Text 1"/>
          <p:cNvSpPr/>
          <p:nvPr/>
        </p:nvSpPr>
        <p:spPr>
          <a:xfrm>
            <a:off x="317500" y="317500"/>
            <a:ext cx="3528219" cy="515938"/>
          </a:xfrm>
          <a:prstGeom prst="rect">
            <a:avLst/>
          </a:prstGeom>
          <a:noFill/>
          <a:ln/>
        </p:spPr>
        <p:txBody>
          <a:bodyPr wrap="square" lIns="0" tIns="0" rIns="0" bIns="119063" rtlCol="0" anchor="ctr"/>
          <a:lstStyle/>
          <a:p>
            <a:pPr>
              <a:lnSpc>
                <a:spcPct val="90000"/>
              </a:lnSpc>
            </a:pPr>
            <a:r>
              <a:rPr lang="en-US" sz="2813" b="1" dirty="0">
                <a:solidFill>
                  <a:srgbClr val="1D293D"/>
                </a:solidFill>
                <a:latin typeface="Quattrocento Sans" pitchFamily="34" charset="0"/>
                <a:ea typeface="Quattrocento Sans" pitchFamily="34" charset="-122"/>
                <a:cs typeface="Quattrocento Sans" pitchFamily="34" charset="-120"/>
              </a:rPr>
              <a:t>Technical Explanation</a:t>
            </a:r>
            <a:endParaRPr lang="en-US" sz="1600" dirty="0"/>
          </a:p>
        </p:txBody>
      </p:sp>
      <p:sp>
        <p:nvSpPr>
          <p:cNvPr id="4" name="Shape 2"/>
          <p:cNvSpPr/>
          <p:nvPr/>
        </p:nvSpPr>
        <p:spPr>
          <a:xfrm>
            <a:off x="304800" y="1103313"/>
            <a:ext cx="5556660" cy="3294063"/>
          </a:xfrm>
          <a:custGeom>
            <a:avLst/>
            <a:gdLst/>
            <a:ahLst/>
            <a:cxnLst/>
            <a:rect l="l" t="t" r="r" b="b"/>
            <a:pathLst>
              <a:path w="5556660" h="3294063">
                <a:moveTo>
                  <a:pt x="38159" y="0"/>
                </a:moveTo>
                <a:lnTo>
                  <a:pt x="5518501" y="0"/>
                </a:lnTo>
                <a:cubicBezTo>
                  <a:pt x="5539576" y="0"/>
                  <a:pt x="5556660" y="52665"/>
                  <a:pt x="5556660" y="117631"/>
                </a:cubicBezTo>
                <a:lnTo>
                  <a:pt x="5556660" y="3176432"/>
                </a:lnTo>
                <a:cubicBezTo>
                  <a:pt x="5556660" y="3241397"/>
                  <a:pt x="5539576" y="3294063"/>
                  <a:pt x="5518501" y="3294063"/>
                </a:cubicBezTo>
                <a:lnTo>
                  <a:pt x="38159" y="3294063"/>
                </a:lnTo>
                <a:cubicBezTo>
                  <a:pt x="17084" y="3294063"/>
                  <a:pt x="0" y="3241397"/>
                  <a:pt x="0" y="3176432"/>
                </a:cubicBezTo>
                <a:lnTo>
                  <a:pt x="0" y="117631"/>
                </a:lnTo>
                <a:cubicBezTo>
                  <a:pt x="0" y="52709"/>
                  <a:pt x="17099" y="0"/>
                  <a:pt x="38159" y="0"/>
                </a:cubicBezTo>
                <a:close/>
              </a:path>
            </a:pathLst>
          </a:custGeom>
          <a:gradFill rotWithShape="1" flip="none">
            <a:gsLst>
              <a:gs pos="0">
                <a:srgbClr val="EFF6FF"/>
              </a:gs>
              <a:gs pos="100000">
                <a:srgbClr val="DBEAFE"/>
              </a:gs>
            </a:gsLst>
            <a:lin ang="0" scaled="1"/>
          </a:gradFill>
          <a:ln/>
        </p:spPr>
      </p:sp>
      <p:sp>
        <p:nvSpPr>
          <p:cNvPr id="5" name="Shape 3"/>
          <p:cNvSpPr/>
          <p:nvPr/>
        </p:nvSpPr>
        <p:spPr>
          <a:xfrm>
            <a:off x="515938" y="1301750"/>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2B7FFF"/>
          </a:solidFill>
          <a:ln/>
        </p:spPr>
      </p:sp>
      <p:sp>
        <p:nvSpPr>
          <p:cNvPr id="6" name="Shape 4"/>
          <p:cNvSpPr/>
          <p:nvPr/>
        </p:nvSpPr>
        <p:spPr>
          <a:xfrm>
            <a:off x="691555" y="1460500"/>
            <a:ext cx="208359" cy="238125"/>
          </a:xfrm>
          <a:custGeom>
            <a:avLst/>
            <a:gdLst/>
            <a:ahLst/>
            <a:cxnLst/>
            <a:rect l="l" t="t" r="r" b="b"/>
            <a:pathLst>
              <a:path w="208359" h="238125">
                <a:moveTo>
                  <a:pt x="119062" y="14883"/>
                </a:moveTo>
                <a:cubicBezTo>
                  <a:pt x="119062" y="6651"/>
                  <a:pt x="112412" y="0"/>
                  <a:pt x="104180" y="0"/>
                </a:cubicBezTo>
                <a:cubicBezTo>
                  <a:pt x="95948" y="0"/>
                  <a:pt x="89297" y="6651"/>
                  <a:pt x="89297" y="14883"/>
                </a:cubicBezTo>
                <a:lnTo>
                  <a:pt x="89297" y="112877"/>
                </a:lnTo>
                <a:lnTo>
                  <a:pt x="70042" y="93622"/>
                </a:lnTo>
                <a:cubicBezTo>
                  <a:pt x="64229" y="87809"/>
                  <a:pt x="54787" y="87809"/>
                  <a:pt x="48974" y="93622"/>
                </a:cubicBezTo>
                <a:cubicBezTo>
                  <a:pt x="43160" y="99436"/>
                  <a:pt x="43160" y="108877"/>
                  <a:pt x="48974" y="114691"/>
                </a:cubicBezTo>
                <a:lnTo>
                  <a:pt x="93622" y="159339"/>
                </a:lnTo>
                <a:cubicBezTo>
                  <a:pt x="99436" y="165153"/>
                  <a:pt x="108877" y="165153"/>
                  <a:pt x="114691" y="159339"/>
                </a:cubicBezTo>
                <a:lnTo>
                  <a:pt x="159339" y="114691"/>
                </a:lnTo>
                <a:cubicBezTo>
                  <a:pt x="165153" y="108877"/>
                  <a:pt x="165153" y="99436"/>
                  <a:pt x="159339" y="93622"/>
                </a:cubicBezTo>
                <a:cubicBezTo>
                  <a:pt x="153526" y="87809"/>
                  <a:pt x="144084" y="87809"/>
                  <a:pt x="138271" y="93622"/>
                </a:cubicBezTo>
                <a:lnTo>
                  <a:pt x="119062" y="112877"/>
                </a:lnTo>
                <a:lnTo>
                  <a:pt x="119062" y="14883"/>
                </a:lnTo>
                <a:close/>
                <a:moveTo>
                  <a:pt x="29766" y="148828"/>
                </a:moveTo>
                <a:cubicBezTo>
                  <a:pt x="13348" y="148828"/>
                  <a:pt x="0" y="162176"/>
                  <a:pt x="0" y="178594"/>
                </a:cubicBezTo>
                <a:lnTo>
                  <a:pt x="0" y="193477"/>
                </a:lnTo>
                <a:cubicBezTo>
                  <a:pt x="0" y="209894"/>
                  <a:pt x="13348" y="223242"/>
                  <a:pt x="29766" y="223242"/>
                </a:cubicBezTo>
                <a:lnTo>
                  <a:pt x="178594" y="223242"/>
                </a:lnTo>
                <a:cubicBezTo>
                  <a:pt x="195011" y="223242"/>
                  <a:pt x="208359" y="209894"/>
                  <a:pt x="208359" y="193477"/>
                </a:cubicBezTo>
                <a:lnTo>
                  <a:pt x="208359" y="178594"/>
                </a:lnTo>
                <a:cubicBezTo>
                  <a:pt x="208359" y="162176"/>
                  <a:pt x="195011" y="148828"/>
                  <a:pt x="178594" y="148828"/>
                </a:cubicBezTo>
                <a:lnTo>
                  <a:pt x="156781" y="148828"/>
                </a:lnTo>
                <a:lnTo>
                  <a:pt x="130457" y="175152"/>
                </a:lnTo>
                <a:cubicBezTo>
                  <a:pt x="115946" y="189663"/>
                  <a:pt x="92366" y="189663"/>
                  <a:pt x="77856" y="175152"/>
                </a:cubicBezTo>
                <a:lnTo>
                  <a:pt x="51578" y="148828"/>
                </a:lnTo>
                <a:lnTo>
                  <a:pt x="29766" y="148828"/>
                </a:lnTo>
                <a:close/>
                <a:moveTo>
                  <a:pt x="171152" y="174873"/>
                </a:moveTo>
                <a:cubicBezTo>
                  <a:pt x="177313" y="174873"/>
                  <a:pt x="182314" y="179875"/>
                  <a:pt x="182314" y="186035"/>
                </a:cubicBezTo>
                <a:cubicBezTo>
                  <a:pt x="182314" y="192196"/>
                  <a:pt x="177313" y="197197"/>
                  <a:pt x="171152" y="197197"/>
                </a:cubicBezTo>
                <a:cubicBezTo>
                  <a:pt x="164992" y="197197"/>
                  <a:pt x="159990" y="192196"/>
                  <a:pt x="159990" y="186035"/>
                </a:cubicBezTo>
                <a:cubicBezTo>
                  <a:pt x="159990" y="179875"/>
                  <a:pt x="164992" y="174873"/>
                  <a:pt x="171152" y="174873"/>
                </a:cubicBezTo>
                <a:close/>
              </a:path>
            </a:pathLst>
          </a:custGeom>
          <a:solidFill>
            <a:srgbClr val="FFFFFF"/>
          </a:solidFill>
          <a:ln/>
        </p:spPr>
      </p:sp>
      <p:sp>
        <p:nvSpPr>
          <p:cNvPr id="7" name="Text 5"/>
          <p:cNvSpPr/>
          <p:nvPr/>
        </p:nvSpPr>
        <p:spPr>
          <a:xfrm>
            <a:off x="1230313" y="1420813"/>
            <a:ext cx="1976438"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Backup Workflow</a:t>
            </a:r>
            <a:endParaRPr lang="en-US" sz="1600" dirty="0"/>
          </a:p>
        </p:txBody>
      </p:sp>
      <p:sp>
        <p:nvSpPr>
          <p:cNvPr id="8" name="Shape 6"/>
          <p:cNvSpPr/>
          <p:nvPr/>
        </p:nvSpPr>
        <p:spPr>
          <a:xfrm>
            <a:off x="652778" y="1978025"/>
            <a:ext cx="2258134" cy="995791"/>
          </a:xfrm>
          <a:custGeom>
            <a:avLst/>
            <a:gdLst/>
            <a:ahLst/>
            <a:cxnLst/>
            <a:rect l="l" t="t" r="r" b="b"/>
            <a:pathLst>
              <a:path w="2258134" h="995791">
                <a:moveTo>
                  <a:pt x="66417" y="0"/>
                </a:moveTo>
                <a:lnTo>
                  <a:pt x="2191717" y="0"/>
                </a:lnTo>
                <a:cubicBezTo>
                  <a:pt x="2228398" y="0"/>
                  <a:pt x="2258134" y="31846"/>
                  <a:pt x="2258134" y="71129"/>
                </a:cubicBezTo>
                <a:lnTo>
                  <a:pt x="2258134" y="924662"/>
                </a:lnTo>
                <a:cubicBezTo>
                  <a:pt x="2258134" y="963946"/>
                  <a:pt x="2228398" y="995791"/>
                  <a:pt x="2191717" y="995791"/>
                </a:cubicBezTo>
                <a:lnTo>
                  <a:pt x="66417" y="995791"/>
                </a:lnTo>
                <a:cubicBezTo>
                  <a:pt x="29736" y="995791"/>
                  <a:pt x="0" y="963946"/>
                  <a:pt x="0" y="924662"/>
                </a:cubicBezTo>
                <a:lnTo>
                  <a:pt x="0" y="71129"/>
                </a:lnTo>
                <a:cubicBezTo>
                  <a:pt x="0" y="31872"/>
                  <a:pt x="29760" y="0"/>
                  <a:pt x="66417"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9" name="Shape 7"/>
          <p:cNvSpPr/>
          <p:nvPr/>
        </p:nvSpPr>
        <p:spPr>
          <a:xfrm>
            <a:off x="1553567" y="207168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BEAFE"/>
          </a:solidFill>
          <a:ln/>
        </p:spPr>
      </p:sp>
      <p:sp>
        <p:nvSpPr>
          <p:cNvPr id="10" name="Text 8"/>
          <p:cNvSpPr/>
          <p:nvPr/>
        </p:nvSpPr>
        <p:spPr>
          <a:xfrm>
            <a:off x="1687116" y="2125663"/>
            <a:ext cx="127000" cy="238125"/>
          </a:xfrm>
          <a:prstGeom prst="rect">
            <a:avLst/>
          </a:prstGeom>
          <a:noFill/>
          <a:ln/>
        </p:spPr>
        <p:txBody>
          <a:bodyPr wrap="square" lIns="0" tIns="0" rIns="0" bIns="0" rtlCol="0" anchor="ctr"/>
          <a:lstStyle/>
          <a:p>
            <a:pPr algn="ctr">
              <a:lnSpc>
                <a:spcPct val="130000"/>
              </a:lnSpc>
            </a:pPr>
            <a:r>
              <a:rPr lang="en-US" sz="1250" b="1" dirty="0">
                <a:solidFill>
                  <a:srgbClr val="155DFC"/>
                </a:solidFill>
                <a:latin typeface="Quattrocento Sans" pitchFamily="34" charset="0"/>
                <a:ea typeface="Quattrocento Sans" pitchFamily="34" charset="-122"/>
                <a:cs typeface="Quattrocento Sans" pitchFamily="34" charset="-120"/>
              </a:rPr>
              <a:t>1</a:t>
            </a:r>
            <a:endParaRPr lang="en-US" sz="1600" dirty="0"/>
          </a:p>
        </p:txBody>
      </p:sp>
      <p:sp>
        <p:nvSpPr>
          <p:cNvPr id="11" name="Text 9"/>
          <p:cNvSpPr/>
          <p:nvPr/>
        </p:nvSpPr>
        <p:spPr>
          <a:xfrm>
            <a:off x="1125041" y="2459831"/>
            <a:ext cx="1251942"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Detect OS</a:t>
            </a:r>
            <a:endParaRPr lang="en-US" sz="1600" dirty="0"/>
          </a:p>
        </p:txBody>
      </p:sp>
      <p:sp>
        <p:nvSpPr>
          <p:cNvPr id="12" name="Text 10"/>
          <p:cNvSpPr/>
          <p:nvPr/>
        </p:nvSpPr>
        <p:spPr>
          <a:xfrm>
            <a:off x="1125934" y="2646363"/>
            <a:ext cx="1246981"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Identify platform</a:t>
            </a:r>
            <a:endParaRPr lang="en-US" sz="1600" dirty="0"/>
          </a:p>
        </p:txBody>
      </p:sp>
      <p:sp>
        <p:nvSpPr>
          <p:cNvPr id="13" name="Shape 11"/>
          <p:cNvSpPr/>
          <p:nvPr/>
        </p:nvSpPr>
        <p:spPr>
          <a:xfrm>
            <a:off x="3234134" y="1978025"/>
            <a:ext cx="2267578" cy="995791"/>
          </a:xfrm>
          <a:custGeom>
            <a:avLst/>
            <a:gdLst/>
            <a:ahLst/>
            <a:cxnLst/>
            <a:rect l="l" t="t" r="r" b="b"/>
            <a:pathLst>
              <a:path w="2267578" h="995791">
                <a:moveTo>
                  <a:pt x="66695" y="0"/>
                </a:moveTo>
                <a:lnTo>
                  <a:pt x="2200883" y="0"/>
                </a:lnTo>
                <a:cubicBezTo>
                  <a:pt x="2237717" y="0"/>
                  <a:pt x="2267578" y="31846"/>
                  <a:pt x="2267578" y="71129"/>
                </a:cubicBezTo>
                <a:lnTo>
                  <a:pt x="2267578" y="924662"/>
                </a:lnTo>
                <a:cubicBezTo>
                  <a:pt x="2267578" y="963946"/>
                  <a:pt x="2237717" y="995791"/>
                  <a:pt x="2200883" y="995791"/>
                </a:cubicBezTo>
                <a:lnTo>
                  <a:pt x="66695" y="995791"/>
                </a:lnTo>
                <a:cubicBezTo>
                  <a:pt x="29860" y="995791"/>
                  <a:pt x="0" y="963946"/>
                  <a:pt x="0" y="924662"/>
                </a:cubicBezTo>
                <a:lnTo>
                  <a:pt x="0" y="71129"/>
                </a:lnTo>
                <a:cubicBezTo>
                  <a:pt x="0" y="31872"/>
                  <a:pt x="29885" y="0"/>
                  <a:pt x="66695"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4" name="Text 12"/>
          <p:cNvSpPr/>
          <p:nvPr/>
        </p:nvSpPr>
        <p:spPr>
          <a:xfrm>
            <a:off x="3234134" y="1978025"/>
            <a:ext cx="2267578" cy="995791"/>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4144764" y="207168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BEAFE"/>
          </a:solidFill>
          <a:ln/>
        </p:spPr>
      </p:sp>
      <p:sp>
        <p:nvSpPr>
          <p:cNvPr id="16" name="Text 14"/>
          <p:cNvSpPr/>
          <p:nvPr/>
        </p:nvSpPr>
        <p:spPr>
          <a:xfrm>
            <a:off x="4275733" y="2125663"/>
            <a:ext cx="158750" cy="238125"/>
          </a:xfrm>
          <a:prstGeom prst="rect">
            <a:avLst/>
          </a:prstGeom>
          <a:noFill/>
          <a:ln/>
        </p:spPr>
        <p:txBody>
          <a:bodyPr wrap="square" lIns="0" tIns="0" rIns="0" bIns="0" rtlCol="0" anchor="ctr"/>
          <a:lstStyle/>
          <a:p>
            <a:pPr algn="ctr">
              <a:lnSpc>
                <a:spcPct val="130000"/>
              </a:lnSpc>
            </a:pPr>
            <a:r>
              <a:rPr lang="en-US" sz="1250" b="1" dirty="0">
                <a:solidFill>
                  <a:srgbClr val="155DFC"/>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3737570" y="2459038"/>
            <a:ext cx="1158280"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Collect Data</a:t>
            </a:r>
            <a:endParaRPr lang="en-US" sz="1600" dirty="0"/>
          </a:p>
        </p:txBody>
      </p:sp>
      <p:sp>
        <p:nvSpPr>
          <p:cNvPr id="18" name="Text 16"/>
          <p:cNvSpPr/>
          <p:nvPr/>
        </p:nvSpPr>
        <p:spPr>
          <a:xfrm>
            <a:off x="3679031" y="2646363"/>
            <a:ext cx="1243608"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Gather settings</a:t>
            </a:r>
            <a:endParaRPr lang="en-US" sz="1600" dirty="0"/>
          </a:p>
        </p:txBody>
      </p:sp>
      <p:sp>
        <p:nvSpPr>
          <p:cNvPr id="19" name="Shape 17"/>
          <p:cNvSpPr/>
          <p:nvPr/>
        </p:nvSpPr>
        <p:spPr>
          <a:xfrm>
            <a:off x="630634" y="3171825"/>
            <a:ext cx="2267578" cy="995791"/>
          </a:xfrm>
          <a:custGeom>
            <a:avLst/>
            <a:gdLst/>
            <a:ahLst/>
            <a:cxnLst/>
            <a:rect l="l" t="t" r="r" b="b"/>
            <a:pathLst>
              <a:path w="2267578" h="995791">
                <a:moveTo>
                  <a:pt x="66695" y="0"/>
                </a:moveTo>
                <a:lnTo>
                  <a:pt x="2200883" y="0"/>
                </a:lnTo>
                <a:cubicBezTo>
                  <a:pt x="2237717" y="0"/>
                  <a:pt x="2267578" y="31846"/>
                  <a:pt x="2267578" y="71129"/>
                </a:cubicBezTo>
                <a:lnTo>
                  <a:pt x="2267578" y="924662"/>
                </a:lnTo>
                <a:cubicBezTo>
                  <a:pt x="2267578" y="963946"/>
                  <a:pt x="2237717" y="995791"/>
                  <a:pt x="2200883" y="995791"/>
                </a:cubicBezTo>
                <a:lnTo>
                  <a:pt x="66695" y="995791"/>
                </a:lnTo>
                <a:cubicBezTo>
                  <a:pt x="29860" y="995791"/>
                  <a:pt x="0" y="963946"/>
                  <a:pt x="0" y="924662"/>
                </a:cubicBezTo>
                <a:lnTo>
                  <a:pt x="0" y="71129"/>
                </a:lnTo>
                <a:cubicBezTo>
                  <a:pt x="0" y="31872"/>
                  <a:pt x="29885" y="0"/>
                  <a:pt x="66695"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0" name="Shape 18"/>
          <p:cNvSpPr/>
          <p:nvPr/>
        </p:nvSpPr>
        <p:spPr>
          <a:xfrm>
            <a:off x="1490861" y="326548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BEAFE"/>
          </a:solidFill>
          <a:ln/>
        </p:spPr>
      </p:sp>
      <p:sp>
        <p:nvSpPr>
          <p:cNvPr id="21" name="Text 19"/>
          <p:cNvSpPr/>
          <p:nvPr/>
        </p:nvSpPr>
        <p:spPr>
          <a:xfrm>
            <a:off x="1619846" y="3319463"/>
            <a:ext cx="166688" cy="238125"/>
          </a:xfrm>
          <a:prstGeom prst="rect">
            <a:avLst/>
          </a:prstGeom>
          <a:noFill/>
          <a:ln/>
        </p:spPr>
        <p:txBody>
          <a:bodyPr wrap="square" lIns="0" tIns="0" rIns="0" bIns="0" rtlCol="0" anchor="ctr"/>
          <a:lstStyle/>
          <a:p>
            <a:pPr algn="ctr">
              <a:lnSpc>
                <a:spcPct val="130000"/>
              </a:lnSpc>
            </a:pPr>
            <a:r>
              <a:rPr lang="en-US" sz="1250" b="1" dirty="0">
                <a:solidFill>
                  <a:srgbClr val="155DFC"/>
                </a:solidFill>
                <a:latin typeface="Quattrocento Sans" pitchFamily="34" charset="0"/>
                <a:ea typeface="Quattrocento Sans" pitchFamily="34" charset="-122"/>
                <a:cs typeface="Quattrocento Sans" pitchFamily="34" charset="-120"/>
              </a:rPr>
              <a:t>3</a:t>
            </a:r>
            <a:endParaRPr lang="en-US" sz="1600" dirty="0"/>
          </a:p>
        </p:txBody>
      </p:sp>
      <p:sp>
        <p:nvSpPr>
          <p:cNvPr id="22" name="Text 20"/>
          <p:cNvSpPr/>
          <p:nvPr/>
        </p:nvSpPr>
        <p:spPr>
          <a:xfrm>
            <a:off x="1109067" y="3652838"/>
            <a:ext cx="1196578"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Export Lists</a:t>
            </a:r>
            <a:endParaRPr lang="en-US" sz="1600" dirty="0"/>
          </a:p>
        </p:txBody>
      </p:sp>
      <p:sp>
        <p:nvSpPr>
          <p:cNvPr id="23" name="Text 21"/>
          <p:cNvSpPr/>
          <p:nvPr/>
        </p:nvSpPr>
        <p:spPr>
          <a:xfrm>
            <a:off x="1126728" y="3852863"/>
            <a:ext cx="1191617"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Package names</a:t>
            </a:r>
            <a:endParaRPr lang="en-US" sz="1600" dirty="0"/>
          </a:p>
        </p:txBody>
      </p:sp>
      <p:sp>
        <p:nvSpPr>
          <p:cNvPr id="24" name="Shape 22"/>
          <p:cNvSpPr/>
          <p:nvPr/>
        </p:nvSpPr>
        <p:spPr>
          <a:xfrm>
            <a:off x="3234134" y="3171825"/>
            <a:ext cx="2267578" cy="995791"/>
          </a:xfrm>
          <a:custGeom>
            <a:avLst/>
            <a:gdLst/>
            <a:ahLst/>
            <a:cxnLst/>
            <a:rect l="l" t="t" r="r" b="b"/>
            <a:pathLst>
              <a:path w="2267578" h="995791">
                <a:moveTo>
                  <a:pt x="66695" y="0"/>
                </a:moveTo>
                <a:lnTo>
                  <a:pt x="2200883" y="0"/>
                </a:lnTo>
                <a:cubicBezTo>
                  <a:pt x="2237717" y="0"/>
                  <a:pt x="2267578" y="31846"/>
                  <a:pt x="2267578" y="71129"/>
                </a:cubicBezTo>
                <a:lnTo>
                  <a:pt x="2267578" y="924662"/>
                </a:lnTo>
                <a:cubicBezTo>
                  <a:pt x="2267578" y="963946"/>
                  <a:pt x="2237717" y="995791"/>
                  <a:pt x="2200883" y="995791"/>
                </a:cubicBezTo>
                <a:lnTo>
                  <a:pt x="66695" y="995791"/>
                </a:lnTo>
                <a:cubicBezTo>
                  <a:pt x="29860" y="995791"/>
                  <a:pt x="0" y="963946"/>
                  <a:pt x="0" y="924662"/>
                </a:cubicBezTo>
                <a:lnTo>
                  <a:pt x="0" y="71129"/>
                </a:lnTo>
                <a:cubicBezTo>
                  <a:pt x="0" y="31872"/>
                  <a:pt x="29885" y="0"/>
                  <a:pt x="66695"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5" name="Shape 23"/>
          <p:cNvSpPr/>
          <p:nvPr/>
        </p:nvSpPr>
        <p:spPr>
          <a:xfrm>
            <a:off x="4120158" y="326548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BEAFE"/>
          </a:solidFill>
          <a:ln/>
        </p:spPr>
      </p:sp>
      <p:sp>
        <p:nvSpPr>
          <p:cNvPr id="26" name="Text 24"/>
          <p:cNvSpPr/>
          <p:nvPr/>
        </p:nvSpPr>
        <p:spPr>
          <a:xfrm>
            <a:off x="4238526" y="3319463"/>
            <a:ext cx="158750" cy="238125"/>
          </a:xfrm>
          <a:prstGeom prst="rect">
            <a:avLst/>
          </a:prstGeom>
          <a:noFill/>
          <a:ln/>
        </p:spPr>
        <p:txBody>
          <a:bodyPr wrap="square" lIns="0" tIns="0" rIns="0" bIns="0" rtlCol="0" anchor="ctr"/>
          <a:lstStyle/>
          <a:p>
            <a:pPr algn="ctr">
              <a:lnSpc>
                <a:spcPct val="130000"/>
              </a:lnSpc>
            </a:pPr>
            <a:r>
              <a:rPr lang="en-US" sz="1250" b="1" dirty="0">
                <a:solidFill>
                  <a:srgbClr val="155DFC"/>
                </a:solidFill>
                <a:latin typeface="Quattrocento Sans" pitchFamily="34" charset="0"/>
                <a:ea typeface="Quattrocento Sans" pitchFamily="34" charset="-122"/>
                <a:cs typeface="Quattrocento Sans" pitchFamily="34" charset="-120"/>
              </a:rPr>
              <a:t>4</a:t>
            </a:r>
            <a:endParaRPr lang="en-US" sz="1600" dirty="0"/>
          </a:p>
        </p:txBody>
      </p:sp>
      <p:sp>
        <p:nvSpPr>
          <p:cNvPr id="27" name="Text 25"/>
          <p:cNvSpPr/>
          <p:nvPr/>
        </p:nvSpPr>
        <p:spPr>
          <a:xfrm>
            <a:off x="3674864" y="3665538"/>
            <a:ext cx="1344712"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Store Files</a:t>
            </a:r>
            <a:endParaRPr lang="en-US" sz="1600" dirty="0"/>
          </a:p>
        </p:txBody>
      </p:sp>
      <p:sp>
        <p:nvSpPr>
          <p:cNvPr id="28" name="Text 26"/>
          <p:cNvSpPr/>
          <p:nvPr/>
        </p:nvSpPr>
        <p:spPr>
          <a:xfrm>
            <a:off x="3679825" y="3852863"/>
            <a:ext cx="1339751"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Save to backup</a:t>
            </a:r>
            <a:endParaRPr lang="en-US" sz="1600" dirty="0"/>
          </a:p>
        </p:txBody>
      </p:sp>
      <p:sp>
        <p:nvSpPr>
          <p:cNvPr id="29" name="Shape 27"/>
          <p:cNvSpPr/>
          <p:nvPr/>
        </p:nvSpPr>
        <p:spPr>
          <a:xfrm>
            <a:off x="317500" y="4646613"/>
            <a:ext cx="11557000" cy="1587500"/>
          </a:xfrm>
          <a:custGeom>
            <a:avLst/>
            <a:gdLst/>
            <a:ahLst/>
            <a:cxnLst/>
            <a:rect l="l" t="t" r="r" b="b"/>
            <a:pathLst>
              <a:path w="11557000" h="1587500">
                <a:moveTo>
                  <a:pt x="79375" y="0"/>
                </a:moveTo>
                <a:lnTo>
                  <a:pt x="11477625" y="0"/>
                </a:lnTo>
                <a:cubicBezTo>
                  <a:pt x="11521433" y="0"/>
                  <a:pt x="11557000" y="35567"/>
                  <a:pt x="11557000" y="79375"/>
                </a:cubicBezTo>
                <a:lnTo>
                  <a:pt x="11557000" y="1508125"/>
                </a:lnTo>
                <a:cubicBezTo>
                  <a:pt x="11557000" y="1551933"/>
                  <a:pt x="11521433" y="1587500"/>
                  <a:pt x="11477625" y="1587500"/>
                </a:cubicBezTo>
                <a:lnTo>
                  <a:pt x="79375" y="1587500"/>
                </a:lnTo>
                <a:cubicBezTo>
                  <a:pt x="35567" y="1587500"/>
                  <a:pt x="0" y="1551933"/>
                  <a:pt x="0" y="1508125"/>
                </a:cubicBezTo>
                <a:lnTo>
                  <a:pt x="0" y="79375"/>
                </a:lnTo>
                <a:cubicBezTo>
                  <a:pt x="0" y="35567"/>
                  <a:pt x="35567" y="0"/>
                  <a:pt x="79375" y="0"/>
                </a:cubicBezTo>
                <a:close/>
              </a:path>
            </a:pathLst>
          </a:custGeom>
          <a:gradFill rotWithShape="1" flip="none">
            <a:gsLst>
              <a:gs pos="0">
                <a:srgbClr val="FAF5FF"/>
              </a:gs>
              <a:gs pos="100000">
                <a:srgbClr val="F3E8FF"/>
              </a:gs>
            </a:gsLst>
            <a:lin ang="0" scaled="1"/>
          </a:gradFill>
          <a:ln/>
        </p:spPr>
      </p:sp>
      <p:sp>
        <p:nvSpPr>
          <p:cNvPr id="30" name="Shape 28"/>
          <p:cNvSpPr/>
          <p:nvPr/>
        </p:nvSpPr>
        <p:spPr>
          <a:xfrm>
            <a:off x="515938" y="4845050"/>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AD46FF"/>
          </a:solidFill>
          <a:ln/>
        </p:spPr>
      </p:sp>
      <p:sp>
        <p:nvSpPr>
          <p:cNvPr id="31" name="Shape 29"/>
          <p:cNvSpPr/>
          <p:nvPr/>
        </p:nvSpPr>
        <p:spPr>
          <a:xfrm>
            <a:off x="676672" y="5003800"/>
            <a:ext cx="238125" cy="238125"/>
          </a:xfrm>
          <a:custGeom>
            <a:avLst/>
            <a:gdLst/>
            <a:ahLst/>
            <a:cxnLst/>
            <a:rect l="l" t="t" r="r" b="b"/>
            <a:pathLst>
              <a:path w="238125" h="238125">
                <a:moveTo>
                  <a:pt x="233753" y="70042"/>
                </a:moveTo>
                <a:lnTo>
                  <a:pt x="189105" y="114691"/>
                </a:lnTo>
                <a:cubicBezTo>
                  <a:pt x="184826" y="118969"/>
                  <a:pt x="178454" y="120225"/>
                  <a:pt x="172873" y="117900"/>
                </a:cubicBezTo>
                <a:cubicBezTo>
                  <a:pt x="167292" y="115574"/>
                  <a:pt x="163711" y="110179"/>
                  <a:pt x="163711" y="104180"/>
                </a:cubicBezTo>
                <a:lnTo>
                  <a:pt x="163711" y="74414"/>
                </a:lnTo>
                <a:lnTo>
                  <a:pt x="14883" y="74414"/>
                </a:lnTo>
                <a:cubicBezTo>
                  <a:pt x="6651" y="74414"/>
                  <a:pt x="0" y="67763"/>
                  <a:pt x="0" y="59531"/>
                </a:cubicBezTo>
                <a:cubicBezTo>
                  <a:pt x="0" y="51299"/>
                  <a:pt x="6651" y="44648"/>
                  <a:pt x="14883" y="44648"/>
                </a:cubicBezTo>
                <a:lnTo>
                  <a:pt x="163711" y="44648"/>
                </a:lnTo>
                <a:lnTo>
                  <a:pt x="163711" y="14883"/>
                </a:lnTo>
                <a:cubicBezTo>
                  <a:pt x="163711" y="8883"/>
                  <a:pt x="167339" y="3442"/>
                  <a:pt x="172920" y="1116"/>
                </a:cubicBezTo>
                <a:cubicBezTo>
                  <a:pt x="178501" y="-1209"/>
                  <a:pt x="184872" y="93"/>
                  <a:pt x="189151" y="4325"/>
                </a:cubicBezTo>
                <a:lnTo>
                  <a:pt x="233800" y="48974"/>
                </a:lnTo>
                <a:cubicBezTo>
                  <a:pt x="239613" y="54787"/>
                  <a:pt x="239613" y="64229"/>
                  <a:pt x="233800" y="70042"/>
                </a:cubicBezTo>
                <a:close/>
                <a:moveTo>
                  <a:pt x="48974" y="233753"/>
                </a:moveTo>
                <a:lnTo>
                  <a:pt x="4325" y="189105"/>
                </a:lnTo>
                <a:cubicBezTo>
                  <a:pt x="-1488" y="183291"/>
                  <a:pt x="-1488" y="173850"/>
                  <a:pt x="4325" y="168036"/>
                </a:cubicBezTo>
                <a:lnTo>
                  <a:pt x="48974" y="123388"/>
                </a:lnTo>
                <a:cubicBezTo>
                  <a:pt x="53253" y="119109"/>
                  <a:pt x="59624" y="117853"/>
                  <a:pt x="65205" y="120179"/>
                </a:cubicBezTo>
                <a:cubicBezTo>
                  <a:pt x="70786" y="122504"/>
                  <a:pt x="74414" y="127946"/>
                  <a:pt x="74414" y="133945"/>
                </a:cubicBezTo>
                <a:lnTo>
                  <a:pt x="74414" y="163711"/>
                </a:lnTo>
                <a:lnTo>
                  <a:pt x="223242" y="163711"/>
                </a:lnTo>
                <a:cubicBezTo>
                  <a:pt x="231474" y="163711"/>
                  <a:pt x="238125" y="170362"/>
                  <a:pt x="238125" y="178594"/>
                </a:cubicBezTo>
                <a:cubicBezTo>
                  <a:pt x="238125" y="186826"/>
                  <a:pt x="231474" y="193477"/>
                  <a:pt x="223242" y="193477"/>
                </a:cubicBezTo>
                <a:lnTo>
                  <a:pt x="74414" y="193477"/>
                </a:lnTo>
                <a:lnTo>
                  <a:pt x="74414" y="223242"/>
                </a:lnTo>
                <a:cubicBezTo>
                  <a:pt x="74414" y="229242"/>
                  <a:pt x="70786" y="234683"/>
                  <a:pt x="65205" y="237009"/>
                </a:cubicBezTo>
                <a:cubicBezTo>
                  <a:pt x="59624" y="239334"/>
                  <a:pt x="53253" y="238032"/>
                  <a:pt x="48974" y="233800"/>
                </a:cubicBezTo>
                <a:close/>
              </a:path>
            </a:pathLst>
          </a:custGeom>
          <a:solidFill>
            <a:srgbClr val="FFFFFF"/>
          </a:solidFill>
          <a:ln/>
        </p:spPr>
      </p:sp>
      <p:sp>
        <p:nvSpPr>
          <p:cNvPr id="32" name="Text 30"/>
          <p:cNvSpPr/>
          <p:nvPr/>
        </p:nvSpPr>
        <p:spPr>
          <a:xfrm>
            <a:off x="1230313" y="4964113"/>
            <a:ext cx="3357563"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Cross-Platform Execution Logic</a:t>
            </a:r>
            <a:endParaRPr lang="en-US" sz="1600" dirty="0"/>
          </a:p>
        </p:txBody>
      </p:sp>
      <p:sp>
        <p:nvSpPr>
          <p:cNvPr id="33" name="Text 31"/>
          <p:cNvSpPr/>
          <p:nvPr/>
        </p:nvSpPr>
        <p:spPr>
          <a:xfrm>
            <a:off x="515938" y="5519738"/>
            <a:ext cx="11239500" cy="515938"/>
          </a:xfrm>
          <a:prstGeom prst="rect">
            <a:avLst/>
          </a:prstGeom>
          <a:noFill/>
          <a:ln/>
        </p:spPr>
        <p:txBody>
          <a:bodyPr wrap="square" lIns="0" tIns="0" rIns="0" bIns="0" rtlCol="0" anchor="ctr"/>
          <a:lstStyle/>
          <a:p>
            <a:pPr>
              <a:lnSpc>
                <a:spcPct val="140000"/>
              </a:lnSpc>
            </a:pPr>
            <a:r>
              <a:rPr lang="en-US" sz="1250" dirty="0">
                <a:solidFill>
                  <a:srgbClr val="314158"/>
                </a:solidFill>
                <a:latin typeface="Quattrocento Sans" pitchFamily="34" charset="0"/>
                <a:ea typeface="Quattrocento Sans" pitchFamily="34" charset="-122"/>
                <a:cs typeface="Quattrocento Sans" pitchFamily="34" charset="-120"/>
              </a:rPr>
              <a:t>Scripts detect the operating system at runtime and execute platform-specific commands. Common logic is abstracted while OS-specific implementations handle differences in file paths, command syntax, and package manager behavior.</a:t>
            </a:r>
            <a:endParaRPr lang="en-US" sz="1600" dirty="0"/>
          </a:p>
        </p:txBody>
      </p:sp>
      <p:sp>
        <p:nvSpPr>
          <p:cNvPr id="34" name="Shape 32"/>
          <p:cNvSpPr/>
          <p:nvPr/>
        </p:nvSpPr>
        <p:spPr>
          <a:xfrm>
            <a:off x="6034484" y="1103313"/>
            <a:ext cx="5801362" cy="3294063"/>
          </a:xfrm>
          <a:custGeom>
            <a:avLst/>
            <a:gdLst/>
            <a:ahLst/>
            <a:cxnLst/>
            <a:rect l="l" t="t" r="r" b="b"/>
            <a:pathLst>
              <a:path w="5801362" h="3294063">
                <a:moveTo>
                  <a:pt x="39840" y="0"/>
                </a:moveTo>
                <a:lnTo>
                  <a:pt x="5761523" y="0"/>
                </a:lnTo>
                <a:cubicBezTo>
                  <a:pt x="5783526" y="0"/>
                  <a:pt x="5801362" y="52665"/>
                  <a:pt x="5801362" y="117631"/>
                </a:cubicBezTo>
                <a:lnTo>
                  <a:pt x="5801362" y="3176432"/>
                </a:lnTo>
                <a:cubicBezTo>
                  <a:pt x="5801362" y="3241397"/>
                  <a:pt x="5783526" y="3294063"/>
                  <a:pt x="5761523" y="3294063"/>
                </a:cubicBezTo>
                <a:lnTo>
                  <a:pt x="39840" y="3294063"/>
                </a:lnTo>
                <a:cubicBezTo>
                  <a:pt x="17837" y="3294063"/>
                  <a:pt x="0" y="3241397"/>
                  <a:pt x="0" y="3176432"/>
                </a:cubicBezTo>
                <a:lnTo>
                  <a:pt x="0" y="117631"/>
                </a:lnTo>
                <a:cubicBezTo>
                  <a:pt x="0" y="52709"/>
                  <a:pt x="17852" y="0"/>
                  <a:pt x="39840" y="0"/>
                </a:cubicBezTo>
                <a:close/>
              </a:path>
            </a:pathLst>
          </a:custGeom>
          <a:gradFill rotWithShape="1" flip="none">
            <a:gsLst>
              <a:gs pos="0">
                <a:srgbClr val="F0FDF4"/>
              </a:gs>
              <a:gs pos="100000">
                <a:srgbClr val="DCFCE7"/>
              </a:gs>
            </a:gsLst>
            <a:lin ang="0" scaled="1"/>
          </a:gradFill>
          <a:ln/>
        </p:spPr>
      </p:sp>
      <p:sp>
        <p:nvSpPr>
          <p:cNvPr id="35" name="Shape 33"/>
          <p:cNvSpPr/>
          <p:nvPr/>
        </p:nvSpPr>
        <p:spPr>
          <a:xfrm>
            <a:off x="6230938" y="1295400"/>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00C950"/>
          </a:solidFill>
          <a:ln/>
        </p:spPr>
      </p:sp>
      <p:sp>
        <p:nvSpPr>
          <p:cNvPr id="36" name="Shape 34"/>
          <p:cNvSpPr/>
          <p:nvPr/>
        </p:nvSpPr>
        <p:spPr>
          <a:xfrm>
            <a:off x="6406555" y="1454150"/>
            <a:ext cx="208359" cy="238125"/>
          </a:xfrm>
          <a:custGeom>
            <a:avLst/>
            <a:gdLst/>
            <a:ahLst/>
            <a:cxnLst/>
            <a:rect l="l" t="t" r="r" b="b"/>
            <a:pathLst>
              <a:path w="208359" h="238125">
                <a:moveTo>
                  <a:pt x="119062" y="50834"/>
                </a:moveTo>
                <a:lnTo>
                  <a:pt x="119062" y="148828"/>
                </a:lnTo>
                <a:cubicBezTo>
                  <a:pt x="119062" y="157060"/>
                  <a:pt x="112412" y="163711"/>
                  <a:pt x="104180" y="163711"/>
                </a:cubicBezTo>
                <a:cubicBezTo>
                  <a:pt x="95948" y="163711"/>
                  <a:pt x="89297" y="157060"/>
                  <a:pt x="89297" y="148828"/>
                </a:cubicBezTo>
                <a:lnTo>
                  <a:pt x="89297" y="50834"/>
                </a:lnTo>
                <a:lnTo>
                  <a:pt x="70042" y="70089"/>
                </a:lnTo>
                <a:cubicBezTo>
                  <a:pt x="64229" y="75902"/>
                  <a:pt x="54787" y="75902"/>
                  <a:pt x="48974" y="70089"/>
                </a:cubicBezTo>
                <a:cubicBezTo>
                  <a:pt x="43160" y="64275"/>
                  <a:pt x="43160" y="54834"/>
                  <a:pt x="48974" y="49020"/>
                </a:cubicBezTo>
                <a:lnTo>
                  <a:pt x="93622" y="4372"/>
                </a:lnTo>
                <a:cubicBezTo>
                  <a:pt x="99436" y="-1442"/>
                  <a:pt x="108877" y="-1442"/>
                  <a:pt x="114691" y="4372"/>
                </a:cubicBezTo>
                <a:lnTo>
                  <a:pt x="159339" y="49020"/>
                </a:lnTo>
                <a:cubicBezTo>
                  <a:pt x="165153" y="54834"/>
                  <a:pt x="165153" y="64275"/>
                  <a:pt x="159339" y="70089"/>
                </a:cubicBezTo>
                <a:cubicBezTo>
                  <a:pt x="153526" y="75902"/>
                  <a:pt x="144084" y="75902"/>
                  <a:pt x="138271" y="70089"/>
                </a:cubicBezTo>
                <a:lnTo>
                  <a:pt x="119062" y="50834"/>
                </a:lnTo>
                <a:close/>
                <a:moveTo>
                  <a:pt x="104180" y="186035"/>
                </a:moveTo>
                <a:cubicBezTo>
                  <a:pt x="124737" y="186035"/>
                  <a:pt x="141387" y="169385"/>
                  <a:pt x="141387" y="148828"/>
                </a:cubicBezTo>
                <a:lnTo>
                  <a:pt x="178594" y="148828"/>
                </a:lnTo>
                <a:cubicBezTo>
                  <a:pt x="195011" y="148828"/>
                  <a:pt x="208359" y="162176"/>
                  <a:pt x="208359" y="178594"/>
                </a:cubicBezTo>
                <a:lnTo>
                  <a:pt x="208359" y="193477"/>
                </a:lnTo>
                <a:cubicBezTo>
                  <a:pt x="208359" y="209894"/>
                  <a:pt x="195011" y="223242"/>
                  <a:pt x="178594" y="223242"/>
                </a:cubicBezTo>
                <a:lnTo>
                  <a:pt x="29766" y="223242"/>
                </a:lnTo>
                <a:cubicBezTo>
                  <a:pt x="13348" y="223242"/>
                  <a:pt x="0" y="209894"/>
                  <a:pt x="0" y="193477"/>
                </a:cubicBezTo>
                <a:lnTo>
                  <a:pt x="0" y="178594"/>
                </a:lnTo>
                <a:cubicBezTo>
                  <a:pt x="0" y="162176"/>
                  <a:pt x="13348" y="148828"/>
                  <a:pt x="29766" y="148828"/>
                </a:cubicBezTo>
                <a:lnTo>
                  <a:pt x="66973" y="148828"/>
                </a:lnTo>
                <a:cubicBezTo>
                  <a:pt x="66973" y="169385"/>
                  <a:pt x="83623" y="186035"/>
                  <a:pt x="104180" y="186035"/>
                </a:cubicBezTo>
                <a:close/>
                <a:moveTo>
                  <a:pt x="171152" y="197197"/>
                </a:moveTo>
                <a:cubicBezTo>
                  <a:pt x="177313" y="197197"/>
                  <a:pt x="182314" y="192196"/>
                  <a:pt x="182314" y="186035"/>
                </a:cubicBezTo>
                <a:cubicBezTo>
                  <a:pt x="182314" y="179875"/>
                  <a:pt x="177313" y="174873"/>
                  <a:pt x="171152" y="174873"/>
                </a:cubicBezTo>
                <a:cubicBezTo>
                  <a:pt x="164992" y="174873"/>
                  <a:pt x="159990" y="179875"/>
                  <a:pt x="159990" y="186035"/>
                </a:cubicBezTo>
                <a:cubicBezTo>
                  <a:pt x="159990" y="192196"/>
                  <a:pt x="164992" y="197197"/>
                  <a:pt x="171152" y="197197"/>
                </a:cubicBezTo>
                <a:close/>
              </a:path>
            </a:pathLst>
          </a:custGeom>
          <a:solidFill>
            <a:srgbClr val="FFFFFF"/>
          </a:solidFill>
          <a:ln/>
        </p:spPr>
      </p:sp>
      <p:sp>
        <p:nvSpPr>
          <p:cNvPr id="37" name="Text 35"/>
          <p:cNvSpPr/>
          <p:nvPr/>
        </p:nvSpPr>
        <p:spPr>
          <a:xfrm>
            <a:off x="6945313" y="1414463"/>
            <a:ext cx="2008187"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Restore Workflow</a:t>
            </a:r>
            <a:endParaRPr lang="en-US" sz="1600" dirty="0"/>
          </a:p>
        </p:txBody>
      </p:sp>
      <p:sp>
        <p:nvSpPr>
          <p:cNvPr id="38" name="Shape 36"/>
          <p:cNvSpPr/>
          <p:nvPr/>
        </p:nvSpPr>
        <p:spPr>
          <a:xfrm>
            <a:off x="6167438" y="1946275"/>
            <a:ext cx="2698750" cy="1057778"/>
          </a:xfrm>
          <a:custGeom>
            <a:avLst/>
            <a:gdLst/>
            <a:ahLst/>
            <a:cxnLst/>
            <a:rect l="l" t="t" r="r" b="b"/>
            <a:pathLst>
              <a:path w="2698750" h="1057778">
                <a:moveTo>
                  <a:pt x="79377" y="0"/>
                </a:moveTo>
                <a:lnTo>
                  <a:pt x="2619373" y="0"/>
                </a:lnTo>
                <a:cubicBezTo>
                  <a:pt x="2663212" y="0"/>
                  <a:pt x="2698750" y="33828"/>
                  <a:pt x="2698750" y="75557"/>
                </a:cubicBezTo>
                <a:lnTo>
                  <a:pt x="2698750" y="982221"/>
                </a:lnTo>
                <a:cubicBezTo>
                  <a:pt x="2698750" y="1023950"/>
                  <a:pt x="2663212" y="1057778"/>
                  <a:pt x="2619373" y="1057778"/>
                </a:cubicBezTo>
                <a:lnTo>
                  <a:pt x="79377" y="1057778"/>
                </a:lnTo>
                <a:cubicBezTo>
                  <a:pt x="35538" y="1057778"/>
                  <a:pt x="0" y="1023950"/>
                  <a:pt x="0" y="982221"/>
                </a:cubicBezTo>
                <a:lnTo>
                  <a:pt x="0" y="75557"/>
                </a:lnTo>
                <a:cubicBezTo>
                  <a:pt x="0" y="33856"/>
                  <a:pt x="35567" y="0"/>
                  <a:pt x="79377"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9" name="Shape 37"/>
          <p:cNvSpPr/>
          <p:nvPr/>
        </p:nvSpPr>
        <p:spPr>
          <a:xfrm>
            <a:off x="7319367" y="2065337"/>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CFCE7"/>
          </a:solidFill>
          <a:ln/>
        </p:spPr>
      </p:sp>
      <p:sp>
        <p:nvSpPr>
          <p:cNvPr id="40" name="Text 38"/>
          <p:cNvSpPr/>
          <p:nvPr/>
        </p:nvSpPr>
        <p:spPr>
          <a:xfrm>
            <a:off x="7452916" y="2119313"/>
            <a:ext cx="127000" cy="238125"/>
          </a:xfrm>
          <a:prstGeom prst="rect">
            <a:avLst/>
          </a:prstGeom>
          <a:noFill/>
          <a:ln/>
        </p:spPr>
        <p:txBody>
          <a:bodyPr wrap="square" lIns="0" tIns="0" rIns="0" bIns="0" rtlCol="0" anchor="ctr"/>
          <a:lstStyle/>
          <a:p>
            <a:pPr algn="ctr">
              <a:lnSpc>
                <a:spcPct val="130000"/>
              </a:lnSpc>
            </a:pPr>
            <a:r>
              <a:rPr lang="en-US" sz="1250" b="1" dirty="0">
                <a:solidFill>
                  <a:srgbClr val="00A63E"/>
                </a:solidFill>
                <a:latin typeface="Quattrocento Sans" pitchFamily="34" charset="0"/>
                <a:ea typeface="Quattrocento Sans" pitchFamily="34" charset="-122"/>
                <a:cs typeface="Quattrocento Sans" pitchFamily="34" charset="-120"/>
              </a:rPr>
              <a:t>1</a:t>
            </a:r>
            <a:endParaRPr lang="en-US" sz="1600" dirty="0"/>
          </a:p>
        </p:txBody>
      </p:sp>
      <p:sp>
        <p:nvSpPr>
          <p:cNvPr id="41" name="Text 39"/>
          <p:cNvSpPr/>
          <p:nvPr/>
        </p:nvSpPr>
        <p:spPr>
          <a:xfrm>
            <a:off x="6251773" y="2452688"/>
            <a:ext cx="2530078"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Read Backup</a:t>
            </a:r>
            <a:endParaRPr lang="en-US" sz="1600" dirty="0"/>
          </a:p>
        </p:txBody>
      </p:sp>
      <p:sp>
        <p:nvSpPr>
          <p:cNvPr id="42" name="Text 40"/>
          <p:cNvSpPr/>
          <p:nvPr/>
        </p:nvSpPr>
        <p:spPr>
          <a:xfrm>
            <a:off x="6256734" y="2665413"/>
            <a:ext cx="2520156"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Load files</a:t>
            </a:r>
            <a:endParaRPr lang="en-US" sz="1600" dirty="0"/>
          </a:p>
        </p:txBody>
      </p:sp>
      <p:sp>
        <p:nvSpPr>
          <p:cNvPr id="43" name="Shape 41"/>
          <p:cNvSpPr/>
          <p:nvPr/>
        </p:nvSpPr>
        <p:spPr>
          <a:xfrm>
            <a:off x="8987234" y="1946275"/>
            <a:ext cx="2698750" cy="1057778"/>
          </a:xfrm>
          <a:custGeom>
            <a:avLst/>
            <a:gdLst/>
            <a:ahLst/>
            <a:cxnLst/>
            <a:rect l="l" t="t" r="r" b="b"/>
            <a:pathLst>
              <a:path w="2698750" h="1057778">
                <a:moveTo>
                  <a:pt x="79377" y="0"/>
                </a:moveTo>
                <a:lnTo>
                  <a:pt x="2619373" y="0"/>
                </a:lnTo>
                <a:cubicBezTo>
                  <a:pt x="2663212" y="0"/>
                  <a:pt x="2698750" y="33828"/>
                  <a:pt x="2698750" y="75557"/>
                </a:cubicBezTo>
                <a:lnTo>
                  <a:pt x="2698750" y="982221"/>
                </a:lnTo>
                <a:cubicBezTo>
                  <a:pt x="2698750" y="1023950"/>
                  <a:pt x="2663212" y="1057778"/>
                  <a:pt x="2619373" y="1057778"/>
                </a:cubicBezTo>
                <a:lnTo>
                  <a:pt x="79377" y="1057778"/>
                </a:lnTo>
                <a:cubicBezTo>
                  <a:pt x="35538" y="1057778"/>
                  <a:pt x="0" y="1023950"/>
                  <a:pt x="0" y="982221"/>
                </a:cubicBezTo>
                <a:lnTo>
                  <a:pt x="0" y="75557"/>
                </a:lnTo>
                <a:cubicBezTo>
                  <a:pt x="0" y="33856"/>
                  <a:pt x="35567" y="0"/>
                  <a:pt x="79377"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44" name="Shape 42"/>
          <p:cNvSpPr/>
          <p:nvPr/>
        </p:nvSpPr>
        <p:spPr>
          <a:xfrm>
            <a:off x="10139164" y="2065337"/>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CFCE7"/>
          </a:solidFill>
          <a:ln/>
        </p:spPr>
      </p:sp>
      <p:sp>
        <p:nvSpPr>
          <p:cNvPr id="45" name="Text 43"/>
          <p:cNvSpPr/>
          <p:nvPr/>
        </p:nvSpPr>
        <p:spPr>
          <a:xfrm>
            <a:off x="10257433" y="2119313"/>
            <a:ext cx="158750" cy="238125"/>
          </a:xfrm>
          <a:prstGeom prst="rect">
            <a:avLst/>
          </a:prstGeom>
          <a:noFill/>
          <a:ln/>
        </p:spPr>
        <p:txBody>
          <a:bodyPr wrap="square" lIns="0" tIns="0" rIns="0" bIns="0" rtlCol="0" anchor="ctr"/>
          <a:lstStyle/>
          <a:p>
            <a:pPr algn="ctr">
              <a:lnSpc>
                <a:spcPct val="130000"/>
              </a:lnSpc>
            </a:pPr>
            <a:r>
              <a:rPr lang="en-US" sz="1250" b="1" dirty="0">
                <a:solidFill>
                  <a:srgbClr val="00A63E"/>
                </a:solidFill>
                <a:latin typeface="Quattrocento Sans" pitchFamily="34" charset="0"/>
                <a:ea typeface="Quattrocento Sans" pitchFamily="34" charset="-122"/>
                <a:cs typeface="Quattrocento Sans" pitchFamily="34" charset="-120"/>
              </a:rPr>
              <a:t>2</a:t>
            </a:r>
            <a:endParaRPr lang="en-US" sz="1600" dirty="0"/>
          </a:p>
        </p:txBody>
      </p:sp>
      <p:sp>
        <p:nvSpPr>
          <p:cNvPr id="46" name="Text 44"/>
          <p:cNvSpPr/>
          <p:nvPr/>
        </p:nvSpPr>
        <p:spPr>
          <a:xfrm>
            <a:off x="9071570" y="2452688"/>
            <a:ext cx="2530078"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Install Tools</a:t>
            </a:r>
            <a:endParaRPr lang="en-US" sz="1600" dirty="0"/>
          </a:p>
        </p:txBody>
      </p:sp>
      <p:sp>
        <p:nvSpPr>
          <p:cNvPr id="47" name="Text 45"/>
          <p:cNvSpPr/>
          <p:nvPr/>
        </p:nvSpPr>
        <p:spPr>
          <a:xfrm>
            <a:off x="9076531" y="2665413"/>
            <a:ext cx="2520156"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Required software</a:t>
            </a:r>
            <a:endParaRPr lang="en-US" sz="1600" dirty="0"/>
          </a:p>
        </p:txBody>
      </p:sp>
      <p:sp>
        <p:nvSpPr>
          <p:cNvPr id="48" name="Shape 46"/>
          <p:cNvSpPr/>
          <p:nvPr/>
        </p:nvSpPr>
        <p:spPr>
          <a:xfrm>
            <a:off x="6168231" y="3152775"/>
            <a:ext cx="2698750" cy="1071146"/>
          </a:xfrm>
          <a:custGeom>
            <a:avLst/>
            <a:gdLst/>
            <a:ahLst/>
            <a:cxnLst/>
            <a:rect l="l" t="t" r="r" b="b"/>
            <a:pathLst>
              <a:path w="2698750" h="1071146">
                <a:moveTo>
                  <a:pt x="79377" y="0"/>
                </a:moveTo>
                <a:lnTo>
                  <a:pt x="2619373" y="0"/>
                </a:lnTo>
                <a:cubicBezTo>
                  <a:pt x="2663212" y="0"/>
                  <a:pt x="2698750" y="34256"/>
                  <a:pt x="2698750" y="76512"/>
                </a:cubicBezTo>
                <a:lnTo>
                  <a:pt x="2698750" y="994634"/>
                </a:lnTo>
                <a:cubicBezTo>
                  <a:pt x="2698750" y="1036891"/>
                  <a:pt x="2663212" y="1071146"/>
                  <a:pt x="2619373" y="1071146"/>
                </a:cubicBezTo>
                <a:lnTo>
                  <a:pt x="79377" y="1071146"/>
                </a:lnTo>
                <a:cubicBezTo>
                  <a:pt x="35538" y="1071146"/>
                  <a:pt x="0" y="1036891"/>
                  <a:pt x="0" y="994634"/>
                </a:cubicBezTo>
                <a:lnTo>
                  <a:pt x="0" y="76512"/>
                </a:lnTo>
                <a:cubicBezTo>
                  <a:pt x="0" y="34284"/>
                  <a:pt x="35567" y="0"/>
                  <a:pt x="79377"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49" name="Shape 47"/>
          <p:cNvSpPr/>
          <p:nvPr/>
        </p:nvSpPr>
        <p:spPr>
          <a:xfrm>
            <a:off x="7320161" y="327183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CFCE7"/>
          </a:solidFill>
          <a:ln/>
        </p:spPr>
      </p:sp>
      <p:sp>
        <p:nvSpPr>
          <p:cNvPr id="50" name="Text 48"/>
          <p:cNvSpPr/>
          <p:nvPr/>
        </p:nvSpPr>
        <p:spPr>
          <a:xfrm>
            <a:off x="7436446" y="3325813"/>
            <a:ext cx="166688" cy="238125"/>
          </a:xfrm>
          <a:prstGeom prst="rect">
            <a:avLst/>
          </a:prstGeom>
          <a:noFill/>
          <a:ln/>
        </p:spPr>
        <p:txBody>
          <a:bodyPr wrap="square" lIns="0" tIns="0" rIns="0" bIns="0" rtlCol="0" anchor="ctr"/>
          <a:lstStyle/>
          <a:p>
            <a:pPr algn="ctr">
              <a:lnSpc>
                <a:spcPct val="130000"/>
              </a:lnSpc>
            </a:pPr>
            <a:r>
              <a:rPr lang="en-US" sz="1250" b="1" dirty="0">
                <a:solidFill>
                  <a:srgbClr val="00A63E"/>
                </a:solidFill>
                <a:latin typeface="Quattrocento Sans" pitchFamily="34" charset="0"/>
                <a:ea typeface="Quattrocento Sans" pitchFamily="34" charset="-122"/>
                <a:cs typeface="Quattrocento Sans" pitchFamily="34" charset="-120"/>
              </a:rPr>
              <a:t>3</a:t>
            </a:r>
            <a:endParaRPr lang="en-US" sz="1600" dirty="0"/>
          </a:p>
        </p:txBody>
      </p:sp>
      <p:sp>
        <p:nvSpPr>
          <p:cNvPr id="51" name="Text 49"/>
          <p:cNvSpPr/>
          <p:nvPr/>
        </p:nvSpPr>
        <p:spPr>
          <a:xfrm>
            <a:off x="6252567" y="3671888"/>
            <a:ext cx="2530078"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Restore Config</a:t>
            </a:r>
            <a:endParaRPr lang="en-US" sz="1600" dirty="0"/>
          </a:p>
        </p:txBody>
      </p:sp>
      <p:sp>
        <p:nvSpPr>
          <p:cNvPr id="52" name="Text 50"/>
          <p:cNvSpPr/>
          <p:nvPr/>
        </p:nvSpPr>
        <p:spPr>
          <a:xfrm>
            <a:off x="6257528" y="3871913"/>
            <a:ext cx="2520156"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Apply settings</a:t>
            </a:r>
            <a:endParaRPr lang="en-US" sz="1600" dirty="0"/>
          </a:p>
        </p:txBody>
      </p:sp>
      <p:sp>
        <p:nvSpPr>
          <p:cNvPr id="53" name="Shape 51"/>
          <p:cNvSpPr/>
          <p:nvPr/>
        </p:nvSpPr>
        <p:spPr>
          <a:xfrm>
            <a:off x="8988028" y="3152775"/>
            <a:ext cx="2698750" cy="1071146"/>
          </a:xfrm>
          <a:custGeom>
            <a:avLst/>
            <a:gdLst/>
            <a:ahLst/>
            <a:cxnLst/>
            <a:rect l="l" t="t" r="r" b="b"/>
            <a:pathLst>
              <a:path w="2698750" h="1071146">
                <a:moveTo>
                  <a:pt x="79377" y="0"/>
                </a:moveTo>
                <a:lnTo>
                  <a:pt x="2619373" y="0"/>
                </a:lnTo>
                <a:cubicBezTo>
                  <a:pt x="2663212" y="0"/>
                  <a:pt x="2698750" y="34256"/>
                  <a:pt x="2698750" y="76512"/>
                </a:cubicBezTo>
                <a:lnTo>
                  <a:pt x="2698750" y="994634"/>
                </a:lnTo>
                <a:cubicBezTo>
                  <a:pt x="2698750" y="1036891"/>
                  <a:pt x="2663212" y="1071146"/>
                  <a:pt x="2619373" y="1071146"/>
                </a:cubicBezTo>
                <a:lnTo>
                  <a:pt x="79377" y="1071146"/>
                </a:lnTo>
                <a:cubicBezTo>
                  <a:pt x="35538" y="1071146"/>
                  <a:pt x="0" y="1036891"/>
                  <a:pt x="0" y="994634"/>
                </a:cubicBezTo>
                <a:lnTo>
                  <a:pt x="0" y="76512"/>
                </a:lnTo>
                <a:cubicBezTo>
                  <a:pt x="0" y="34284"/>
                  <a:pt x="35567" y="0"/>
                  <a:pt x="79377"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54" name="Shape 52"/>
          <p:cNvSpPr/>
          <p:nvPr/>
        </p:nvSpPr>
        <p:spPr>
          <a:xfrm>
            <a:off x="10139958" y="3271838"/>
            <a:ext cx="396875" cy="396875"/>
          </a:xfrm>
          <a:custGeom>
            <a:avLst/>
            <a:gdLst/>
            <a:ahLst/>
            <a:cxnLst/>
            <a:rect l="l" t="t" r="r" b="b"/>
            <a:pathLst>
              <a:path w="396875" h="396875">
                <a:moveTo>
                  <a:pt x="198438" y="0"/>
                </a:moveTo>
                <a:lnTo>
                  <a:pt x="198438" y="0"/>
                </a:lnTo>
                <a:cubicBezTo>
                  <a:pt x="307958" y="0"/>
                  <a:pt x="396875" y="88917"/>
                  <a:pt x="396875" y="198438"/>
                </a:cubicBezTo>
                <a:lnTo>
                  <a:pt x="396875" y="198438"/>
                </a:lnTo>
                <a:cubicBezTo>
                  <a:pt x="396875" y="307958"/>
                  <a:pt x="307958" y="396875"/>
                  <a:pt x="198438" y="396875"/>
                </a:cubicBezTo>
                <a:lnTo>
                  <a:pt x="198438" y="396875"/>
                </a:lnTo>
                <a:cubicBezTo>
                  <a:pt x="88917" y="396875"/>
                  <a:pt x="0" y="307958"/>
                  <a:pt x="0" y="198438"/>
                </a:cubicBezTo>
                <a:lnTo>
                  <a:pt x="0" y="198438"/>
                </a:lnTo>
                <a:cubicBezTo>
                  <a:pt x="0" y="88917"/>
                  <a:pt x="88917" y="0"/>
                  <a:pt x="198437" y="0"/>
                </a:cubicBezTo>
                <a:close/>
              </a:path>
            </a:pathLst>
          </a:custGeom>
          <a:solidFill>
            <a:srgbClr val="DCFCE7"/>
          </a:solidFill>
          <a:ln/>
        </p:spPr>
      </p:sp>
      <p:sp>
        <p:nvSpPr>
          <p:cNvPr id="55" name="Text 53"/>
          <p:cNvSpPr/>
          <p:nvPr/>
        </p:nvSpPr>
        <p:spPr>
          <a:xfrm>
            <a:off x="10258326" y="3325813"/>
            <a:ext cx="158750" cy="238125"/>
          </a:xfrm>
          <a:prstGeom prst="rect">
            <a:avLst/>
          </a:prstGeom>
          <a:noFill/>
          <a:ln/>
        </p:spPr>
        <p:txBody>
          <a:bodyPr wrap="square" lIns="0" tIns="0" rIns="0" bIns="0" rtlCol="0" anchor="ctr"/>
          <a:lstStyle/>
          <a:p>
            <a:pPr algn="ctr">
              <a:lnSpc>
                <a:spcPct val="130000"/>
              </a:lnSpc>
            </a:pPr>
            <a:r>
              <a:rPr lang="en-US" sz="1250" b="1" dirty="0">
                <a:solidFill>
                  <a:srgbClr val="00A63E"/>
                </a:solidFill>
                <a:latin typeface="Quattrocento Sans" pitchFamily="34" charset="0"/>
                <a:ea typeface="Quattrocento Sans" pitchFamily="34" charset="-122"/>
                <a:cs typeface="Quattrocento Sans" pitchFamily="34" charset="-120"/>
              </a:rPr>
              <a:t>4</a:t>
            </a:r>
            <a:endParaRPr lang="en-US" sz="1600" dirty="0"/>
          </a:p>
        </p:txBody>
      </p:sp>
      <p:sp>
        <p:nvSpPr>
          <p:cNvPr id="56" name="Text 54"/>
          <p:cNvSpPr/>
          <p:nvPr/>
        </p:nvSpPr>
        <p:spPr>
          <a:xfrm>
            <a:off x="9072364" y="3671888"/>
            <a:ext cx="2530078"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Install Packages</a:t>
            </a:r>
            <a:endParaRPr lang="en-US" sz="1600" dirty="0"/>
          </a:p>
        </p:txBody>
      </p:sp>
      <p:sp>
        <p:nvSpPr>
          <p:cNvPr id="57" name="Text 55"/>
          <p:cNvSpPr/>
          <p:nvPr/>
        </p:nvSpPr>
        <p:spPr>
          <a:xfrm>
            <a:off x="9077325" y="3871913"/>
            <a:ext cx="2520156"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From lists</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7500" y="849313"/>
            <a:ext cx="6421438" cy="31750"/>
          </a:xfrm>
          <a:custGeom>
            <a:avLst/>
            <a:gdLst/>
            <a:ahLst/>
            <a:cxnLst/>
            <a:rect l="l" t="t" r="r" b="b"/>
            <a:pathLst>
              <a:path w="6421438" h="31750">
                <a:moveTo>
                  <a:pt x="0" y="0"/>
                </a:moveTo>
                <a:lnTo>
                  <a:pt x="6421438" y="0"/>
                </a:lnTo>
                <a:lnTo>
                  <a:pt x="6421438" y="31750"/>
                </a:lnTo>
                <a:lnTo>
                  <a:pt x="0" y="31750"/>
                </a:lnTo>
                <a:lnTo>
                  <a:pt x="0" y="0"/>
                </a:lnTo>
                <a:close/>
              </a:path>
            </a:pathLst>
          </a:custGeom>
          <a:solidFill>
            <a:srgbClr val="2B7FFF"/>
          </a:solidFill>
          <a:ln/>
        </p:spPr>
      </p:sp>
      <p:sp>
        <p:nvSpPr>
          <p:cNvPr id="3" name="Text 1"/>
          <p:cNvSpPr/>
          <p:nvPr/>
        </p:nvSpPr>
        <p:spPr>
          <a:xfrm>
            <a:off x="317500" y="317500"/>
            <a:ext cx="6600031" cy="515938"/>
          </a:xfrm>
          <a:prstGeom prst="rect">
            <a:avLst/>
          </a:prstGeom>
          <a:noFill/>
          <a:ln/>
        </p:spPr>
        <p:txBody>
          <a:bodyPr wrap="square" lIns="0" tIns="0" rIns="0" bIns="119063" rtlCol="0" anchor="ctr"/>
          <a:lstStyle/>
          <a:p>
            <a:pPr>
              <a:lnSpc>
                <a:spcPct val="90000"/>
              </a:lnSpc>
            </a:pPr>
            <a:r>
              <a:rPr lang="en-US" sz="2813" b="1" dirty="0">
                <a:solidFill>
                  <a:srgbClr val="1D293D"/>
                </a:solidFill>
                <a:latin typeface="Quattrocento Sans" pitchFamily="34" charset="0"/>
                <a:ea typeface="Quattrocento Sans" pitchFamily="34" charset="-122"/>
                <a:cs typeface="Quattrocento Sans" pitchFamily="34" charset="-120"/>
              </a:rPr>
              <a:t>Core Concepts / Architecture / Workflow</a:t>
            </a:r>
            <a:endParaRPr lang="en-US" sz="1600" dirty="0"/>
          </a:p>
        </p:txBody>
      </p:sp>
      <p:sp>
        <p:nvSpPr>
          <p:cNvPr id="4" name="Shape 2"/>
          <p:cNvSpPr/>
          <p:nvPr/>
        </p:nvSpPr>
        <p:spPr>
          <a:xfrm>
            <a:off x="317500" y="989013"/>
            <a:ext cx="5683250" cy="3393684"/>
          </a:xfrm>
          <a:custGeom>
            <a:avLst/>
            <a:gdLst/>
            <a:ahLst/>
            <a:cxnLst/>
            <a:rect l="l" t="t" r="r" b="b"/>
            <a:pathLst>
              <a:path w="5683250" h="3393684">
                <a:moveTo>
                  <a:pt x="79372" y="0"/>
                </a:moveTo>
                <a:lnTo>
                  <a:pt x="5603878" y="0"/>
                </a:lnTo>
                <a:cubicBezTo>
                  <a:pt x="5647714" y="0"/>
                  <a:pt x="5683250" y="29218"/>
                  <a:pt x="5683250" y="65261"/>
                </a:cubicBezTo>
                <a:lnTo>
                  <a:pt x="5683250" y="3328424"/>
                </a:lnTo>
                <a:cubicBezTo>
                  <a:pt x="5683250" y="3364466"/>
                  <a:pt x="5647714" y="3393684"/>
                  <a:pt x="5603878" y="3393684"/>
                </a:cubicBezTo>
                <a:lnTo>
                  <a:pt x="79372" y="3393684"/>
                </a:lnTo>
                <a:cubicBezTo>
                  <a:pt x="35536" y="3393684"/>
                  <a:pt x="0" y="3364466"/>
                  <a:pt x="0" y="3328424"/>
                </a:cubicBezTo>
                <a:lnTo>
                  <a:pt x="0" y="65261"/>
                </a:lnTo>
                <a:cubicBezTo>
                  <a:pt x="0" y="29218"/>
                  <a:pt x="35536" y="0"/>
                  <a:pt x="79372" y="0"/>
                </a:cubicBezTo>
                <a:close/>
              </a:path>
            </a:pathLst>
          </a:custGeom>
          <a:gradFill rotWithShape="1" flip="none">
            <a:gsLst>
              <a:gs pos="0">
                <a:srgbClr val="EFF6FF"/>
              </a:gs>
              <a:gs pos="100000">
                <a:srgbClr val="DBEAFE"/>
              </a:gs>
            </a:gsLst>
            <a:lin ang="2700000" scaled="1"/>
          </a:gradFill>
          <a:ln/>
        </p:spPr>
      </p:sp>
      <p:sp>
        <p:nvSpPr>
          <p:cNvPr id="5" name="Shape 3"/>
          <p:cNvSpPr/>
          <p:nvPr/>
        </p:nvSpPr>
        <p:spPr>
          <a:xfrm>
            <a:off x="515938" y="1047750"/>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2B7FFF"/>
          </a:solidFill>
          <a:ln/>
        </p:spPr>
      </p:sp>
      <p:sp>
        <p:nvSpPr>
          <p:cNvPr id="6" name="Shape 4"/>
          <p:cNvSpPr/>
          <p:nvPr/>
        </p:nvSpPr>
        <p:spPr>
          <a:xfrm>
            <a:off x="653852" y="1186656"/>
            <a:ext cx="198438" cy="198438"/>
          </a:xfrm>
          <a:custGeom>
            <a:avLst/>
            <a:gdLst/>
            <a:ahLst/>
            <a:cxnLst/>
            <a:rect l="l" t="t" r="r" b="b"/>
            <a:pathLst>
              <a:path w="198438" h="198438">
                <a:moveTo>
                  <a:pt x="74414" y="24805"/>
                </a:moveTo>
                <a:cubicBezTo>
                  <a:pt x="74414" y="17945"/>
                  <a:pt x="79956" y="12402"/>
                  <a:pt x="86816" y="12402"/>
                </a:cubicBezTo>
                <a:lnTo>
                  <a:pt x="111621" y="12402"/>
                </a:lnTo>
                <a:cubicBezTo>
                  <a:pt x="118481" y="12402"/>
                  <a:pt x="124023" y="17945"/>
                  <a:pt x="124023" y="24805"/>
                </a:cubicBezTo>
                <a:lnTo>
                  <a:pt x="124023" y="49609"/>
                </a:lnTo>
                <a:cubicBezTo>
                  <a:pt x="124023" y="56469"/>
                  <a:pt x="118481" y="62012"/>
                  <a:pt x="111621" y="62012"/>
                </a:cubicBezTo>
                <a:lnTo>
                  <a:pt x="108521" y="62012"/>
                </a:lnTo>
                <a:lnTo>
                  <a:pt x="108521" y="86816"/>
                </a:lnTo>
                <a:lnTo>
                  <a:pt x="155029" y="86816"/>
                </a:lnTo>
                <a:cubicBezTo>
                  <a:pt x="170455" y="86816"/>
                  <a:pt x="182935" y="99296"/>
                  <a:pt x="182935" y="114722"/>
                </a:cubicBezTo>
                <a:lnTo>
                  <a:pt x="182935" y="136426"/>
                </a:lnTo>
                <a:lnTo>
                  <a:pt x="186035" y="136426"/>
                </a:lnTo>
                <a:cubicBezTo>
                  <a:pt x="192895" y="136426"/>
                  <a:pt x="198437" y="141968"/>
                  <a:pt x="198437" y="148828"/>
                </a:cubicBezTo>
                <a:lnTo>
                  <a:pt x="198437" y="173633"/>
                </a:lnTo>
                <a:cubicBezTo>
                  <a:pt x="198437" y="180493"/>
                  <a:pt x="192895" y="186035"/>
                  <a:pt x="186035" y="186035"/>
                </a:cubicBezTo>
                <a:lnTo>
                  <a:pt x="161230" y="186035"/>
                </a:lnTo>
                <a:cubicBezTo>
                  <a:pt x="154370" y="186035"/>
                  <a:pt x="148828" y="180493"/>
                  <a:pt x="148828" y="173633"/>
                </a:cubicBezTo>
                <a:lnTo>
                  <a:pt x="148828" y="148828"/>
                </a:lnTo>
                <a:cubicBezTo>
                  <a:pt x="148828" y="141968"/>
                  <a:pt x="154370" y="136426"/>
                  <a:pt x="161230" y="136426"/>
                </a:cubicBezTo>
                <a:lnTo>
                  <a:pt x="164331" y="136426"/>
                </a:lnTo>
                <a:lnTo>
                  <a:pt x="164331" y="114722"/>
                </a:lnTo>
                <a:cubicBezTo>
                  <a:pt x="164331" y="109567"/>
                  <a:pt x="160184" y="105420"/>
                  <a:pt x="155029" y="105420"/>
                </a:cubicBezTo>
                <a:lnTo>
                  <a:pt x="108521" y="105420"/>
                </a:lnTo>
                <a:lnTo>
                  <a:pt x="108521" y="136426"/>
                </a:lnTo>
                <a:lnTo>
                  <a:pt x="111621" y="136426"/>
                </a:lnTo>
                <a:cubicBezTo>
                  <a:pt x="118481" y="136426"/>
                  <a:pt x="124023" y="141968"/>
                  <a:pt x="124023" y="148828"/>
                </a:cubicBezTo>
                <a:lnTo>
                  <a:pt x="124023" y="173633"/>
                </a:lnTo>
                <a:cubicBezTo>
                  <a:pt x="124023" y="180493"/>
                  <a:pt x="118481" y="186035"/>
                  <a:pt x="111621" y="186035"/>
                </a:cubicBezTo>
                <a:lnTo>
                  <a:pt x="86816" y="186035"/>
                </a:lnTo>
                <a:cubicBezTo>
                  <a:pt x="79956" y="186035"/>
                  <a:pt x="74414" y="180493"/>
                  <a:pt x="74414" y="173633"/>
                </a:cubicBezTo>
                <a:lnTo>
                  <a:pt x="74414" y="148828"/>
                </a:lnTo>
                <a:cubicBezTo>
                  <a:pt x="74414" y="141968"/>
                  <a:pt x="79956" y="136426"/>
                  <a:pt x="86816" y="136426"/>
                </a:cubicBezTo>
                <a:lnTo>
                  <a:pt x="89917" y="136426"/>
                </a:lnTo>
                <a:lnTo>
                  <a:pt x="89917" y="105420"/>
                </a:lnTo>
                <a:lnTo>
                  <a:pt x="43408" y="105420"/>
                </a:lnTo>
                <a:cubicBezTo>
                  <a:pt x="38253" y="105420"/>
                  <a:pt x="34106" y="109567"/>
                  <a:pt x="34106" y="114722"/>
                </a:cubicBezTo>
                <a:lnTo>
                  <a:pt x="34106" y="136426"/>
                </a:lnTo>
                <a:lnTo>
                  <a:pt x="37207" y="136426"/>
                </a:lnTo>
                <a:cubicBezTo>
                  <a:pt x="44067" y="136426"/>
                  <a:pt x="49609" y="141968"/>
                  <a:pt x="49609" y="148828"/>
                </a:cubicBezTo>
                <a:lnTo>
                  <a:pt x="49609" y="173633"/>
                </a:lnTo>
                <a:cubicBezTo>
                  <a:pt x="49609" y="180493"/>
                  <a:pt x="44067" y="186035"/>
                  <a:pt x="37207" y="186035"/>
                </a:cubicBezTo>
                <a:lnTo>
                  <a:pt x="12402" y="186035"/>
                </a:lnTo>
                <a:cubicBezTo>
                  <a:pt x="5542" y="186035"/>
                  <a:pt x="0" y="180493"/>
                  <a:pt x="0" y="173633"/>
                </a:cubicBezTo>
                <a:lnTo>
                  <a:pt x="0" y="148828"/>
                </a:lnTo>
                <a:cubicBezTo>
                  <a:pt x="0" y="141968"/>
                  <a:pt x="5542" y="136426"/>
                  <a:pt x="12402" y="136426"/>
                </a:cubicBezTo>
                <a:lnTo>
                  <a:pt x="15503" y="136426"/>
                </a:lnTo>
                <a:lnTo>
                  <a:pt x="15503" y="114722"/>
                </a:lnTo>
                <a:cubicBezTo>
                  <a:pt x="15503" y="99296"/>
                  <a:pt x="27983" y="86816"/>
                  <a:pt x="43408" y="86816"/>
                </a:cubicBezTo>
                <a:lnTo>
                  <a:pt x="89917" y="86816"/>
                </a:lnTo>
                <a:lnTo>
                  <a:pt x="89917" y="62012"/>
                </a:lnTo>
                <a:lnTo>
                  <a:pt x="86816" y="62012"/>
                </a:lnTo>
                <a:cubicBezTo>
                  <a:pt x="79956" y="62012"/>
                  <a:pt x="74414" y="56469"/>
                  <a:pt x="74414" y="49609"/>
                </a:cubicBezTo>
                <a:lnTo>
                  <a:pt x="74414" y="24805"/>
                </a:lnTo>
                <a:close/>
              </a:path>
            </a:pathLst>
          </a:custGeom>
          <a:solidFill>
            <a:srgbClr val="FFFFFF"/>
          </a:solidFill>
          <a:ln/>
        </p:spPr>
      </p:sp>
      <p:sp>
        <p:nvSpPr>
          <p:cNvPr id="7" name="Text 5"/>
          <p:cNvSpPr/>
          <p:nvPr/>
        </p:nvSpPr>
        <p:spPr>
          <a:xfrm>
            <a:off x="1111250" y="1146969"/>
            <a:ext cx="195659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Script Execution Flow</a:t>
            </a:r>
            <a:endParaRPr lang="en-US" sz="1600" dirty="0"/>
          </a:p>
        </p:txBody>
      </p:sp>
      <p:sp>
        <p:nvSpPr>
          <p:cNvPr id="8" name="Shape 6"/>
          <p:cNvSpPr/>
          <p:nvPr/>
        </p:nvSpPr>
        <p:spPr>
          <a:xfrm>
            <a:off x="515938" y="1723231"/>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B7FFF"/>
          </a:solidFill>
          <a:ln/>
        </p:spPr>
      </p:sp>
      <p:sp>
        <p:nvSpPr>
          <p:cNvPr id="9" name="Text 7"/>
          <p:cNvSpPr/>
          <p:nvPr/>
        </p:nvSpPr>
        <p:spPr>
          <a:xfrm>
            <a:off x="485775" y="1672431"/>
            <a:ext cx="386953" cy="317500"/>
          </a:xfrm>
          <a:prstGeom prst="rect">
            <a:avLst/>
          </a:prstGeom>
          <a:noFill/>
          <a:ln/>
        </p:spPr>
        <p:txBody>
          <a:bodyPr wrap="square" lIns="0" tIns="0" rIns="0" bIns="0" rtlCol="0" anchor="ctr"/>
          <a:lstStyle/>
          <a:p>
            <a:pPr algn="ctr">
              <a:lnSpc>
                <a:spcPct val="120000"/>
              </a:lnSpc>
            </a:pPr>
            <a:r>
              <a:rPr lang="en-US" sz="1094"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0" name="Shape 8"/>
          <p:cNvSpPr/>
          <p:nvPr/>
        </p:nvSpPr>
        <p:spPr>
          <a:xfrm>
            <a:off x="1066800" y="1670050"/>
            <a:ext cx="4685903" cy="494509"/>
          </a:xfrm>
          <a:custGeom>
            <a:avLst/>
            <a:gdLst/>
            <a:ahLst/>
            <a:cxnLst/>
            <a:rect l="l" t="t" r="r" b="b"/>
            <a:pathLst>
              <a:path w="4685903" h="494509">
                <a:moveTo>
                  <a:pt x="38348" y="0"/>
                </a:moveTo>
                <a:lnTo>
                  <a:pt x="4647555" y="0"/>
                </a:lnTo>
                <a:cubicBezTo>
                  <a:pt x="4668734" y="0"/>
                  <a:pt x="4685903" y="14761"/>
                  <a:pt x="4685903" y="32969"/>
                </a:cubicBezTo>
                <a:lnTo>
                  <a:pt x="4685903" y="461540"/>
                </a:lnTo>
                <a:cubicBezTo>
                  <a:pt x="4685903" y="479748"/>
                  <a:pt x="4668734" y="494509"/>
                  <a:pt x="4647555" y="494509"/>
                </a:cubicBezTo>
                <a:lnTo>
                  <a:pt x="38348" y="494509"/>
                </a:lnTo>
                <a:cubicBezTo>
                  <a:pt x="17169" y="494509"/>
                  <a:pt x="0" y="479748"/>
                  <a:pt x="0" y="461540"/>
                </a:cubicBezTo>
                <a:lnTo>
                  <a:pt x="0" y="32969"/>
                </a:lnTo>
                <a:cubicBezTo>
                  <a:pt x="0" y="14761"/>
                  <a:pt x="17169" y="0"/>
                  <a:pt x="3834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1" name="Text 9"/>
          <p:cNvSpPr/>
          <p:nvPr/>
        </p:nvSpPr>
        <p:spPr>
          <a:xfrm>
            <a:off x="1185863" y="1674813"/>
            <a:ext cx="2892425" cy="198438"/>
          </a:xfrm>
          <a:prstGeom prst="rect">
            <a:avLst/>
          </a:prstGeom>
          <a:noFill/>
          <a:ln/>
        </p:spPr>
        <p:txBody>
          <a:bodyPr wrap="square" lIns="0" tIns="0" rIns="0" bIns="0" rtlCol="0" anchor="ctr"/>
          <a:lstStyle/>
          <a:p>
            <a:pP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Initialize &amp; Detect OS</a:t>
            </a:r>
            <a:endParaRPr lang="en-US" sz="1600" dirty="0"/>
          </a:p>
        </p:txBody>
      </p:sp>
      <p:sp>
        <p:nvSpPr>
          <p:cNvPr id="12" name="Text 10"/>
          <p:cNvSpPr/>
          <p:nvPr/>
        </p:nvSpPr>
        <p:spPr>
          <a:xfrm>
            <a:off x="1185863" y="1860550"/>
            <a:ext cx="3604345" cy="158750"/>
          </a:xfrm>
          <a:prstGeom prst="rect">
            <a:avLst/>
          </a:prstGeom>
          <a:noFill/>
          <a:ln/>
        </p:spPr>
        <p:txBody>
          <a:bodyPr wrap="square" lIns="0" tIns="0" rIns="0" bIns="0" rtlCol="0" anchor="ctr"/>
          <a:lstStyle/>
          <a:p>
            <a:pP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Determine platform type</a:t>
            </a:r>
            <a:endParaRPr lang="en-US" sz="1600" dirty="0"/>
          </a:p>
        </p:txBody>
      </p:sp>
      <p:sp>
        <p:nvSpPr>
          <p:cNvPr id="13" name="Shape 11"/>
          <p:cNvSpPr/>
          <p:nvPr/>
        </p:nvSpPr>
        <p:spPr>
          <a:xfrm>
            <a:off x="515938" y="23336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B7FFF"/>
          </a:solidFill>
          <a:ln/>
        </p:spPr>
      </p:sp>
      <p:sp>
        <p:nvSpPr>
          <p:cNvPr id="14" name="Text 12"/>
          <p:cNvSpPr/>
          <p:nvPr/>
        </p:nvSpPr>
        <p:spPr>
          <a:xfrm>
            <a:off x="490538" y="2282825"/>
            <a:ext cx="386953" cy="317500"/>
          </a:xfrm>
          <a:prstGeom prst="rect">
            <a:avLst/>
          </a:prstGeom>
          <a:noFill/>
          <a:ln/>
        </p:spPr>
        <p:txBody>
          <a:bodyPr wrap="square" lIns="0" tIns="0" rIns="0" bIns="0" rtlCol="0" anchor="ctr"/>
          <a:lstStyle/>
          <a:p>
            <a:pPr algn="ctr">
              <a:lnSpc>
                <a:spcPct val="120000"/>
              </a:lnSpc>
            </a:pPr>
            <a:r>
              <a:rPr lang="en-US" sz="1094"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5" name="Shape 13"/>
          <p:cNvSpPr/>
          <p:nvPr/>
        </p:nvSpPr>
        <p:spPr>
          <a:xfrm>
            <a:off x="1066800" y="2257425"/>
            <a:ext cx="4685903" cy="500065"/>
          </a:xfrm>
          <a:custGeom>
            <a:avLst/>
            <a:gdLst/>
            <a:ahLst/>
            <a:cxnLst/>
            <a:rect l="l" t="t" r="r" b="b"/>
            <a:pathLst>
              <a:path w="4685903" h="500065">
                <a:moveTo>
                  <a:pt x="38348" y="0"/>
                </a:moveTo>
                <a:lnTo>
                  <a:pt x="4647555" y="0"/>
                </a:lnTo>
                <a:cubicBezTo>
                  <a:pt x="4668734" y="0"/>
                  <a:pt x="4685903" y="14927"/>
                  <a:pt x="4685903" y="33339"/>
                </a:cubicBezTo>
                <a:lnTo>
                  <a:pt x="4685903" y="466726"/>
                </a:lnTo>
                <a:cubicBezTo>
                  <a:pt x="4685903" y="485139"/>
                  <a:pt x="4668734" y="500065"/>
                  <a:pt x="4647555" y="500065"/>
                </a:cubicBezTo>
                <a:lnTo>
                  <a:pt x="38348" y="500065"/>
                </a:lnTo>
                <a:cubicBezTo>
                  <a:pt x="17169" y="500065"/>
                  <a:pt x="0" y="485139"/>
                  <a:pt x="0" y="466726"/>
                </a:cubicBezTo>
                <a:lnTo>
                  <a:pt x="0" y="33339"/>
                </a:lnTo>
                <a:cubicBezTo>
                  <a:pt x="0" y="14927"/>
                  <a:pt x="17169" y="0"/>
                  <a:pt x="3834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6" name="Text 14"/>
          <p:cNvSpPr/>
          <p:nvPr/>
        </p:nvSpPr>
        <p:spPr>
          <a:xfrm>
            <a:off x="1185863" y="2249488"/>
            <a:ext cx="3106231" cy="198438"/>
          </a:xfrm>
          <a:prstGeom prst="rect">
            <a:avLst/>
          </a:prstGeom>
          <a:noFill/>
          <a:ln/>
        </p:spPr>
        <p:txBody>
          <a:bodyPr wrap="square" lIns="0" tIns="0" rIns="0" bIns="0" rtlCol="0" anchor="ctr"/>
          <a:lstStyle/>
          <a:p>
            <a:pP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Execute OS-Specific Module</a:t>
            </a:r>
            <a:endParaRPr lang="en-US" sz="1600" dirty="0"/>
          </a:p>
        </p:txBody>
      </p:sp>
      <p:sp>
        <p:nvSpPr>
          <p:cNvPr id="17" name="Text 15"/>
          <p:cNvSpPr/>
          <p:nvPr/>
        </p:nvSpPr>
        <p:spPr>
          <a:xfrm>
            <a:off x="1185863" y="2447925"/>
            <a:ext cx="3299523" cy="158750"/>
          </a:xfrm>
          <a:prstGeom prst="rect">
            <a:avLst/>
          </a:prstGeom>
          <a:noFill/>
          <a:ln/>
        </p:spPr>
        <p:txBody>
          <a:bodyPr wrap="square" lIns="0" tIns="0" rIns="0" bIns="0" rtlCol="0" anchor="ctr"/>
          <a:lstStyle/>
          <a:p>
            <a:pP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Run appropriate script</a:t>
            </a:r>
            <a:endParaRPr lang="en-US" sz="1600" dirty="0"/>
          </a:p>
        </p:txBody>
      </p:sp>
      <p:sp>
        <p:nvSpPr>
          <p:cNvPr id="18" name="Shape 16"/>
          <p:cNvSpPr/>
          <p:nvPr/>
        </p:nvSpPr>
        <p:spPr>
          <a:xfrm>
            <a:off x="515938" y="2945606"/>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B7FFF"/>
          </a:solidFill>
          <a:ln/>
        </p:spPr>
      </p:sp>
      <p:sp>
        <p:nvSpPr>
          <p:cNvPr id="19" name="Text 17"/>
          <p:cNvSpPr/>
          <p:nvPr/>
        </p:nvSpPr>
        <p:spPr>
          <a:xfrm>
            <a:off x="490538" y="2894013"/>
            <a:ext cx="386953" cy="317500"/>
          </a:xfrm>
          <a:prstGeom prst="rect">
            <a:avLst/>
          </a:prstGeom>
          <a:noFill/>
          <a:ln/>
        </p:spPr>
        <p:txBody>
          <a:bodyPr wrap="square" lIns="0" tIns="0" rIns="0" bIns="0" rtlCol="0" anchor="ctr"/>
          <a:lstStyle/>
          <a:p>
            <a:pPr algn="ctr">
              <a:lnSpc>
                <a:spcPct val="120000"/>
              </a:lnSpc>
            </a:pPr>
            <a:r>
              <a:rPr lang="en-US" sz="1094"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0" name="Shape 18"/>
          <p:cNvSpPr/>
          <p:nvPr/>
        </p:nvSpPr>
        <p:spPr>
          <a:xfrm>
            <a:off x="1073150" y="2868811"/>
            <a:ext cx="4679553" cy="503039"/>
          </a:xfrm>
          <a:custGeom>
            <a:avLst/>
            <a:gdLst/>
            <a:ahLst/>
            <a:cxnLst/>
            <a:rect l="l" t="t" r="r" b="b"/>
            <a:pathLst>
              <a:path w="4679553" h="503039">
                <a:moveTo>
                  <a:pt x="38296" y="0"/>
                </a:moveTo>
                <a:lnTo>
                  <a:pt x="4641257" y="0"/>
                </a:lnTo>
                <a:cubicBezTo>
                  <a:pt x="4662407" y="0"/>
                  <a:pt x="4679553" y="15015"/>
                  <a:pt x="4679553" y="33538"/>
                </a:cubicBezTo>
                <a:lnTo>
                  <a:pt x="4679553" y="469501"/>
                </a:lnTo>
                <a:cubicBezTo>
                  <a:pt x="4679553" y="488024"/>
                  <a:pt x="4662407" y="503039"/>
                  <a:pt x="4641257" y="503039"/>
                </a:cubicBezTo>
                <a:lnTo>
                  <a:pt x="38296" y="503039"/>
                </a:lnTo>
                <a:cubicBezTo>
                  <a:pt x="17146" y="503039"/>
                  <a:pt x="0" y="488024"/>
                  <a:pt x="0" y="469501"/>
                </a:cubicBezTo>
                <a:lnTo>
                  <a:pt x="0" y="33538"/>
                </a:lnTo>
                <a:cubicBezTo>
                  <a:pt x="0" y="15015"/>
                  <a:pt x="17146" y="0"/>
                  <a:pt x="38296"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1" name="Text 19"/>
          <p:cNvSpPr/>
          <p:nvPr/>
        </p:nvSpPr>
        <p:spPr>
          <a:xfrm>
            <a:off x="1185863" y="2900363"/>
            <a:ext cx="4681141" cy="198438"/>
          </a:xfrm>
          <a:prstGeom prst="rect">
            <a:avLst/>
          </a:prstGeom>
          <a:noFill/>
          <a:ln/>
        </p:spPr>
        <p:txBody>
          <a:bodyPr wrap="square" lIns="0" tIns="0" rIns="0" bIns="0" rtlCol="0" anchor="ctr"/>
          <a:lstStyle/>
          <a:p>
            <a:pP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Process &amp; Store Data</a:t>
            </a:r>
            <a:endParaRPr lang="en-US" sz="1600" dirty="0"/>
          </a:p>
        </p:txBody>
      </p:sp>
      <p:sp>
        <p:nvSpPr>
          <p:cNvPr id="22" name="Text 20"/>
          <p:cNvSpPr/>
          <p:nvPr/>
        </p:nvSpPr>
        <p:spPr>
          <a:xfrm>
            <a:off x="1185863" y="3086100"/>
            <a:ext cx="4067992" cy="158750"/>
          </a:xfrm>
          <a:prstGeom prst="rect">
            <a:avLst/>
          </a:prstGeom>
          <a:noFill/>
          <a:ln/>
        </p:spPr>
        <p:txBody>
          <a:bodyPr wrap="square" lIns="0" tIns="0" rIns="0" bIns="0" rtlCol="0" anchor="ctr"/>
          <a:lstStyle/>
          <a:p>
            <a:pP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Backup or restore</a:t>
            </a:r>
            <a:endParaRPr lang="en-US" sz="1600" dirty="0"/>
          </a:p>
        </p:txBody>
      </p:sp>
      <p:sp>
        <p:nvSpPr>
          <p:cNvPr id="23" name="Shape 21"/>
          <p:cNvSpPr/>
          <p:nvPr/>
        </p:nvSpPr>
        <p:spPr>
          <a:xfrm>
            <a:off x="515938" y="35782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B7FFF"/>
          </a:solidFill>
          <a:ln/>
        </p:spPr>
      </p:sp>
      <p:sp>
        <p:nvSpPr>
          <p:cNvPr id="24" name="Shape 22"/>
          <p:cNvSpPr/>
          <p:nvPr/>
        </p:nvSpPr>
        <p:spPr>
          <a:xfrm>
            <a:off x="1065212" y="3533775"/>
            <a:ext cx="4687491" cy="530225"/>
          </a:xfrm>
          <a:custGeom>
            <a:avLst/>
            <a:gdLst/>
            <a:ahLst/>
            <a:cxnLst/>
            <a:rect l="l" t="t" r="r" b="b"/>
            <a:pathLst>
              <a:path w="4687491" h="530225">
                <a:moveTo>
                  <a:pt x="38361" y="0"/>
                </a:moveTo>
                <a:lnTo>
                  <a:pt x="4649130" y="0"/>
                </a:lnTo>
                <a:cubicBezTo>
                  <a:pt x="4670316" y="0"/>
                  <a:pt x="4687491" y="15827"/>
                  <a:pt x="4687491" y="35350"/>
                </a:cubicBezTo>
                <a:lnTo>
                  <a:pt x="4687491" y="494875"/>
                </a:lnTo>
                <a:cubicBezTo>
                  <a:pt x="4687491" y="514398"/>
                  <a:pt x="4670316" y="530225"/>
                  <a:pt x="4649130" y="530225"/>
                </a:cubicBezTo>
                <a:lnTo>
                  <a:pt x="38361" y="530225"/>
                </a:lnTo>
                <a:cubicBezTo>
                  <a:pt x="17175" y="530225"/>
                  <a:pt x="0" y="514398"/>
                  <a:pt x="0" y="494875"/>
                </a:cubicBezTo>
                <a:lnTo>
                  <a:pt x="0" y="35350"/>
                </a:lnTo>
                <a:cubicBezTo>
                  <a:pt x="0" y="15827"/>
                  <a:pt x="17175" y="0"/>
                  <a:pt x="38361"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5" name="Text 23"/>
          <p:cNvSpPr/>
          <p:nvPr/>
        </p:nvSpPr>
        <p:spPr>
          <a:xfrm>
            <a:off x="1185863" y="3551238"/>
            <a:ext cx="3604345" cy="198438"/>
          </a:xfrm>
          <a:prstGeom prst="rect">
            <a:avLst/>
          </a:prstGeom>
          <a:noFill/>
          <a:ln/>
        </p:spPr>
        <p:txBody>
          <a:bodyPr wrap="square" lIns="0" tIns="0" rIns="0" bIns="0" rtlCol="0" anchor="ctr"/>
          <a:lstStyle/>
          <a:p>
            <a:pP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Verify &amp; Report</a:t>
            </a:r>
            <a:endParaRPr lang="en-US" sz="1600" dirty="0"/>
          </a:p>
        </p:txBody>
      </p:sp>
      <p:sp>
        <p:nvSpPr>
          <p:cNvPr id="26" name="Text 24"/>
          <p:cNvSpPr/>
          <p:nvPr/>
        </p:nvSpPr>
        <p:spPr>
          <a:xfrm>
            <a:off x="1185863" y="3736975"/>
            <a:ext cx="4201286" cy="158750"/>
          </a:xfrm>
          <a:prstGeom prst="rect">
            <a:avLst/>
          </a:prstGeom>
          <a:noFill/>
          <a:ln/>
        </p:spPr>
        <p:txBody>
          <a:bodyPr wrap="square" lIns="0" tIns="0" rIns="0" bIns="0" rtlCol="0" anchor="ctr"/>
          <a:lstStyle/>
          <a:p>
            <a:pP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Confirm completion</a:t>
            </a:r>
            <a:endParaRPr lang="en-US" sz="1600" dirty="0"/>
          </a:p>
        </p:txBody>
      </p:sp>
      <p:sp>
        <p:nvSpPr>
          <p:cNvPr id="27" name="Shape 25"/>
          <p:cNvSpPr/>
          <p:nvPr/>
        </p:nvSpPr>
        <p:spPr>
          <a:xfrm>
            <a:off x="6195219" y="989013"/>
            <a:ext cx="5683250" cy="3393684"/>
          </a:xfrm>
          <a:custGeom>
            <a:avLst/>
            <a:gdLst/>
            <a:ahLst/>
            <a:cxnLst/>
            <a:rect l="l" t="t" r="r" b="b"/>
            <a:pathLst>
              <a:path w="5683250" h="3393684">
                <a:moveTo>
                  <a:pt x="79372" y="0"/>
                </a:moveTo>
                <a:lnTo>
                  <a:pt x="5603878" y="0"/>
                </a:lnTo>
                <a:cubicBezTo>
                  <a:pt x="5647714" y="0"/>
                  <a:pt x="5683250" y="29218"/>
                  <a:pt x="5683250" y="65261"/>
                </a:cubicBezTo>
                <a:lnTo>
                  <a:pt x="5683250" y="3328424"/>
                </a:lnTo>
                <a:cubicBezTo>
                  <a:pt x="5683250" y="3364466"/>
                  <a:pt x="5647714" y="3393684"/>
                  <a:pt x="5603878" y="3393684"/>
                </a:cubicBezTo>
                <a:lnTo>
                  <a:pt x="79372" y="3393684"/>
                </a:lnTo>
                <a:cubicBezTo>
                  <a:pt x="35536" y="3393684"/>
                  <a:pt x="0" y="3364466"/>
                  <a:pt x="0" y="3328424"/>
                </a:cubicBezTo>
                <a:lnTo>
                  <a:pt x="0" y="65261"/>
                </a:lnTo>
                <a:cubicBezTo>
                  <a:pt x="0" y="29218"/>
                  <a:pt x="35536" y="0"/>
                  <a:pt x="79372" y="0"/>
                </a:cubicBezTo>
                <a:close/>
              </a:path>
            </a:pathLst>
          </a:custGeom>
          <a:gradFill rotWithShape="1" flip="none">
            <a:gsLst>
              <a:gs pos="0">
                <a:srgbClr val="F0FDF4"/>
              </a:gs>
              <a:gs pos="100000">
                <a:srgbClr val="DCFCE7"/>
              </a:gs>
            </a:gsLst>
            <a:lin ang="2700000" scaled="1"/>
          </a:gradFill>
          <a:ln/>
        </p:spPr>
      </p:sp>
      <p:sp>
        <p:nvSpPr>
          <p:cNvPr id="28" name="Shape 26"/>
          <p:cNvSpPr/>
          <p:nvPr/>
        </p:nvSpPr>
        <p:spPr>
          <a:xfrm>
            <a:off x="6393656" y="1060450"/>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00C950"/>
          </a:solidFill>
          <a:ln/>
        </p:spPr>
      </p:sp>
      <p:sp>
        <p:nvSpPr>
          <p:cNvPr id="29" name="Shape 27"/>
          <p:cNvSpPr/>
          <p:nvPr/>
        </p:nvSpPr>
        <p:spPr>
          <a:xfrm>
            <a:off x="6543973" y="1199356"/>
            <a:ext cx="173633" cy="198438"/>
          </a:xfrm>
          <a:custGeom>
            <a:avLst/>
            <a:gdLst/>
            <a:ahLst/>
            <a:cxnLst/>
            <a:rect l="l" t="t" r="r" b="b"/>
            <a:pathLst>
              <a:path w="173633" h="198438">
                <a:moveTo>
                  <a:pt x="173633" y="79763"/>
                </a:moveTo>
                <a:cubicBezTo>
                  <a:pt x="167897" y="83561"/>
                  <a:pt x="161308" y="86623"/>
                  <a:pt x="154448" y="89064"/>
                </a:cubicBezTo>
                <a:cubicBezTo>
                  <a:pt x="136232" y="95576"/>
                  <a:pt x="112319" y="99219"/>
                  <a:pt x="86816" y="99219"/>
                </a:cubicBezTo>
                <a:cubicBezTo>
                  <a:pt x="61314" y="99219"/>
                  <a:pt x="37362" y="95537"/>
                  <a:pt x="19185" y="89064"/>
                </a:cubicBezTo>
                <a:cubicBezTo>
                  <a:pt x="12364" y="86623"/>
                  <a:pt x="5736" y="83561"/>
                  <a:pt x="0" y="79763"/>
                </a:cubicBezTo>
                <a:lnTo>
                  <a:pt x="0" y="111621"/>
                </a:lnTo>
                <a:cubicBezTo>
                  <a:pt x="0" y="128752"/>
                  <a:pt x="38874" y="142627"/>
                  <a:pt x="86816" y="142627"/>
                </a:cubicBezTo>
                <a:cubicBezTo>
                  <a:pt x="134759" y="142627"/>
                  <a:pt x="173633" y="128752"/>
                  <a:pt x="173633" y="111621"/>
                </a:cubicBezTo>
                <a:lnTo>
                  <a:pt x="173633" y="79763"/>
                </a:lnTo>
                <a:close/>
                <a:moveTo>
                  <a:pt x="173633" y="49609"/>
                </a:moveTo>
                <a:lnTo>
                  <a:pt x="173633" y="31006"/>
                </a:lnTo>
                <a:cubicBezTo>
                  <a:pt x="173633" y="13875"/>
                  <a:pt x="134759" y="0"/>
                  <a:pt x="86816" y="0"/>
                </a:cubicBezTo>
                <a:cubicBezTo>
                  <a:pt x="38874" y="0"/>
                  <a:pt x="0" y="13875"/>
                  <a:pt x="0" y="31006"/>
                </a:cubicBezTo>
                <a:lnTo>
                  <a:pt x="0" y="49609"/>
                </a:lnTo>
                <a:cubicBezTo>
                  <a:pt x="0" y="66740"/>
                  <a:pt x="38874" y="80615"/>
                  <a:pt x="86816" y="80615"/>
                </a:cubicBezTo>
                <a:cubicBezTo>
                  <a:pt x="134759" y="80615"/>
                  <a:pt x="173633" y="66740"/>
                  <a:pt x="173633" y="49609"/>
                </a:cubicBezTo>
                <a:close/>
                <a:moveTo>
                  <a:pt x="154448" y="151076"/>
                </a:moveTo>
                <a:cubicBezTo>
                  <a:pt x="136271" y="157549"/>
                  <a:pt x="112357" y="161230"/>
                  <a:pt x="86816" y="161230"/>
                </a:cubicBezTo>
                <a:cubicBezTo>
                  <a:pt x="61275" y="161230"/>
                  <a:pt x="37362" y="157549"/>
                  <a:pt x="19185" y="151076"/>
                </a:cubicBezTo>
                <a:cubicBezTo>
                  <a:pt x="12364" y="148634"/>
                  <a:pt x="5736" y="145573"/>
                  <a:pt x="0" y="141774"/>
                </a:cubicBezTo>
                <a:lnTo>
                  <a:pt x="0" y="167432"/>
                </a:lnTo>
                <a:cubicBezTo>
                  <a:pt x="0" y="184562"/>
                  <a:pt x="38874" y="198437"/>
                  <a:pt x="86816" y="198437"/>
                </a:cubicBezTo>
                <a:cubicBezTo>
                  <a:pt x="134759" y="198437"/>
                  <a:pt x="173633" y="184562"/>
                  <a:pt x="173633" y="167432"/>
                </a:cubicBezTo>
                <a:lnTo>
                  <a:pt x="173633" y="141774"/>
                </a:lnTo>
                <a:cubicBezTo>
                  <a:pt x="167897" y="145573"/>
                  <a:pt x="161308" y="148634"/>
                  <a:pt x="154448" y="151076"/>
                </a:cubicBezTo>
                <a:close/>
              </a:path>
            </a:pathLst>
          </a:custGeom>
          <a:solidFill>
            <a:srgbClr val="FFFFFF"/>
          </a:solidFill>
          <a:ln/>
        </p:spPr>
      </p:sp>
      <p:sp>
        <p:nvSpPr>
          <p:cNvPr id="30" name="Text 28"/>
          <p:cNvSpPr/>
          <p:nvPr/>
        </p:nvSpPr>
        <p:spPr>
          <a:xfrm>
            <a:off x="6988969" y="1159669"/>
            <a:ext cx="224234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Data Storage Mechanism</a:t>
            </a:r>
            <a:endParaRPr lang="en-US" sz="1600" dirty="0"/>
          </a:p>
        </p:txBody>
      </p:sp>
      <p:sp>
        <p:nvSpPr>
          <p:cNvPr id="31" name="Shape 29"/>
          <p:cNvSpPr/>
          <p:nvPr/>
        </p:nvSpPr>
        <p:spPr>
          <a:xfrm>
            <a:off x="6419056" y="1631950"/>
            <a:ext cx="5286375" cy="612775"/>
          </a:xfrm>
          <a:custGeom>
            <a:avLst/>
            <a:gdLst/>
            <a:ahLst/>
            <a:cxnLst/>
            <a:rect l="l" t="t" r="r" b="b"/>
            <a:pathLst>
              <a:path w="5286375" h="612775">
                <a:moveTo>
                  <a:pt x="79374" y="0"/>
                </a:moveTo>
                <a:lnTo>
                  <a:pt x="5207001" y="0"/>
                </a:lnTo>
                <a:cubicBezTo>
                  <a:pt x="5250838" y="0"/>
                  <a:pt x="5286375" y="30483"/>
                  <a:pt x="5286375" y="68085"/>
                </a:cubicBezTo>
                <a:lnTo>
                  <a:pt x="5286375" y="544690"/>
                </a:lnTo>
                <a:cubicBezTo>
                  <a:pt x="5286375" y="582292"/>
                  <a:pt x="5250838" y="612775"/>
                  <a:pt x="5207001" y="612775"/>
                </a:cubicBezTo>
                <a:lnTo>
                  <a:pt x="79374" y="612775"/>
                </a:lnTo>
                <a:cubicBezTo>
                  <a:pt x="35537" y="612775"/>
                  <a:pt x="0" y="582292"/>
                  <a:pt x="0" y="544690"/>
                </a:cubicBezTo>
                <a:lnTo>
                  <a:pt x="0" y="68085"/>
                </a:lnTo>
                <a:cubicBezTo>
                  <a:pt x="0" y="30508"/>
                  <a:pt x="35566" y="0"/>
                  <a:pt x="79374"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2" name="Shape 30"/>
          <p:cNvSpPr/>
          <p:nvPr/>
        </p:nvSpPr>
        <p:spPr>
          <a:xfrm>
            <a:off x="6548041" y="1765300"/>
            <a:ext cx="178594" cy="158750"/>
          </a:xfrm>
          <a:custGeom>
            <a:avLst/>
            <a:gdLst/>
            <a:ahLst/>
            <a:cxnLst/>
            <a:rect l="l" t="t" r="r" b="b"/>
            <a:pathLst>
              <a:path w="178594" h="158750">
                <a:moveTo>
                  <a:pt x="17363" y="69949"/>
                </a:moveTo>
                <a:lnTo>
                  <a:pt x="10046" y="91839"/>
                </a:lnTo>
                <a:lnTo>
                  <a:pt x="10046" y="29766"/>
                </a:lnTo>
                <a:cubicBezTo>
                  <a:pt x="10046" y="18821"/>
                  <a:pt x="18945" y="9922"/>
                  <a:pt x="29890" y="9922"/>
                </a:cubicBezTo>
                <a:lnTo>
                  <a:pt x="72895" y="9922"/>
                </a:lnTo>
                <a:cubicBezTo>
                  <a:pt x="77174" y="9922"/>
                  <a:pt x="81359" y="11317"/>
                  <a:pt x="84801" y="13891"/>
                </a:cubicBezTo>
                <a:lnTo>
                  <a:pt x="96707" y="22820"/>
                </a:lnTo>
                <a:cubicBezTo>
                  <a:pt x="98413" y="24123"/>
                  <a:pt x="100521" y="24805"/>
                  <a:pt x="102660" y="24805"/>
                </a:cubicBezTo>
                <a:lnTo>
                  <a:pt x="139030" y="24805"/>
                </a:lnTo>
                <a:cubicBezTo>
                  <a:pt x="149975" y="24805"/>
                  <a:pt x="158874" y="33703"/>
                  <a:pt x="158874" y="44648"/>
                </a:cubicBezTo>
                <a:lnTo>
                  <a:pt x="158874" y="49609"/>
                </a:lnTo>
                <a:lnTo>
                  <a:pt x="45579" y="49609"/>
                </a:lnTo>
                <a:cubicBezTo>
                  <a:pt x="32773" y="49609"/>
                  <a:pt x="21394" y="57795"/>
                  <a:pt x="17332" y="69949"/>
                </a:cubicBezTo>
                <a:close/>
                <a:moveTo>
                  <a:pt x="148146" y="138906"/>
                </a:moveTo>
                <a:lnTo>
                  <a:pt x="30696" y="138906"/>
                </a:lnTo>
                <a:cubicBezTo>
                  <a:pt x="20526" y="138906"/>
                  <a:pt x="13364" y="128953"/>
                  <a:pt x="16588" y="119311"/>
                </a:cubicBezTo>
                <a:lnTo>
                  <a:pt x="31471" y="74662"/>
                </a:lnTo>
                <a:cubicBezTo>
                  <a:pt x="33486" y="68585"/>
                  <a:pt x="39191" y="64492"/>
                  <a:pt x="45579" y="64492"/>
                </a:cubicBezTo>
                <a:lnTo>
                  <a:pt x="163029" y="64492"/>
                </a:lnTo>
                <a:cubicBezTo>
                  <a:pt x="173199" y="64492"/>
                  <a:pt x="180361" y="74445"/>
                  <a:pt x="177136" y="84088"/>
                </a:cubicBezTo>
                <a:lnTo>
                  <a:pt x="162254" y="128736"/>
                </a:lnTo>
                <a:cubicBezTo>
                  <a:pt x="160238" y="134813"/>
                  <a:pt x="154533" y="138906"/>
                  <a:pt x="148146" y="138906"/>
                </a:cubicBezTo>
                <a:close/>
              </a:path>
            </a:pathLst>
          </a:custGeom>
          <a:solidFill>
            <a:srgbClr val="00C950"/>
          </a:solidFill>
          <a:ln/>
        </p:spPr>
      </p:sp>
      <p:sp>
        <p:nvSpPr>
          <p:cNvPr id="33" name="Text 31"/>
          <p:cNvSpPr/>
          <p:nvPr/>
        </p:nvSpPr>
        <p:spPr>
          <a:xfrm>
            <a:off x="6815931" y="1687513"/>
            <a:ext cx="650875"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dev/</a:t>
            </a:r>
            <a:endParaRPr lang="en-US" sz="1600" dirty="0"/>
          </a:p>
        </p:txBody>
      </p:sp>
      <p:sp>
        <p:nvSpPr>
          <p:cNvPr id="34" name="Text 32"/>
          <p:cNvSpPr/>
          <p:nvPr/>
        </p:nvSpPr>
        <p:spPr>
          <a:xfrm>
            <a:off x="6776244" y="1889125"/>
            <a:ext cx="4879578"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Root backup directory</a:t>
            </a:r>
            <a:endParaRPr lang="en-US" sz="1600" dirty="0"/>
          </a:p>
        </p:txBody>
      </p:sp>
      <p:sp>
        <p:nvSpPr>
          <p:cNvPr id="35" name="Shape 33"/>
          <p:cNvSpPr/>
          <p:nvPr/>
        </p:nvSpPr>
        <p:spPr>
          <a:xfrm>
            <a:off x="6565106" y="2324100"/>
            <a:ext cx="5127625" cy="587366"/>
          </a:xfrm>
          <a:custGeom>
            <a:avLst/>
            <a:gdLst/>
            <a:ahLst/>
            <a:cxnLst/>
            <a:rect l="l" t="t" r="r" b="b"/>
            <a:pathLst>
              <a:path w="5127625" h="587366">
                <a:moveTo>
                  <a:pt x="79374" y="0"/>
                </a:moveTo>
                <a:lnTo>
                  <a:pt x="5048251" y="0"/>
                </a:lnTo>
                <a:cubicBezTo>
                  <a:pt x="5092088" y="0"/>
                  <a:pt x="5127625" y="29219"/>
                  <a:pt x="5127625" y="65262"/>
                </a:cubicBezTo>
                <a:lnTo>
                  <a:pt x="5127625" y="522104"/>
                </a:lnTo>
                <a:cubicBezTo>
                  <a:pt x="5127625" y="558147"/>
                  <a:pt x="5092088" y="587366"/>
                  <a:pt x="5048251" y="587366"/>
                </a:cubicBezTo>
                <a:lnTo>
                  <a:pt x="79374" y="587366"/>
                </a:lnTo>
                <a:cubicBezTo>
                  <a:pt x="35537" y="587366"/>
                  <a:pt x="0" y="558147"/>
                  <a:pt x="0" y="522104"/>
                </a:cubicBezTo>
                <a:lnTo>
                  <a:pt x="0" y="65262"/>
                </a:lnTo>
                <a:cubicBezTo>
                  <a:pt x="0" y="29243"/>
                  <a:pt x="35566" y="0"/>
                  <a:pt x="79374"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6" name="Shape 34"/>
          <p:cNvSpPr/>
          <p:nvPr/>
        </p:nvSpPr>
        <p:spPr>
          <a:xfrm>
            <a:off x="6723856" y="2432050"/>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47811" y="91653"/>
                </a:moveTo>
                <a:cubicBezTo>
                  <a:pt x="50478" y="88522"/>
                  <a:pt x="50136" y="83840"/>
                  <a:pt x="47005" y="81173"/>
                </a:cubicBezTo>
                <a:cubicBezTo>
                  <a:pt x="43873" y="78507"/>
                  <a:pt x="39191" y="78848"/>
                  <a:pt x="36525" y="81979"/>
                </a:cubicBezTo>
                <a:lnTo>
                  <a:pt x="21642" y="99343"/>
                </a:lnTo>
                <a:cubicBezTo>
                  <a:pt x="19255" y="102133"/>
                  <a:pt x="19255" y="106226"/>
                  <a:pt x="21642" y="109017"/>
                </a:cubicBezTo>
                <a:lnTo>
                  <a:pt x="36525" y="126380"/>
                </a:lnTo>
                <a:cubicBezTo>
                  <a:pt x="39191" y="129511"/>
                  <a:pt x="43904" y="129853"/>
                  <a:pt x="47005" y="127186"/>
                </a:cubicBezTo>
                <a:cubicBezTo>
                  <a:pt x="50105" y="124520"/>
                  <a:pt x="50478" y="119807"/>
                  <a:pt x="47811" y="116706"/>
                </a:cubicBezTo>
                <a:lnTo>
                  <a:pt x="37083" y="104180"/>
                </a:lnTo>
                <a:lnTo>
                  <a:pt x="47811" y="91653"/>
                </a:lnTo>
                <a:close/>
                <a:moveTo>
                  <a:pt x="82538" y="81979"/>
                </a:moveTo>
                <a:cubicBezTo>
                  <a:pt x="79871" y="78848"/>
                  <a:pt x="75158" y="78507"/>
                  <a:pt x="72058" y="81173"/>
                </a:cubicBezTo>
                <a:cubicBezTo>
                  <a:pt x="68957" y="83840"/>
                  <a:pt x="68585" y="88553"/>
                  <a:pt x="71251" y="91653"/>
                </a:cubicBezTo>
                <a:lnTo>
                  <a:pt x="81979" y="104180"/>
                </a:lnTo>
                <a:lnTo>
                  <a:pt x="71251" y="116706"/>
                </a:lnTo>
                <a:cubicBezTo>
                  <a:pt x="68585" y="119838"/>
                  <a:pt x="68926" y="124520"/>
                  <a:pt x="72058" y="127186"/>
                </a:cubicBezTo>
                <a:cubicBezTo>
                  <a:pt x="75189" y="129853"/>
                  <a:pt x="79871" y="129511"/>
                  <a:pt x="82538" y="126380"/>
                </a:cubicBezTo>
                <a:lnTo>
                  <a:pt x="97420" y="109017"/>
                </a:lnTo>
                <a:cubicBezTo>
                  <a:pt x="99808" y="106226"/>
                  <a:pt x="99808" y="102133"/>
                  <a:pt x="97420" y="99343"/>
                </a:cubicBezTo>
                <a:lnTo>
                  <a:pt x="82538" y="81979"/>
                </a:lnTo>
                <a:close/>
              </a:path>
            </a:pathLst>
          </a:custGeom>
          <a:solidFill>
            <a:srgbClr val="2B7FFF"/>
          </a:solidFill>
          <a:ln/>
        </p:spPr>
      </p:sp>
      <p:sp>
        <p:nvSpPr>
          <p:cNvPr id="37" name="Text 35"/>
          <p:cNvSpPr/>
          <p:nvPr/>
        </p:nvSpPr>
        <p:spPr>
          <a:xfrm>
            <a:off x="6961981" y="2366963"/>
            <a:ext cx="1484313"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vscode/settings.json</a:t>
            </a:r>
            <a:endParaRPr lang="en-US" sz="1600" dirty="0"/>
          </a:p>
        </p:txBody>
      </p:sp>
      <p:sp>
        <p:nvSpPr>
          <p:cNvPr id="38" name="Text 36"/>
          <p:cNvSpPr/>
          <p:nvPr/>
        </p:nvSpPr>
        <p:spPr>
          <a:xfrm>
            <a:off x="6922294" y="2581275"/>
            <a:ext cx="4720828"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Editor configuration</a:t>
            </a:r>
            <a:endParaRPr lang="en-US" sz="1600" dirty="0"/>
          </a:p>
        </p:txBody>
      </p:sp>
      <p:sp>
        <p:nvSpPr>
          <p:cNvPr id="39" name="Shape 37"/>
          <p:cNvSpPr/>
          <p:nvPr/>
        </p:nvSpPr>
        <p:spPr>
          <a:xfrm>
            <a:off x="6577806" y="2990850"/>
            <a:ext cx="5127625" cy="561971"/>
          </a:xfrm>
          <a:custGeom>
            <a:avLst/>
            <a:gdLst/>
            <a:ahLst/>
            <a:cxnLst/>
            <a:rect l="l" t="t" r="r" b="b"/>
            <a:pathLst>
              <a:path w="5127625" h="561971">
                <a:moveTo>
                  <a:pt x="79374" y="0"/>
                </a:moveTo>
                <a:lnTo>
                  <a:pt x="5048251" y="0"/>
                </a:lnTo>
                <a:cubicBezTo>
                  <a:pt x="5092088" y="0"/>
                  <a:pt x="5127625" y="27956"/>
                  <a:pt x="5127625" y="62441"/>
                </a:cubicBezTo>
                <a:lnTo>
                  <a:pt x="5127625" y="499531"/>
                </a:lnTo>
                <a:cubicBezTo>
                  <a:pt x="5127625" y="534016"/>
                  <a:pt x="5092088" y="561971"/>
                  <a:pt x="5048251" y="561971"/>
                </a:cubicBezTo>
                <a:lnTo>
                  <a:pt x="79374" y="561971"/>
                </a:lnTo>
                <a:cubicBezTo>
                  <a:pt x="35537" y="561971"/>
                  <a:pt x="0" y="534016"/>
                  <a:pt x="0" y="499531"/>
                </a:cubicBezTo>
                <a:lnTo>
                  <a:pt x="0" y="62441"/>
                </a:lnTo>
                <a:cubicBezTo>
                  <a:pt x="0" y="27979"/>
                  <a:pt x="35566" y="0"/>
                  <a:pt x="79374"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40" name="Shape 38"/>
          <p:cNvSpPr/>
          <p:nvPr/>
        </p:nvSpPr>
        <p:spPr>
          <a:xfrm>
            <a:off x="6736556" y="3111500"/>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37207" y="79375"/>
                </a:moveTo>
                <a:cubicBezTo>
                  <a:pt x="33083" y="79375"/>
                  <a:pt x="29766" y="82693"/>
                  <a:pt x="29766" y="86816"/>
                </a:cubicBezTo>
                <a:cubicBezTo>
                  <a:pt x="29766" y="90940"/>
                  <a:pt x="33083" y="94258"/>
                  <a:pt x="37207" y="94258"/>
                </a:cubicBezTo>
                <a:lnTo>
                  <a:pt x="81855" y="94258"/>
                </a:lnTo>
                <a:cubicBezTo>
                  <a:pt x="85979" y="94258"/>
                  <a:pt x="89297" y="90940"/>
                  <a:pt x="89297" y="86816"/>
                </a:cubicBezTo>
                <a:cubicBezTo>
                  <a:pt x="89297" y="82693"/>
                  <a:pt x="85979" y="79375"/>
                  <a:pt x="81855" y="79375"/>
                </a:cubicBezTo>
                <a:lnTo>
                  <a:pt x="37207" y="79375"/>
                </a:lnTo>
                <a:close/>
                <a:moveTo>
                  <a:pt x="37207" y="109141"/>
                </a:moveTo>
                <a:cubicBezTo>
                  <a:pt x="33083" y="109141"/>
                  <a:pt x="29766" y="112458"/>
                  <a:pt x="29766" y="116582"/>
                </a:cubicBezTo>
                <a:cubicBezTo>
                  <a:pt x="29766" y="120706"/>
                  <a:pt x="33083" y="124023"/>
                  <a:pt x="37207" y="124023"/>
                </a:cubicBezTo>
                <a:lnTo>
                  <a:pt x="81855" y="124023"/>
                </a:lnTo>
                <a:cubicBezTo>
                  <a:pt x="85979" y="124023"/>
                  <a:pt x="89297" y="120706"/>
                  <a:pt x="89297" y="116582"/>
                </a:cubicBezTo>
                <a:cubicBezTo>
                  <a:pt x="89297" y="112458"/>
                  <a:pt x="85979" y="109141"/>
                  <a:pt x="81855" y="109141"/>
                </a:cubicBezTo>
                <a:lnTo>
                  <a:pt x="37207" y="109141"/>
                </a:lnTo>
                <a:close/>
              </a:path>
            </a:pathLst>
          </a:custGeom>
          <a:solidFill>
            <a:srgbClr val="FF6900"/>
          </a:solidFill>
          <a:ln/>
        </p:spPr>
      </p:sp>
      <p:sp>
        <p:nvSpPr>
          <p:cNvPr id="41" name="Text 39"/>
          <p:cNvSpPr/>
          <p:nvPr/>
        </p:nvSpPr>
        <p:spPr>
          <a:xfrm>
            <a:off x="6974681" y="3021013"/>
            <a:ext cx="1317625"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packages/npm.txt</a:t>
            </a:r>
            <a:endParaRPr lang="en-US" sz="1600" dirty="0"/>
          </a:p>
        </p:txBody>
      </p:sp>
      <p:sp>
        <p:nvSpPr>
          <p:cNvPr id="42" name="Text 40"/>
          <p:cNvSpPr/>
          <p:nvPr/>
        </p:nvSpPr>
        <p:spPr>
          <a:xfrm>
            <a:off x="6934994" y="3222625"/>
            <a:ext cx="4368032"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Package lists</a:t>
            </a:r>
            <a:endParaRPr lang="en-US" sz="1600" dirty="0"/>
          </a:p>
        </p:txBody>
      </p:sp>
      <p:sp>
        <p:nvSpPr>
          <p:cNvPr id="43" name="Shape 41"/>
          <p:cNvSpPr/>
          <p:nvPr/>
        </p:nvSpPr>
        <p:spPr>
          <a:xfrm>
            <a:off x="6590506" y="3632200"/>
            <a:ext cx="5127625" cy="559145"/>
          </a:xfrm>
          <a:custGeom>
            <a:avLst/>
            <a:gdLst/>
            <a:ahLst/>
            <a:cxnLst/>
            <a:rect l="l" t="t" r="r" b="b"/>
            <a:pathLst>
              <a:path w="5127625" h="559145">
                <a:moveTo>
                  <a:pt x="79374" y="0"/>
                </a:moveTo>
                <a:lnTo>
                  <a:pt x="5048251" y="0"/>
                </a:lnTo>
                <a:cubicBezTo>
                  <a:pt x="5092088" y="0"/>
                  <a:pt x="5127625" y="27815"/>
                  <a:pt x="5127625" y="62127"/>
                </a:cubicBezTo>
                <a:lnTo>
                  <a:pt x="5127625" y="497018"/>
                </a:lnTo>
                <a:cubicBezTo>
                  <a:pt x="5127625" y="531330"/>
                  <a:pt x="5092088" y="559145"/>
                  <a:pt x="5048251" y="559145"/>
                </a:cubicBezTo>
                <a:lnTo>
                  <a:pt x="79374" y="559145"/>
                </a:lnTo>
                <a:cubicBezTo>
                  <a:pt x="35537" y="559145"/>
                  <a:pt x="0" y="531330"/>
                  <a:pt x="0" y="497018"/>
                </a:cubicBezTo>
                <a:lnTo>
                  <a:pt x="0" y="62127"/>
                </a:lnTo>
                <a:cubicBezTo>
                  <a:pt x="0" y="27838"/>
                  <a:pt x="35566" y="0"/>
                  <a:pt x="79374"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44" name="Shape 42"/>
          <p:cNvSpPr/>
          <p:nvPr/>
        </p:nvSpPr>
        <p:spPr>
          <a:xfrm>
            <a:off x="6729413" y="3765550"/>
            <a:ext cx="158750" cy="158750"/>
          </a:xfrm>
          <a:custGeom>
            <a:avLst/>
            <a:gdLst/>
            <a:ahLst/>
            <a:cxnLst/>
            <a:rect l="l" t="t" r="r" b="b"/>
            <a:pathLst>
              <a:path w="158750" h="158750">
                <a:moveTo>
                  <a:pt x="12402" y="14883"/>
                </a:moveTo>
                <a:cubicBezTo>
                  <a:pt x="8279" y="14883"/>
                  <a:pt x="4961" y="18200"/>
                  <a:pt x="4961" y="22324"/>
                </a:cubicBezTo>
                <a:lnTo>
                  <a:pt x="4961" y="37207"/>
                </a:lnTo>
                <a:cubicBezTo>
                  <a:pt x="4961" y="41331"/>
                  <a:pt x="8279" y="44648"/>
                  <a:pt x="12402" y="44648"/>
                </a:cubicBezTo>
                <a:lnTo>
                  <a:pt x="27285" y="44648"/>
                </a:lnTo>
                <a:cubicBezTo>
                  <a:pt x="31409" y="44648"/>
                  <a:pt x="34727" y="41331"/>
                  <a:pt x="34727" y="37207"/>
                </a:cubicBezTo>
                <a:lnTo>
                  <a:pt x="34727" y="22324"/>
                </a:lnTo>
                <a:cubicBezTo>
                  <a:pt x="34727" y="18200"/>
                  <a:pt x="31409" y="14883"/>
                  <a:pt x="27285" y="14883"/>
                </a:cubicBezTo>
                <a:lnTo>
                  <a:pt x="12402" y="14883"/>
                </a:lnTo>
                <a:close/>
                <a:moveTo>
                  <a:pt x="59531" y="19844"/>
                </a:moveTo>
                <a:cubicBezTo>
                  <a:pt x="54043" y="19844"/>
                  <a:pt x="49609" y="24278"/>
                  <a:pt x="49609" y="29766"/>
                </a:cubicBezTo>
                <a:cubicBezTo>
                  <a:pt x="49609" y="35254"/>
                  <a:pt x="54043" y="39688"/>
                  <a:pt x="59531" y="39688"/>
                </a:cubicBezTo>
                <a:lnTo>
                  <a:pt x="148828" y="39688"/>
                </a:lnTo>
                <a:cubicBezTo>
                  <a:pt x="154316" y="39688"/>
                  <a:pt x="158750" y="35254"/>
                  <a:pt x="158750" y="29766"/>
                </a:cubicBezTo>
                <a:cubicBezTo>
                  <a:pt x="158750" y="24278"/>
                  <a:pt x="154316" y="19844"/>
                  <a:pt x="148828" y="19844"/>
                </a:cubicBezTo>
                <a:lnTo>
                  <a:pt x="59531" y="19844"/>
                </a:lnTo>
                <a:close/>
                <a:moveTo>
                  <a:pt x="59531" y="69453"/>
                </a:moveTo>
                <a:cubicBezTo>
                  <a:pt x="54043" y="69453"/>
                  <a:pt x="49609" y="73887"/>
                  <a:pt x="49609" y="79375"/>
                </a:cubicBezTo>
                <a:cubicBezTo>
                  <a:pt x="49609" y="84863"/>
                  <a:pt x="54043" y="89297"/>
                  <a:pt x="59531" y="89297"/>
                </a:cubicBezTo>
                <a:lnTo>
                  <a:pt x="148828" y="89297"/>
                </a:lnTo>
                <a:cubicBezTo>
                  <a:pt x="154316" y="89297"/>
                  <a:pt x="158750" y="84863"/>
                  <a:pt x="158750" y="79375"/>
                </a:cubicBezTo>
                <a:cubicBezTo>
                  <a:pt x="158750" y="73887"/>
                  <a:pt x="154316" y="69453"/>
                  <a:pt x="148828" y="69453"/>
                </a:cubicBezTo>
                <a:lnTo>
                  <a:pt x="59531" y="69453"/>
                </a:lnTo>
                <a:close/>
                <a:moveTo>
                  <a:pt x="59531" y="119062"/>
                </a:moveTo>
                <a:cubicBezTo>
                  <a:pt x="54043" y="119062"/>
                  <a:pt x="49609" y="123496"/>
                  <a:pt x="49609" y="128984"/>
                </a:cubicBezTo>
                <a:cubicBezTo>
                  <a:pt x="49609" y="134472"/>
                  <a:pt x="54043" y="138906"/>
                  <a:pt x="59531" y="138906"/>
                </a:cubicBezTo>
                <a:lnTo>
                  <a:pt x="148828" y="138906"/>
                </a:lnTo>
                <a:cubicBezTo>
                  <a:pt x="154316" y="138906"/>
                  <a:pt x="158750" y="134472"/>
                  <a:pt x="158750" y="128984"/>
                </a:cubicBezTo>
                <a:cubicBezTo>
                  <a:pt x="158750" y="123496"/>
                  <a:pt x="154316" y="119062"/>
                  <a:pt x="148828" y="119062"/>
                </a:cubicBezTo>
                <a:lnTo>
                  <a:pt x="59531" y="119062"/>
                </a:lnTo>
                <a:close/>
                <a:moveTo>
                  <a:pt x="4961" y="71934"/>
                </a:moveTo>
                <a:lnTo>
                  <a:pt x="4961" y="86816"/>
                </a:lnTo>
                <a:cubicBezTo>
                  <a:pt x="4961" y="90940"/>
                  <a:pt x="8279" y="94258"/>
                  <a:pt x="12402" y="94258"/>
                </a:cubicBezTo>
                <a:lnTo>
                  <a:pt x="27285" y="94258"/>
                </a:lnTo>
                <a:cubicBezTo>
                  <a:pt x="31409" y="94258"/>
                  <a:pt x="34727" y="90940"/>
                  <a:pt x="34727" y="86816"/>
                </a:cubicBezTo>
                <a:lnTo>
                  <a:pt x="34727" y="71934"/>
                </a:lnTo>
                <a:cubicBezTo>
                  <a:pt x="34727" y="67810"/>
                  <a:pt x="31409" y="64492"/>
                  <a:pt x="27285" y="64492"/>
                </a:cubicBezTo>
                <a:lnTo>
                  <a:pt x="12402" y="64492"/>
                </a:lnTo>
                <a:cubicBezTo>
                  <a:pt x="8279" y="64492"/>
                  <a:pt x="4961" y="67810"/>
                  <a:pt x="4961" y="71934"/>
                </a:cubicBezTo>
                <a:close/>
                <a:moveTo>
                  <a:pt x="12402" y="114102"/>
                </a:moveTo>
                <a:cubicBezTo>
                  <a:pt x="8279" y="114102"/>
                  <a:pt x="4961" y="117419"/>
                  <a:pt x="4961" y="121543"/>
                </a:cubicBezTo>
                <a:lnTo>
                  <a:pt x="4961" y="136426"/>
                </a:lnTo>
                <a:cubicBezTo>
                  <a:pt x="4961" y="140550"/>
                  <a:pt x="8279" y="143867"/>
                  <a:pt x="12402" y="143867"/>
                </a:cubicBezTo>
                <a:lnTo>
                  <a:pt x="27285" y="143867"/>
                </a:lnTo>
                <a:cubicBezTo>
                  <a:pt x="31409" y="143867"/>
                  <a:pt x="34727" y="140550"/>
                  <a:pt x="34727" y="136426"/>
                </a:cubicBezTo>
                <a:lnTo>
                  <a:pt x="34727" y="121543"/>
                </a:lnTo>
                <a:cubicBezTo>
                  <a:pt x="34727" y="117419"/>
                  <a:pt x="31409" y="114102"/>
                  <a:pt x="27285" y="114102"/>
                </a:cubicBezTo>
                <a:lnTo>
                  <a:pt x="12402" y="114102"/>
                </a:lnTo>
                <a:close/>
              </a:path>
            </a:pathLst>
          </a:custGeom>
          <a:solidFill>
            <a:srgbClr val="AD46FF"/>
          </a:solidFill>
          <a:ln/>
        </p:spPr>
      </p:sp>
      <p:sp>
        <p:nvSpPr>
          <p:cNvPr id="45" name="Text 43"/>
          <p:cNvSpPr/>
          <p:nvPr/>
        </p:nvSpPr>
        <p:spPr>
          <a:xfrm>
            <a:off x="7000081" y="3675063"/>
            <a:ext cx="1031875"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extensions.txt</a:t>
            </a:r>
            <a:endParaRPr lang="en-US" sz="1600" dirty="0"/>
          </a:p>
        </p:txBody>
      </p:sp>
      <p:sp>
        <p:nvSpPr>
          <p:cNvPr id="46" name="Text 44"/>
          <p:cNvSpPr/>
          <p:nvPr/>
        </p:nvSpPr>
        <p:spPr>
          <a:xfrm>
            <a:off x="6960394" y="3889375"/>
            <a:ext cx="4480927"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VS Code extensions</a:t>
            </a:r>
            <a:endParaRPr lang="en-US" sz="1600" dirty="0"/>
          </a:p>
        </p:txBody>
      </p:sp>
      <p:sp>
        <p:nvSpPr>
          <p:cNvPr id="47" name="Shape 45"/>
          <p:cNvSpPr/>
          <p:nvPr/>
        </p:nvSpPr>
        <p:spPr>
          <a:xfrm>
            <a:off x="317500" y="4622253"/>
            <a:ext cx="11557000" cy="1754572"/>
          </a:xfrm>
          <a:custGeom>
            <a:avLst/>
            <a:gdLst/>
            <a:ahLst/>
            <a:cxnLst/>
            <a:rect l="l" t="t" r="r" b="b"/>
            <a:pathLst>
              <a:path w="11557000" h="1754572">
                <a:moveTo>
                  <a:pt x="79382" y="0"/>
                </a:moveTo>
                <a:lnTo>
                  <a:pt x="11477618" y="0"/>
                </a:lnTo>
                <a:cubicBezTo>
                  <a:pt x="11521459" y="0"/>
                  <a:pt x="11557000" y="32066"/>
                  <a:pt x="11557000" y="71622"/>
                </a:cubicBezTo>
                <a:lnTo>
                  <a:pt x="11557000" y="1682950"/>
                </a:lnTo>
                <a:cubicBezTo>
                  <a:pt x="11557000" y="1722506"/>
                  <a:pt x="11521459" y="1754572"/>
                  <a:pt x="11477618" y="1754572"/>
                </a:cubicBezTo>
                <a:lnTo>
                  <a:pt x="79382" y="1754572"/>
                </a:lnTo>
                <a:cubicBezTo>
                  <a:pt x="35541" y="1754572"/>
                  <a:pt x="0" y="1722506"/>
                  <a:pt x="0" y="1682950"/>
                </a:cubicBezTo>
                <a:lnTo>
                  <a:pt x="0" y="71622"/>
                </a:lnTo>
                <a:cubicBezTo>
                  <a:pt x="0" y="32093"/>
                  <a:pt x="35570" y="0"/>
                  <a:pt x="79382" y="0"/>
                </a:cubicBezTo>
                <a:close/>
              </a:path>
            </a:pathLst>
          </a:custGeom>
          <a:gradFill rotWithShape="1" flip="none">
            <a:gsLst>
              <a:gs pos="0">
                <a:srgbClr val="FAF5FF"/>
              </a:gs>
              <a:gs pos="100000">
                <a:srgbClr val="F3E8FF"/>
              </a:gs>
            </a:gsLst>
            <a:lin ang="2700000" scaled="1"/>
          </a:gradFill>
          <a:ln/>
        </p:spPr>
      </p:sp>
      <p:sp>
        <p:nvSpPr>
          <p:cNvPr id="48" name="Shape 46"/>
          <p:cNvSpPr/>
          <p:nvPr/>
        </p:nvSpPr>
        <p:spPr>
          <a:xfrm>
            <a:off x="515938" y="47259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AD46FF"/>
          </a:solidFill>
          <a:ln/>
        </p:spPr>
      </p:sp>
      <p:sp>
        <p:nvSpPr>
          <p:cNvPr id="49" name="Shape 47"/>
          <p:cNvSpPr/>
          <p:nvPr/>
        </p:nvSpPr>
        <p:spPr>
          <a:xfrm>
            <a:off x="653852" y="4864894"/>
            <a:ext cx="198438" cy="198438"/>
          </a:xfrm>
          <a:custGeom>
            <a:avLst/>
            <a:gdLst/>
            <a:ahLst/>
            <a:cxnLst/>
            <a:rect l="l" t="t" r="r" b="b"/>
            <a:pathLst>
              <a:path w="198438" h="198438">
                <a:moveTo>
                  <a:pt x="169253" y="28952"/>
                </a:moveTo>
                <a:lnTo>
                  <a:pt x="173633" y="33099"/>
                </a:lnTo>
                <a:lnTo>
                  <a:pt x="173633" y="12402"/>
                </a:lnTo>
                <a:cubicBezTo>
                  <a:pt x="173633" y="5542"/>
                  <a:pt x="179175" y="0"/>
                  <a:pt x="186035" y="0"/>
                </a:cubicBezTo>
                <a:cubicBezTo>
                  <a:pt x="192895" y="0"/>
                  <a:pt x="198437" y="5542"/>
                  <a:pt x="198437" y="12402"/>
                </a:cubicBezTo>
                <a:lnTo>
                  <a:pt x="198437" y="62012"/>
                </a:lnTo>
                <a:cubicBezTo>
                  <a:pt x="198437" y="68872"/>
                  <a:pt x="192895" y="74414"/>
                  <a:pt x="186035" y="74414"/>
                </a:cubicBezTo>
                <a:lnTo>
                  <a:pt x="136426" y="74414"/>
                </a:lnTo>
                <a:cubicBezTo>
                  <a:pt x="129566" y="74414"/>
                  <a:pt x="124023" y="68872"/>
                  <a:pt x="124023" y="62012"/>
                </a:cubicBezTo>
                <a:cubicBezTo>
                  <a:pt x="124023" y="55152"/>
                  <a:pt x="129566" y="49609"/>
                  <a:pt x="136426" y="49609"/>
                </a:cubicBezTo>
                <a:lnTo>
                  <a:pt x="154991" y="49609"/>
                </a:lnTo>
                <a:lnTo>
                  <a:pt x="152045" y="46819"/>
                </a:lnTo>
                <a:cubicBezTo>
                  <a:pt x="151967" y="46741"/>
                  <a:pt x="151890" y="46664"/>
                  <a:pt x="151812" y="46586"/>
                </a:cubicBezTo>
                <a:cubicBezTo>
                  <a:pt x="122744" y="17518"/>
                  <a:pt x="75654" y="17518"/>
                  <a:pt x="46586" y="46586"/>
                </a:cubicBezTo>
                <a:cubicBezTo>
                  <a:pt x="17518" y="75654"/>
                  <a:pt x="17518" y="122744"/>
                  <a:pt x="46586" y="151812"/>
                </a:cubicBezTo>
                <a:cubicBezTo>
                  <a:pt x="75654" y="180880"/>
                  <a:pt x="122744" y="180880"/>
                  <a:pt x="151812" y="151812"/>
                </a:cubicBezTo>
                <a:cubicBezTo>
                  <a:pt x="154991" y="148634"/>
                  <a:pt x="157820" y="145262"/>
                  <a:pt x="160300" y="141697"/>
                </a:cubicBezTo>
                <a:cubicBezTo>
                  <a:pt x="164215" y="136077"/>
                  <a:pt x="171966" y="134720"/>
                  <a:pt x="177586" y="138635"/>
                </a:cubicBezTo>
                <a:cubicBezTo>
                  <a:pt x="183206" y="142549"/>
                  <a:pt x="184562" y="150301"/>
                  <a:pt x="180648" y="155921"/>
                </a:cubicBezTo>
                <a:cubicBezTo>
                  <a:pt x="177354" y="160649"/>
                  <a:pt x="173594" y="165145"/>
                  <a:pt x="169370" y="169370"/>
                </a:cubicBezTo>
                <a:cubicBezTo>
                  <a:pt x="130612" y="208127"/>
                  <a:pt x="67787" y="208127"/>
                  <a:pt x="29068" y="169370"/>
                </a:cubicBezTo>
                <a:cubicBezTo>
                  <a:pt x="-9651" y="130612"/>
                  <a:pt x="-9689" y="67825"/>
                  <a:pt x="29068" y="29068"/>
                </a:cubicBezTo>
                <a:cubicBezTo>
                  <a:pt x="67787" y="-9651"/>
                  <a:pt x="130496" y="-9689"/>
                  <a:pt x="169253" y="28952"/>
                </a:cubicBezTo>
                <a:close/>
              </a:path>
            </a:pathLst>
          </a:custGeom>
          <a:solidFill>
            <a:srgbClr val="FFFFFF"/>
          </a:solidFill>
          <a:ln/>
        </p:spPr>
      </p:sp>
      <p:sp>
        <p:nvSpPr>
          <p:cNvPr id="50" name="Text 48"/>
          <p:cNvSpPr/>
          <p:nvPr/>
        </p:nvSpPr>
        <p:spPr>
          <a:xfrm>
            <a:off x="1111250" y="4825206"/>
            <a:ext cx="1647031"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Restore Sequence</a:t>
            </a:r>
            <a:endParaRPr lang="en-US" sz="1600" dirty="0"/>
          </a:p>
        </p:txBody>
      </p:sp>
      <p:sp>
        <p:nvSpPr>
          <p:cNvPr id="51" name="Shape 49"/>
          <p:cNvSpPr/>
          <p:nvPr/>
        </p:nvSpPr>
        <p:spPr>
          <a:xfrm>
            <a:off x="1346200" y="52847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1505694" y="5435600"/>
            <a:ext cx="156270" cy="178594"/>
          </a:xfrm>
          <a:custGeom>
            <a:avLst/>
            <a:gdLst/>
            <a:ahLst/>
            <a:cxnLst/>
            <a:rect l="l" t="t" r="r" b="b"/>
            <a:pathLst>
              <a:path w="156270" h="178594">
                <a:moveTo>
                  <a:pt x="31812" y="12871"/>
                </a:moveTo>
                <a:cubicBezTo>
                  <a:pt x="27487" y="10499"/>
                  <a:pt x="22254" y="10604"/>
                  <a:pt x="17999" y="13115"/>
                </a:cubicBezTo>
                <a:cubicBezTo>
                  <a:pt x="13743" y="15627"/>
                  <a:pt x="11162" y="20196"/>
                  <a:pt x="11162" y="25115"/>
                </a:cubicBezTo>
                <a:lnTo>
                  <a:pt x="11162" y="153479"/>
                </a:lnTo>
                <a:cubicBezTo>
                  <a:pt x="11162" y="158397"/>
                  <a:pt x="13778" y="162967"/>
                  <a:pt x="17999" y="165478"/>
                </a:cubicBezTo>
                <a:cubicBezTo>
                  <a:pt x="22220" y="167990"/>
                  <a:pt x="27487" y="168094"/>
                  <a:pt x="31812" y="165722"/>
                </a:cubicBezTo>
                <a:lnTo>
                  <a:pt x="149014" y="101540"/>
                </a:lnTo>
                <a:cubicBezTo>
                  <a:pt x="153479" y="99099"/>
                  <a:pt x="156270" y="94390"/>
                  <a:pt x="156270" y="89297"/>
                </a:cubicBezTo>
                <a:cubicBezTo>
                  <a:pt x="156270" y="84204"/>
                  <a:pt x="153479" y="79495"/>
                  <a:pt x="149014" y="77053"/>
                </a:cubicBezTo>
                <a:lnTo>
                  <a:pt x="31812" y="12871"/>
                </a:lnTo>
                <a:close/>
              </a:path>
            </a:pathLst>
          </a:custGeom>
          <a:solidFill>
            <a:srgbClr val="AD46FF"/>
          </a:solidFill>
          <a:ln/>
        </p:spPr>
      </p:sp>
      <p:sp>
        <p:nvSpPr>
          <p:cNvPr id="53" name="Text 51"/>
          <p:cNvSpPr/>
          <p:nvPr/>
        </p:nvSpPr>
        <p:spPr>
          <a:xfrm>
            <a:off x="481211" y="5738813"/>
            <a:ext cx="220464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Start</a:t>
            </a:r>
            <a:endParaRPr lang="en-US" sz="1600" dirty="0"/>
          </a:p>
        </p:txBody>
      </p:sp>
      <p:sp>
        <p:nvSpPr>
          <p:cNvPr id="54" name="Text 52"/>
          <p:cNvSpPr/>
          <p:nvPr/>
        </p:nvSpPr>
        <p:spPr>
          <a:xfrm>
            <a:off x="486172" y="5911850"/>
            <a:ext cx="219471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Run script</a:t>
            </a:r>
            <a:endParaRPr lang="en-US" sz="1600" dirty="0"/>
          </a:p>
        </p:txBody>
      </p:sp>
      <p:sp>
        <p:nvSpPr>
          <p:cNvPr id="55" name="Shape 53"/>
          <p:cNvSpPr/>
          <p:nvPr/>
        </p:nvSpPr>
        <p:spPr>
          <a:xfrm>
            <a:off x="3602038" y="52847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6" name="Shape 54"/>
          <p:cNvSpPr/>
          <p:nvPr/>
        </p:nvSpPr>
        <p:spPr>
          <a:xfrm>
            <a:off x="3728045" y="5435600"/>
            <a:ext cx="223242" cy="178594"/>
          </a:xfrm>
          <a:custGeom>
            <a:avLst/>
            <a:gdLst/>
            <a:ahLst/>
            <a:cxnLst/>
            <a:rect l="l" t="t" r="r" b="b"/>
            <a:pathLst>
              <a:path w="223242" h="178594">
                <a:moveTo>
                  <a:pt x="145073" y="73426"/>
                </a:moveTo>
                <a:cubicBezTo>
                  <a:pt x="149328" y="72275"/>
                  <a:pt x="153793" y="74298"/>
                  <a:pt x="155711" y="78239"/>
                </a:cubicBezTo>
                <a:lnTo>
                  <a:pt x="162199" y="91355"/>
                </a:lnTo>
                <a:cubicBezTo>
                  <a:pt x="165792" y="91843"/>
                  <a:pt x="169315" y="92820"/>
                  <a:pt x="172629" y="94180"/>
                </a:cubicBezTo>
                <a:lnTo>
                  <a:pt x="184838" y="86053"/>
                </a:lnTo>
                <a:cubicBezTo>
                  <a:pt x="188500" y="83611"/>
                  <a:pt x="193349" y="84100"/>
                  <a:pt x="196453" y="87204"/>
                </a:cubicBezTo>
                <a:lnTo>
                  <a:pt x="203150" y="93901"/>
                </a:lnTo>
                <a:cubicBezTo>
                  <a:pt x="206255" y="97006"/>
                  <a:pt x="206743" y="101889"/>
                  <a:pt x="204301" y="105517"/>
                </a:cubicBezTo>
                <a:lnTo>
                  <a:pt x="196174" y="117690"/>
                </a:lnTo>
                <a:cubicBezTo>
                  <a:pt x="196837" y="119330"/>
                  <a:pt x="197430" y="121039"/>
                  <a:pt x="197918" y="122818"/>
                </a:cubicBezTo>
                <a:cubicBezTo>
                  <a:pt x="198406" y="124597"/>
                  <a:pt x="198720" y="126341"/>
                  <a:pt x="198965" y="128120"/>
                </a:cubicBezTo>
                <a:lnTo>
                  <a:pt x="212115" y="134608"/>
                </a:lnTo>
                <a:cubicBezTo>
                  <a:pt x="216057" y="136561"/>
                  <a:pt x="218080" y="141026"/>
                  <a:pt x="216929" y="145247"/>
                </a:cubicBezTo>
                <a:lnTo>
                  <a:pt x="214487" y="154386"/>
                </a:lnTo>
                <a:cubicBezTo>
                  <a:pt x="213336" y="158607"/>
                  <a:pt x="209394" y="161467"/>
                  <a:pt x="204999" y="161188"/>
                </a:cubicBezTo>
                <a:lnTo>
                  <a:pt x="190349" y="160246"/>
                </a:lnTo>
                <a:cubicBezTo>
                  <a:pt x="188151" y="163071"/>
                  <a:pt x="185605" y="165688"/>
                  <a:pt x="182710" y="167920"/>
                </a:cubicBezTo>
                <a:lnTo>
                  <a:pt x="183652" y="182535"/>
                </a:lnTo>
                <a:cubicBezTo>
                  <a:pt x="183931" y="186930"/>
                  <a:pt x="181070" y="190907"/>
                  <a:pt x="176850" y="192023"/>
                </a:cubicBezTo>
                <a:lnTo>
                  <a:pt x="167711" y="194465"/>
                </a:lnTo>
                <a:cubicBezTo>
                  <a:pt x="163455" y="195616"/>
                  <a:pt x="159025" y="193593"/>
                  <a:pt x="157072" y="189651"/>
                </a:cubicBezTo>
                <a:lnTo>
                  <a:pt x="150584" y="176536"/>
                </a:lnTo>
                <a:cubicBezTo>
                  <a:pt x="146991" y="176047"/>
                  <a:pt x="143468" y="175071"/>
                  <a:pt x="140154" y="173710"/>
                </a:cubicBezTo>
                <a:lnTo>
                  <a:pt x="127946" y="181838"/>
                </a:lnTo>
                <a:cubicBezTo>
                  <a:pt x="124283" y="184279"/>
                  <a:pt x="119435" y="183791"/>
                  <a:pt x="116330" y="180687"/>
                </a:cubicBezTo>
                <a:lnTo>
                  <a:pt x="109633" y="173989"/>
                </a:lnTo>
                <a:cubicBezTo>
                  <a:pt x="106528" y="170885"/>
                  <a:pt x="106040" y="166036"/>
                  <a:pt x="108482" y="162374"/>
                </a:cubicBezTo>
                <a:lnTo>
                  <a:pt x="116609" y="150165"/>
                </a:lnTo>
                <a:cubicBezTo>
                  <a:pt x="115946" y="148526"/>
                  <a:pt x="115353" y="146817"/>
                  <a:pt x="114865" y="145038"/>
                </a:cubicBezTo>
                <a:cubicBezTo>
                  <a:pt x="114377" y="143259"/>
                  <a:pt x="114063" y="141480"/>
                  <a:pt x="113819" y="139736"/>
                </a:cubicBezTo>
                <a:lnTo>
                  <a:pt x="100668" y="133248"/>
                </a:lnTo>
                <a:cubicBezTo>
                  <a:pt x="96727" y="131294"/>
                  <a:pt x="94738" y="126829"/>
                  <a:pt x="95855" y="122609"/>
                </a:cubicBezTo>
                <a:lnTo>
                  <a:pt x="98296" y="113470"/>
                </a:lnTo>
                <a:cubicBezTo>
                  <a:pt x="99447" y="109249"/>
                  <a:pt x="103389" y="106389"/>
                  <a:pt x="107784" y="106668"/>
                </a:cubicBezTo>
                <a:lnTo>
                  <a:pt x="122400" y="107610"/>
                </a:lnTo>
                <a:cubicBezTo>
                  <a:pt x="124597" y="104784"/>
                  <a:pt x="127143" y="102168"/>
                  <a:pt x="130039" y="99936"/>
                </a:cubicBezTo>
                <a:lnTo>
                  <a:pt x="129097" y="85355"/>
                </a:lnTo>
                <a:cubicBezTo>
                  <a:pt x="128818" y="80960"/>
                  <a:pt x="131678" y="76984"/>
                  <a:pt x="135899" y="75867"/>
                </a:cubicBezTo>
                <a:lnTo>
                  <a:pt x="145038" y="73426"/>
                </a:lnTo>
                <a:close/>
                <a:moveTo>
                  <a:pt x="156409" y="118597"/>
                </a:moveTo>
                <a:cubicBezTo>
                  <a:pt x="147938" y="118607"/>
                  <a:pt x="141069" y="125492"/>
                  <a:pt x="141079" y="133963"/>
                </a:cubicBezTo>
                <a:cubicBezTo>
                  <a:pt x="141088" y="142433"/>
                  <a:pt x="147973" y="149303"/>
                  <a:pt x="156444" y="149293"/>
                </a:cubicBezTo>
                <a:cubicBezTo>
                  <a:pt x="164915" y="149284"/>
                  <a:pt x="171784" y="142399"/>
                  <a:pt x="171774" y="133928"/>
                </a:cubicBezTo>
                <a:cubicBezTo>
                  <a:pt x="171765" y="125457"/>
                  <a:pt x="164880" y="118588"/>
                  <a:pt x="156409" y="118597"/>
                </a:cubicBezTo>
                <a:close/>
                <a:moveTo>
                  <a:pt x="78449" y="-15871"/>
                </a:moveTo>
                <a:lnTo>
                  <a:pt x="87588" y="-13429"/>
                </a:lnTo>
                <a:cubicBezTo>
                  <a:pt x="91808" y="-12278"/>
                  <a:pt x="94669" y="-8302"/>
                  <a:pt x="94390" y="-3942"/>
                </a:cubicBezTo>
                <a:lnTo>
                  <a:pt x="93448" y="10639"/>
                </a:lnTo>
                <a:cubicBezTo>
                  <a:pt x="96343" y="12871"/>
                  <a:pt x="98889" y="15453"/>
                  <a:pt x="101087" y="18313"/>
                </a:cubicBezTo>
                <a:lnTo>
                  <a:pt x="115737" y="17371"/>
                </a:lnTo>
                <a:cubicBezTo>
                  <a:pt x="120097" y="17092"/>
                  <a:pt x="124074" y="19952"/>
                  <a:pt x="125225" y="24173"/>
                </a:cubicBezTo>
                <a:lnTo>
                  <a:pt x="127667" y="33312"/>
                </a:lnTo>
                <a:cubicBezTo>
                  <a:pt x="128783" y="37533"/>
                  <a:pt x="126795" y="41997"/>
                  <a:pt x="122853" y="43951"/>
                </a:cubicBezTo>
                <a:lnTo>
                  <a:pt x="109703" y="50439"/>
                </a:lnTo>
                <a:cubicBezTo>
                  <a:pt x="109458" y="52218"/>
                  <a:pt x="109110" y="53997"/>
                  <a:pt x="108656" y="55741"/>
                </a:cubicBezTo>
                <a:cubicBezTo>
                  <a:pt x="108203" y="57485"/>
                  <a:pt x="107575" y="59229"/>
                  <a:pt x="106912" y="60868"/>
                </a:cubicBezTo>
                <a:lnTo>
                  <a:pt x="115039" y="73077"/>
                </a:lnTo>
                <a:cubicBezTo>
                  <a:pt x="117481" y="76740"/>
                  <a:pt x="116993" y="81588"/>
                  <a:pt x="113888" y="84693"/>
                </a:cubicBezTo>
                <a:lnTo>
                  <a:pt x="107191" y="91390"/>
                </a:lnTo>
                <a:cubicBezTo>
                  <a:pt x="104087" y="94494"/>
                  <a:pt x="99238" y="94983"/>
                  <a:pt x="95576" y="92541"/>
                </a:cubicBezTo>
                <a:lnTo>
                  <a:pt x="83367" y="84413"/>
                </a:lnTo>
                <a:cubicBezTo>
                  <a:pt x="80053" y="85774"/>
                  <a:pt x="76530" y="86751"/>
                  <a:pt x="72937" y="87239"/>
                </a:cubicBezTo>
                <a:lnTo>
                  <a:pt x="66449" y="100354"/>
                </a:lnTo>
                <a:cubicBezTo>
                  <a:pt x="64496" y="104296"/>
                  <a:pt x="60031" y="106284"/>
                  <a:pt x="55811" y="105168"/>
                </a:cubicBezTo>
                <a:lnTo>
                  <a:pt x="46672" y="102726"/>
                </a:lnTo>
                <a:cubicBezTo>
                  <a:pt x="42416" y="101575"/>
                  <a:pt x="39591" y="97599"/>
                  <a:pt x="39870" y="93238"/>
                </a:cubicBezTo>
                <a:lnTo>
                  <a:pt x="40811" y="78623"/>
                </a:lnTo>
                <a:cubicBezTo>
                  <a:pt x="37916" y="76391"/>
                  <a:pt x="35370" y="73809"/>
                  <a:pt x="33172" y="70949"/>
                </a:cubicBezTo>
                <a:lnTo>
                  <a:pt x="18522" y="71891"/>
                </a:lnTo>
                <a:cubicBezTo>
                  <a:pt x="14162" y="72170"/>
                  <a:pt x="10185" y="69310"/>
                  <a:pt x="9034" y="65089"/>
                </a:cubicBezTo>
                <a:lnTo>
                  <a:pt x="6593" y="55950"/>
                </a:lnTo>
                <a:cubicBezTo>
                  <a:pt x="5476" y="51729"/>
                  <a:pt x="7465" y="47265"/>
                  <a:pt x="11406" y="45311"/>
                </a:cubicBezTo>
                <a:lnTo>
                  <a:pt x="24557" y="38823"/>
                </a:lnTo>
                <a:cubicBezTo>
                  <a:pt x="24801" y="37044"/>
                  <a:pt x="25150" y="35300"/>
                  <a:pt x="25603" y="33521"/>
                </a:cubicBezTo>
                <a:cubicBezTo>
                  <a:pt x="26091" y="31742"/>
                  <a:pt x="26650" y="30033"/>
                  <a:pt x="27347" y="28394"/>
                </a:cubicBezTo>
                <a:lnTo>
                  <a:pt x="19220" y="16220"/>
                </a:lnTo>
                <a:cubicBezTo>
                  <a:pt x="16778" y="12557"/>
                  <a:pt x="17266" y="7709"/>
                  <a:pt x="20371" y="4604"/>
                </a:cubicBezTo>
                <a:lnTo>
                  <a:pt x="27068" y="-2093"/>
                </a:lnTo>
                <a:cubicBezTo>
                  <a:pt x="30173" y="-5197"/>
                  <a:pt x="35021" y="-5686"/>
                  <a:pt x="38684" y="-3244"/>
                </a:cubicBezTo>
                <a:lnTo>
                  <a:pt x="50892" y="4883"/>
                </a:lnTo>
                <a:cubicBezTo>
                  <a:pt x="54206" y="3523"/>
                  <a:pt x="57729" y="2546"/>
                  <a:pt x="61322" y="2058"/>
                </a:cubicBezTo>
                <a:lnTo>
                  <a:pt x="67810" y="-11057"/>
                </a:lnTo>
                <a:cubicBezTo>
                  <a:pt x="69763" y="-14999"/>
                  <a:pt x="74193" y="-16987"/>
                  <a:pt x="78449" y="-15871"/>
                </a:cubicBezTo>
                <a:close/>
                <a:moveTo>
                  <a:pt x="67112" y="29301"/>
                </a:moveTo>
                <a:cubicBezTo>
                  <a:pt x="58641" y="29301"/>
                  <a:pt x="51764" y="36178"/>
                  <a:pt x="51764" y="44648"/>
                </a:cubicBezTo>
                <a:cubicBezTo>
                  <a:pt x="51764" y="53119"/>
                  <a:pt x="58641" y="59996"/>
                  <a:pt x="67112" y="59996"/>
                </a:cubicBezTo>
                <a:cubicBezTo>
                  <a:pt x="75583" y="59996"/>
                  <a:pt x="82460" y="53119"/>
                  <a:pt x="82460" y="44648"/>
                </a:cubicBezTo>
                <a:cubicBezTo>
                  <a:pt x="82460" y="36178"/>
                  <a:pt x="75583" y="29301"/>
                  <a:pt x="67112" y="29301"/>
                </a:cubicBezTo>
                <a:close/>
              </a:path>
            </a:pathLst>
          </a:custGeom>
          <a:solidFill>
            <a:srgbClr val="AD46FF"/>
          </a:solidFill>
          <a:ln/>
        </p:spPr>
      </p:sp>
      <p:sp>
        <p:nvSpPr>
          <p:cNvPr id="57" name="Text 55"/>
          <p:cNvSpPr/>
          <p:nvPr/>
        </p:nvSpPr>
        <p:spPr>
          <a:xfrm>
            <a:off x="2737049" y="5738813"/>
            <a:ext cx="220464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Core Tools</a:t>
            </a:r>
            <a:endParaRPr lang="en-US" sz="1600" dirty="0"/>
          </a:p>
        </p:txBody>
      </p:sp>
      <p:sp>
        <p:nvSpPr>
          <p:cNvPr id="58" name="Text 56"/>
          <p:cNvSpPr/>
          <p:nvPr/>
        </p:nvSpPr>
        <p:spPr>
          <a:xfrm>
            <a:off x="2742009" y="5911850"/>
            <a:ext cx="219471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Install first</a:t>
            </a:r>
            <a:endParaRPr lang="en-US" sz="1600" dirty="0"/>
          </a:p>
        </p:txBody>
      </p:sp>
      <p:sp>
        <p:nvSpPr>
          <p:cNvPr id="59" name="Shape 57"/>
          <p:cNvSpPr/>
          <p:nvPr/>
        </p:nvSpPr>
        <p:spPr>
          <a:xfrm>
            <a:off x="5857875" y="52847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0" name="Shape 58"/>
          <p:cNvSpPr/>
          <p:nvPr/>
        </p:nvSpPr>
        <p:spPr>
          <a:xfrm>
            <a:off x="6006207" y="5435600"/>
            <a:ext cx="178594" cy="178594"/>
          </a:xfrm>
          <a:custGeom>
            <a:avLst/>
            <a:gdLst/>
            <a:ahLst/>
            <a:cxnLst/>
            <a:rect l="l" t="t" r="r" b="b"/>
            <a:pathLst>
              <a:path w="178594" h="178594">
                <a:moveTo>
                  <a:pt x="11162" y="22324"/>
                </a:moveTo>
                <a:cubicBezTo>
                  <a:pt x="4988" y="22324"/>
                  <a:pt x="0" y="27312"/>
                  <a:pt x="0" y="33486"/>
                </a:cubicBezTo>
                <a:cubicBezTo>
                  <a:pt x="0" y="39660"/>
                  <a:pt x="4988" y="44648"/>
                  <a:pt x="11162" y="44648"/>
                </a:cubicBezTo>
                <a:lnTo>
                  <a:pt x="41404" y="44648"/>
                </a:lnTo>
                <a:cubicBezTo>
                  <a:pt x="45695" y="54520"/>
                  <a:pt x="55531" y="61392"/>
                  <a:pt x="66973" y="61392"/>
                </a:cubicBezTo>
                <a:cubicBezTo>
                  <a:pt x="78414" y="61392"/>
                  <a:pt x="88250" y="54520"/>
                  <a:pt x="92541" y="44648"/>
                </a:cubicBezTo>
                <a:lnTo>
                  <a:pt x="167432" y="44648"/>
                </a:lnTo>
                <a:cubicBezTo>
                  <a:pt x="173606" y="44648"/>
                  <a:pt x="178594" y="39660"/>
                  <a:pt x="178594" y="33486"/>
                </a:cubicBezTo>
                <a:cubicBezTo>
                  <a:pt x="178594" y="27312"/>
                  <a:pt x="173606" y="22324"/>
                  <a:pt x="167432" y="22324"/>
                </a:cubicBezTo>
                <a:lnTo>
                  <a:pt x="92541" y="22324"/>
                </a:lnTo>
                <a:cubicBezTo>
                  <a:pt x="88250" y="12453"/>
                  <a:pt x="78414" y="5581"/>
                  <a:pt x="66973" y="5581"/>
                </a:cubicBezTo>
                <a:cubicBezTo>
                  <a:pt x="55531" y="5581"/>
                  <a:pt x="45695" y="12453"/>
                  <a:pt x="41404" y="22324"/>
                </a:cubicBezTo>
                <a:lnTo>
                  <a:pt x="11162" y="22324"/>
                </a:lnTo>
                <a:close/>
                <a:moveTo>
                  <a:pt x="11162" y="78135"/>
                </a:moveTo>
                <a:cubicBezTo>
                  <a:pt x="4988" y="78135"/>
                  <a:pt x="0" y="83123"/>
                  <a:pt x="0" y="89297"/>
                </a:cubicBezTo>
                <a:cubicBezTo>
                  <a:pt x="0" y="95471"/>
                  <a:pt x="4988" y="100459"/>
                  <a:pt x="11162" y="100459"/>
                </a:cubicBezTo>
                <a:lnTo>
                  <a:pt x="97215" y="100459"/>
                </a:lnTo>
                <a:cubicBezTo>
                  <a:pt x="101505" y="110330"/>
                  <a:pt x="111342" y="117202"/>
                  <a:pt x="122783" y="117202"/>
                </a:cubicBezTo>
                <a:cubicBezTo>
                  <a:pt x="134224" y="117202"/>
                  <a:pt x="144061" y="110330"/>
                  <a:pt x="148351" y="100459"/>
                </a:cubicBezTo>
                <a:lnTo>
                  <a:pt x="167432" y="100459"/>
                </a:lnTo>
                <a:cubicBezTo>
                  <a:pt x="173606" y="100459"/>
                  <a:pt x="178594" y="95471"/>
                  <a:pt x="178594" y="89297"/>
                </a:cubicBezTo>
                <a:cubicBezTo>
                  <a:pt x="178594" y="83123"/>
                  <a:pt x="173606" y="78135"/>
                  <a:pt x="167432" y="78135"/>
                </a:cubicBezTo>
                <a:lnTo>
                  <a:pt x="148351" y="78135"/>
                </a:lnTo>
                <a:cubicBezTo>
                  <a:pt x="144061" y="68263"/>
                  <a:pt x="134224" y="61392"/>
                  <a:pt x="122783" y="61392"/>
                </a:cubicBezTo>
                <a:cubicBezTo>
                  <a:pt x="111342" y="61392"/>
                  <a:pt x="101505" y="68263"/>
                  <a:pt x="97215" y="78135"/>
                </a:cubicBezTo>
                <a:lnTo>
                  <a:pt x="11162" y="78135"/>
                </a:lnTo>
                <a:close/>
                <a:moveTo>
                  <a:pt x="11162" y="133945"/>
                </a:moveTo>
                <a:cubicBezTo>
                  <a:pt x="4988" y="133945"/>
                  <a:pt x="0" y="138933"/>
                  <a:pt x="0" y="145107"/>
                </a:cubicBezTo>
                <a:cubicBezTo>
                  <a:pt x="0" y="151281"/>
                  <a:pt x="4988" y="156270"/>
                  <a:pt x="11162" y="156270"/>
                </a:cubicBezTo>
                <a:lnTo>
                  <a:pt x="30242" y="156270"/>
                </a:lnTo>
                <a:cubicBezTo>
                  <a:pt x="34533" y="166141"/>
                  <a:pt x="44369" y="173013"/>
                  <a:pt x="55811" y="173013"/>
                </a:cubicBezTo>
                <a:cubicBezTo>
                  <a:pt x="67252" y="173013"/>
                  <a:pt x="77088" y="166141"/>
                  <a:pt x="81379" y="156270"/>
                </a:cubicBezTo>
                <a:lnTo>
                  <a:pt x="167432" y="156270"/>
                </a:lnTo>
                <a:cubicBezTo>
                  <a:pt x="173606" y="156270"/>
                  <a:pt x="178594" y="151281"/>
                  <a:pt x="178594" y="145107"/>
                </a:cubicBezTo>
                <a:cubicBezTo>
                  <a:pt x="178594" y="138933"/>
                  <a:pt x="173606" y="133945"/>
                  <a:pt x="167432" y="133945"/>
                </a:cubicBezTo>
                <a:lnTo>
                  <a:pt x="81379" y="133945"/>
                </a:lnTo>
                <a:cubicBezTo>
                  <a:pt x="77088" y="124074"/>
                  <a:pt x="67252" y="117202"/>
                  <a:pt x="55811" y="117202"/>
                </a:cubicBezTo>
                <a:cubicBezTo>
                  <a:pt x="44369" y="117202"/>
                  <a:pt x="34533" y="124074"/>
                  <a:pt x="30242" y="133945"/>
                </a:cubicBezTo>
                <a:lnTo>
                  <a:pt x="11162" y="133945"/>
                </a:lnTo>
                <a:close/>
              </a:path>
            </a:pathLst>
          </a:custGeom>
          <a:solidFill>
            <a:srgbClr val="AD46FF"/>
          </a:solidFill>
          <a:ln/>
        </p:spPr>
      </p:sp>
      <p:sp>
        <p:nvSpPr>
          <p:cNvPr id="61" name="Text 59"/>
          <p:cNvSpPr/>
          <p:nvPr/>
        </p:nvSpPr>
        <p:spPr>
          <a:xfrm>
            <a:off x="4992886" y="5738813"/>
            <a:ext cx="220464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Settings</a:t>
            </a:r>
            <a:endParaRPr lang="en-US" sz="1600" dirty="0"/>
          </a:p>
        </p:txBody>
      </p:sp>
      <p:sp>
        <p:nvSpPr>
          <p:cNvPr id="62" name="Text 60"/>
          <p:cNvSpPr/>
          <p:nvPr/>
        </p:nvSpPr>
        <p:spPr>
          <a:xfrm>
            <a:off x="4997847" y="5911850"/>
            <a:ext cx="219471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Apply config</a:t>
            </a:r>
            <a:endParaRPr lang="en-US" sz="1600" dirty="0"/>
          </a:p>
        </p:txBody>
      </p:sp>
      <p:sp>
        <p:nvSpPr>
          <p:cNvPr id="63" name="Shape 61"/>
          <p:cNvSpPr/>
          <p:nvPr/>
        </p:nvSpPr>
        <p:spPr>
          <a:xfrm>
            <a:off x="8113713" y="52847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4" name="Shape 62"/>
          <p:cNvSpPr/>
          <p:nvPr/>
        </p:nvSpPr>
        <p:spPr>
          <a:xfrm>
            <a:off x="8262045" y="5435600"/>
            <a:ext cx="178594" cy="178594"/>
          </a:xfrm>
          <a:custGeom>
            <a:avLst/>
            <a:gdLst/>
            <a:ahLst/>
            <a:cxnLst/>
            <a:rect l="l" t="t" r="r" b="b"/>
            <a:pathLst>
              <a:path w="178594" h="178594">
                <a:moveTo>
                  <a:pt x="78135" y="0"/>
                </a:moveTo>
                <a:cubicBezTo>
                  <a:pt x="90448" y="0"/>
                  <a:pt x="100459" y="7500"/>
                  <a:pt x="100459" y="16743"/>
                </a:cubicBezTo>
                <a:cubicBezTo>
                  <a:pt x="100459" y="20371"/>
                  <a:pt x="98924" y="23719"/>
                  <a:pt x="96273" y="26475"/>
                </a:cubicBezTo>
                <a:cubicBezTo>
                  <a:pt x="93971" y="28882"/>
                  <a:pt x="92087" y="31812"/>
                  <a:pt x="92087" y="35161"/>
                </a:cubicBezTo>
                <a:cubicBezTo>
                  <a:pt x="92087" y="40393"/>
                  <a:pt x="96343" y="44648"/>
                  <a:pt x="101575" y="44648"/>
                </a:cubicBezTo>
                <a:lnTo>
                  <a:pt x="117202" y="44648"/>
                </a:lnTo>
                <a:cubicBezTo>
                  <a:pt x="126446" y="44648"/>
                  <a:pt x="133945" y="52148"/>
                  <a:pt x="133945" y="61392"/>
                </a:cubicBezTo>
                <a:lnTo>
                  <a:pt x="133945" y="77019"/>
                </a:lnTo>
                <a:cubicBezTo>
                  <a:pt x="133945" y="82251"/>
                  <a:pt x="138201" y="86506"/>
                  <a:pt x="143433" y="86506"/>
                </a:cubicBezTo>
                <a:cubicBezTo>
                  <a:pt x="146747" y="86506"/>
                  <a:pt x="149712" y="84623"/>
                  <a:pt x="152119" y="82321"/>
                </a:cubicBezTo>
                <a:cubicBezTo>
                  <a:pt x="154874" y="79704"/>
                  <a:pt x="158223" y="78135"/>
                  <a:pt x="161851" y="78135"/>
                </a:cubicBezTo>
                <a:cubicBezTo>
                  <a:pt x="171094" y="78135"/>
                  <a:pt x="178594" y="88146"/>
                  <a:pt x="178594" y="100459"/>
                </a:cubicBezTo>
                <a:cubicBezTo>
                  <a:pt x="178594" y="112772"/>
                  <a:pt x="171094" y="122783"/>
                  <a:pt x="161851" y="122783"/>
                </a:cubicBezTo>
                <a:cubicBezTo>
                  <a:pt x="158223" y="122783"/>
                  <a:pt x="154839" y="121248"/>
                  <a:pt x="152119" y="118597"/>
                </a:cubicBezTo>
                <a:cubicBezTo>
                  <a:pt x="149712" y="116295"/>
                  <a:pt x="146782" y="114412"/>
                  <a:pt x="143433" y="114412"/>
                </a:cubicBezTo>
                <a:cubicBezTo>
                  <a:pt x="138201" y="114412"/>
                  <a:pt x="133945" y="118667"/>
                  <a:pt x="133945" y="123899"/>
                </a:cubicBezTo>
                <a:lnTo>
                  <a:pt x="133945" y="161851"/>
                </a:lnTo>
                <a:cubicBezTo>
                  <a:pt x="133945" y="171094"/>
                  <a:pt x="126446" y="178594"/>
                  <a:pt x="117202" y="178594"/>
                </a:cubicBezTo>
                <a:lnTo>
                  <a:pt x="97389" y="178594"/>
                </a:lnTo>
                <a:cubicBezTo>
                  <a:pt x="92925" y="178594"/>
                  <a:pt x="89297" y="174966"/>
                  <a:pt x="89297" y="170501"/>
                </a:cubicBezTo>
                <a:cubicBezTo>
                  <a:pt x="89297" y="167292"/>
                  <a:pt x="91320" y="164467"/>
                  <a:pt x="93901" y="162548"/>
                </a:cubicBezTo>
                <a:cubicBezTo>
                  <a:pt x="97948" y="159514"/>
                  <a:pt x="100459" y="155328"/>
                  <a:pt x="100459" y="150688"/>
                </a:cubicBezTo>
                <a:cubicBezTo>
                  <a:pt x="100459" y="141445"/>
                  <a:pt x="90448" y="133945"/>
                  <a:pt x="78135" y="133945"/>
                </a:cubicBezTo>
                <a:cubicBezTo>
                  <a:pt x="65822" y="133945"/>
                  <a:pt x="55811" y="141445"/>
                  <a:pt x="55811" y="150688"/>
                </a:cubicBezTo>
                <a:cubicBezTo>
                  <a:pt x="55811" y="155328"/>
                  <a:pt x="58322" y="159514"/>
                  <a:pt x="62368" y="162548"/>
                </a:cubicBezTo>
                <a:cubicBezTo>
                  <a:pt x="64950" y="164467"/>
                  <a:pt x="66973" y="167257"/>
                  <a:pt x="66973" y="170501"/>
                </a:cubicBezTo>
                <a:cubicBezTo>
                  <a:pt x="66973" y="174966"/>
                  <a:pt x="63345" y="178594"/>
                  <a:pt x="58880" y="178594"/>
                </a:cubicBezTo>
                <a:lnTo>
                  <a:pt x="16743" y="178594"/>
                </a:lnTo>
                <a:cubicBezTo>
                  <a:pt x="7500" y="178594"/>
                  <a:pt x="0" y="171094"/>
                  <a:pt x="0" y="161851"/>
                </a:cubicBezTo>
                <a:lnTo>
                  <a:pt x="0" y="119714"/>
                </a:lnTo>
                <a:cubicBezTo>
                  <a:pt x="0" y="115249"/>
                  <a:pt x="3628" y="111621"/>
                  <a:pt x="8093" y="111621"/>
                </a:cubicBezTo>
                <a:cubicBezTo>
                  <a:pt x="11302" y="111621"/>
                  <a:pt x="14127" y="113644"/>
                  <a:pt x="16046" y="116225"/>
                </a:cubicBezTo>
                <a:cubicBezTo>
                  <a:pt x="19080" y="120272"/>
                  <a:pt x="23266" y="122783"/>
                  <a:pt x="27905" y="122783"/>
                </a:cubicBezTo>
                <a:cubicBezTo>
                  <a:pt x="37149" y="122783"/>
                  <a:pt x="44648" y="112772"/>
                  <a:pt x="44648" y="100459"/>
                </a:cubicBezTo>
                <a:cubicBezTo>
                  <a:pt x="44648" y="88146"/>
                  <a:pt x="37149" y="78135"/>
                  <a:pt x="27905" y="78135"/>
                </a:cubicBezTo>
                <a:cubicBezTo>
                  <a:pt x="23266" y="78135"/>
                  <a:pt x="19080" y="80646"/>
                  <a:pt x="16046" y="84693"/>
                </a:cubicBezTo>
                <a:cubicBezTo>
                  <a:pt x="14127" y="87274"/>
                  <a:pt x="11337" y="89297"/>
                  <a:pt x="8093" y="89297"/>
                </a:cubicBezTo>
                <a:cubicBezTo>
                  <a:pt x="3628" y="89297"/>
                  <a:pt x="0" y="85669"/>
                  <a:pt x="0" y="81204"/>
                </a:cubicBezTo>
                <a:lnTo>
                  <a:pt x="0" y="61392"/>
                </a:lnTo>
                <a:cubicBezTo>
                  <a:pt x="0" y="52148"/>
                  <a:pt x="7500" y="44648"/>
                  <a:pt x="16743" y="44648"/>
                </a:cubicBezTo>
                <a:lnTo>
                  <a:pt x="54694" y="44648"/>
                </a:lnTo>
                <a:cubicBezTo>
                  <a:pt x="59927" y="44648"/>
                  <a:pt x="64182" y="40393"/>
                  <a:pt x="64182" y="35161"/>
                </a:cubicBezTo>
                <a:cubicBezTo>
                  <a:pt x="64182" y="31847"/>
                  <a:pt x="62299" y="28882"/>
                  <a:pt x="59996" y="26475"/>
                </a:cubicBezTo>
                <a:cubicBezTo>
                  <a:pt x="57380" y="23719"/>
                  <a:pt x="55811" y="20371"/>
                  <a:pt x="55811" y="16743"/>
                </a:cubicBezTo>
                <a:cubicBezTo>
                  <a:pt x="55811" y="7500"/>
                  <a:pt x="65822" y="0"/>
                  <a:pt x="78135" y="0"/>
                </a:cubicBezTo>
                <a:close/>
              </a:path>
            </a:pathLst>
          </a:custGeom>
          <a:solidFill>
            <a:srgbClr val="AD46FF"/>
          </a:solidFill>
          <a:ln/>
        </p:spPr>
      </p:sp>
      <p:sp>
        <p:nvSpPr>
          <p:cNvPr id="65" name="Text 63"/>
          <p:cNvSpPr/>
          <p:nvPr/>
        </p:nvSpPr>
        <p:spPr>
          <a:xfrm>
            <a:off x="7248724" y="5738813"/>
            <a:ext cx="220464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Extensions</a:t>
            </a:r>
            <a:endParaRPr lang="en-US" sz="1600" dirty="0"/>
          </a:p>
        </p:txBody>
      </p:sp>
      <p:sp>
        <p:nvSpPr>
          <p:cNvPr id="66" name="Text 64"/>
          <p:cNvSpPr/>
          <p:nvPr/>
        </p:nvSpPr>
        <p:spPr>
          <a:xfrm>
            <a:off x="7253685" y="5911850"/>
            <a:ext cx="219471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Add plugins</a:t>
            </a:r>
            <a:endParaRPr lang="en-US" sz="1600" dirty="0"/>
          </a:p>
        </p:txBody>
      </p:sp>
      <p:sp>
        <p:nvSpPr>
          <p:cNvPr id="67" name="Shape 65"/>
          <p:cNvSpPr/>
          <p:nvPr/>
        </p:nvSpPr>
        <p:spPr>
          <a:xfrm>
            <a:off x="10369550" y="5157788"/>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8" name="Shape 66"/>
          <p:cNvSpPr/>
          <p:nvPr/>
        </p:nvSpPr>
        <p:spPr>
          <a:xfrm>
            <a:off x="10517882" y="5308600"/>
            <a:ext cx="178594" cy="178594"/>
          </a:xfrm>
          <a:custGeom>
            <a:avLst/>
            <a:gdLst/>
            <a:ahLst/>
            <a:cxnLst/>
            <a:rect l="l" t="t" r="r" b="b"/>
            <a:pathLst>
              <a:path w="178594" h="178594">
                <a:moveTo>
                  <a:pt x="78135" y="0"/>
                </a:moveTo>
                <a:lnTo>
                  <a:pt x="78135" y="22324"/>
                </a:lnTo>
                <a:cubicBezTo>
                  <a:pt x="78135" y="25394"/>
                  <a:pt x="80646" y="27905"/>
                  <a:pt x="83716" y="27905"/>
                </a:cubicBezTo>
                <a:lnTo>
                  <a:pt x="94878" y="27905"/>
                </a:lnTo>
                <a:cubicBezTo>
                  <a:pt x="97948" y="27905"/>
                  <a:pt x="100459" y="25394"/>
                  <a:pt x="100459" y="22324"/>
                </a:cubicBezTo>
                <a:lnTo>
                  <a:pt x="100459" y="0"/>
                </a:lnTo>
                <a:lnTo>
                  <a:pt x="111621" y="0"/>
                </a:lnTo>
                <a:cubicBezTo>
                  <a:pt x="123934" y="0"/>
                  <a:pt x="133945" y="10011"/>
                  <a:pt x="133945" y="22324"/>
                </a:cubicBezTo>
                <a:lnTo>
                  <a:pt x="133945" y="66973"/>
                </a:lnTo>
                <a:cubicBezTo>
                  <a:pt x="133945" y="68891"/>
                  <a:pt x="133701" y="70775"/>
                  <a:pt x="133248" y="72554"/>
                </a:cubicBezTo>
                <a:lnTo>
                  <a:pt x="45346" y="72554"/>
                </a:lnTo>
                <a:cubicBezTo>
                  <a:pt x="44893" y="70775"/>
                  <a:pt x="44648" y="68891"/>
                  <a:pt x="44648" y="66973"/>
                </a:cubicBezTo>
                <a:lnTo>
                  <a:pt x="44648" y="22324"/>
                </a:lnTo>
                <a:cubicBezTo>
                  <a:pt x="44648" y="10011"/>
                  <a:pt x="54659" y="0"/>
                  <a:pt x="66973" y="0"/>
                </a:cubicBezTo>
                <a:lnTo>
                  <a:pt x="78135" y="0"/>
                </a:lnTo>
                <a:close/>
                <a:moveTo>
                  <a:pt x="111621" y="178594"/>
                </a:moveTo>
                <a:cubicBezTo>
                  <a:pt x="107714" y="178594"/>
                  <a:pt x="104017" y="177582"/>
                  <a:pt x="100808" y="175803"/>
                </a:cubicBezTo>
                <a:cubicBezTo>
                  <a:pt x="104122" y="170048"/>
                  <a:pt x="106040" y="163385"/>
                  <a:pt x="106040" y="156270"/>
                </a:cubicBezTo>
                <a:lnTo>
                  <a:pt x="106040" y="111621"/>
                </a:lnTo>
                <a:cubicBezTo>
                  <a:pt x="106040" y="104505"/>
                  <a:pt x="104122" y="97843"/>
                  <a:pt x="100808" y="92087"/>
                </a:cubicBezTo>
                <a:cubicBezTo>
                  <a:pt x="104017" y="90308"/>
                  <a:pt x="107679" y="89297"/>
                  <a:pt x="111621" y="89297"/>
                </a:cubicBezTo>
                <a:lnTo>
                  <a:pt x="122783" y="89297"/>
                </a:lnTo>
                <a:lnTo>
                  <a:pt x="122783" y="111621"/>
                </a:lnTo>
                <a:cubicBezTo>
                  <a:pt x="122783" y="114691"/>
                  <a:pt x="125295" y="117202"/>
                  <a:pt x="128364" y="117202"/>
                </a:cubicBezTo>
                <a:lnTo>
                  <a:pt x="139526" y="117202"/>
                </a:lnTo>
                <a:cubicBezTo>
                  <a:pt x="142596" y="117202"/>
                  <a:pt x="145107" y="114691"/>
                  <a:pt x="145107" y="111621"/>
                </a:cubicBezTo>
                <a:lnTo>
                  <a:pt x="145107" y="89297"/>
                </a:lnTo>
                <a:lnTo>
                  <a:pt x="156270" y="89297"/>
                </a:lnTo>
                <a:cubicBezTo>
                  <a:pt x="168583" y="89297"/>
                  <a:pt x="178594" y="99308"/>
                  <a:pt x="178594" y="111621"/>
                </a:cubicBezTo>
                <a:lnTo>
                  <a:pt x="178594" y="156270"/>
                </a:lnTo>
                <a:cubicBezTo>
                  <a:pt x="178594" y="168583"/>
                  <a:pt x="168583" y="178594"/>
                  <a:pt x="156270" y="178594"/>
                </a:cubicBezTo>
                <a:lnTo>
                  <a:pt x="111621" y="178594"/>
                </a:lnTo>
                <a:close/>
                <a:moveTo>
                  <a:pt x="0" y="111621"/>
                </a:moveTo>
                <a:cubicBezTo>
                  <a:pt x="0" y="99308"/>
                  <a:pt x="10011" y="89297"/>
                  <a:pt x="22324" y="89297"/>
                </a:cubicBezTo>
                <a:lnTo>
                  <a:pt x="33486" y="89297"/>
                </a:lnTo>
                <a:lnTo>
                  <a:pt x="33486" y="111621"/>
                </a:lnTo>
                <a:cubicBezTo>
                  <a:pt x="33486" y="114691"/>
                  <a:pt x="35998" y="117202"/>
                  <a:pt x="39067" y="117202"/>
                </a:cubicBezTo>
                <a:lnTo>
                  <a:pt x="50229" y="117202"/>
                </a:lnTo>
                <a:cubicBezTo>
                  <a:pt x="53299" y="117202"/>
                  <a:pt x="55811" y="114691"/>
                  <a:pt x="55811" y="111621"/>
                </a:cubicBezTo>
                <a:lnTo>
                  <a:pt x="55811" y="89297"/>
                </a:lnTo>
                <a:lnTo>
                  <a:pt x="66973" y="89297"/>
                </a:lnTo>
                <a:cubicBezTo>
                  <a:pt x="79286" y="89297"/>
                  <a:pt x="89297" y="99308"/>
                  <a:pt x="89297" y="111621"/>
                </a:cubicBezTo>
                <a:lnTo>
                  <a:pt x="89297" y="156270"/>
                </a:lnTo>
                <a:cubicBezTo>
                  <a:pt x="89297" y="168583"/>
                  <a:pt x="79286" y="178594"/>
                  <a:pt x="66973" y="178594"/>
                </a:cubicBezTo>
                <a:lnTo>
                  <a:pt x="22324" y="178594"/>
                </a:lnTo>
                <a:cubicBezTo>
                  <a:pt x="10011" y="178594"/>
                  <a:pt x="0" y="168583"/>
                  <a:pt x="0" y="156270"/>
                </a:cubicBezTo>
                <a:lnTo>
                  <a:pt x="0" y="111621"/>
                </a:lnTo>
                <a:close/>
              </a:path>
            </a:pathLst>
          </a:custGeom>
          <a:solidFill>
            <a:srgbClr val="AD46FF"/>
          </a:solidFill>
          <a:ln/>
        </p:spPr>
      </p:sp>
      <p:sp>
        <p:nvSpPr>
          <p:cNvPr id="69" name="Text 67"/>
          <p:cNvSpPr/>
          <p:nvPr/>
        </p:nvSpPr>
        <p:spPr>
          <a:xfrm>
            <a:off x="9504561" y="5713413"/>
            <a:ext cx="220464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Packages</a:t>
            </a:r>
            <a:endParaRPr lang="en-US" sz="1600" dirty="0"/>
          </a:p>
        </p:txBody>
      </p:sp>
      <p:sp>
        <p:nvSpPr>
          <p:cNvPr id="70" name="Text 68"/>
          <p:cNvSpPr/>
          <p:nvPr/>
        </p:nvSpPr>
        <p:spPr>
          <a:xfrm>
            <a:off x="9509522" y="5911850"/>
            <a:ext cx="219471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Install deps</a:t>
            </a:r>
            <a:endParaRPr lang="en-US" sz="1600" dirty="0"/>
          </a:p>
        </p:txBody>
      </p:sp>
      <p:sp>
        <p:nvSpPr>
          <p:cNvPr id="71" name="Text 69"/>
          <p:cNvSpPr/>
          <p:nvPr/>
        </p:nvSpPr>
        <p:spPr>
          <a:xfrm>
            <a:off x="477838" y="3527425"/>
            <a:ext cx="386953" cy="317500"/>
          </a:xfrm>
          <a:prstGeom prst="rect">
            <a:avLst/>
          </a:prstGeom>
          <a:noFill/>
          <a:ln/>
        </p:spPr>
        <p:txBody>
          <a:bodyPr wrap="square" lIns="0" tIns="0" rIns="0" bIns="0" rtlCol="0" anchor="ctr"/>
          <a:lstStyle/>
          <a:p>
            <a:pPr algn="ctr">
              <a:lnSpc>
                <a:spcPct val="120000"/>
              </a:lnSpc>
            </a:pPr>
            <a:r>
              <a:rPr lang="en-US" sz="1094"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78928" y="1013632"/>
            <a:ext cx="2273566" cy="37893"/>
          </a:xfrm>
          <a:custGeom>
            <a:avLst/>
            <a:gdLst/>
            <a:ahLst/>
            <a:cxnLst/>
            <a:rect l="l" t="t" r="r" b="b"/>
            <a:pathLst>
              <a:path w="2273566" h="37893">
                <a:moveTo>
                  <a:pt x="0" y="0"/>
                </a:moveTo>
                <a:lnTo>
                  <a:pt x="2273566" y="0"/>
                </a:lnTo>
                <a:lnTo>
                  <a:pt x="2273566" y="37893"/>
                </a:lnTo>
                <a:lnTo>
                  <a:pt x="0" y="37893"/>
                </a:lnTo>
                <a:lnTo>
                  <a:pt x="0" y="0"/>
                </a:lnTo>
                <a:close/>
              </a:path>
            </a:pathLst>
          </a:custGeom>
          <a:solidFill>
            <a:srgbClr val="2B7FFF"/>
          </a:solidFill>
          <a:ln/>
        </p:spPr>
      </p:sp>
      <p:sp>
        <p:nvSpPr>
          <p:cNvPr id="3" name="Text 1"/>
          <p:cNvSpPr/>
          <p:nvPr/>
        </p:nvSpPr>
        <p:spPr>
          <a:xfrm>
            <a:off x="378928" y="378928"/>
            <a:ext cx="2486713" cy="615758"/>
          </a:xfrm>
          <a:prstGeom prst="rect">
            <a:avLst/>
          </a:prstGeom>
          <a:noFill/>
          <a:ln/>
        </p:spPr>
        <p:txBody>
          <a:bodyPr wrap="square" lIns="0" tIns="0" rIns="0" bIns="142098" rtlCol="0" anchor="ctr"/>
          <a:lstStyle/>
          <a:p>
            <a:pPr>
              <a:lnSpc>
                <a:spcPct val="90000"/>
              </a:lnSpc>
            </a:pPr>
            <a:r>
              <a:rPr lang="en-US" sz="3357" b="1" dirty="0">
                <a:solidFill>
                  <a:srgbClr val="1D293D"/>
                </a:solidFill>
                <a:latin typeface="Quattrocento Sans" pitchFamily="34" charset="0"/>
                <a:ea typeface="Quattrocento Sans" pitchFamily="34" charset="-122"/>
                <a:cs typeface="Quattrocento Sans" pitchFamily="34" charset="-120"/>
              </a:rPr>
              <a:t>Applications</a:t>
            </a:r>
            <a:endParaRPr lang="en-US" sz="1600" dirty="0"/>
          </a:p>
        </p:txBody>
      </p:sp>
      <p:sp>
        <p:nvSpPr>
          <p:cNvPr id="4" name="Shape 2"/>
          <p:cNvSpPr/>
          <p:nvPr/>
        </p:nvSpPr>
        <p:spPr>
          <a:xfrm>
            <a:off x="397874" y="1316774"/>
            <a:ext cx="5579711" cy="2368298"/>
          </a:xfrm>
          <a:custGeom>
            <a:avLst/>
            <a:gdLst/>
            <a:ahLst/>
            <a:cxnLst/>
            <a:rect l="l" t="t" r="r" b="b"/>
            <a:pathLst>
              <a:path w="5579711" h="2368298">
                <a:moveTo>
                  <a:pt x="37893" y="0"/>
                </a:moveTo>
                <a:lnTo>
                  <a:pt x="5484979" y="0"/>
                </a:lnTo>
                <a:cubicBezTo>
                  <a:pt x="5537298" y="0"/>
                  <a:pt x="5579711" y="42413"/>
                  <a:pt x="5579711" y="94732"/>
                </a:cubicBezTo>
                <a:lnTo>
                  <a:pt x="5579711" y="2273566"/>
                </a:lnTo>
                <a:cubicBezTo>
                  <a:pt x="5579711" y="2325885"/>
                  <a:pt x="5537298" y="2368298"/>
                  <a:pt x="5484979" y="2368298"/>
                </a:cubicBezTo>
                <a:lnTo>
                  <a:pt x="37893" y="2368298"/>
                </a:lnTo>
                <a:cubicBezTo>
                  <a:pt x="16965" y="2368298"/>
                  <a:pt x="0" y="2351333"/>
                  <a:pt x="0" y="2330406"/>
                </a:cubicBezTo>
                <a:lnTo>
                  <a:pt x="0" y="37893"/>
                </a:lnTo>
                <a:cubicBezTo>
                  <a:pt x="0" y="16965"/>
                  <a:pt x="16965" y="0"/>
                  <a:pt x="37893" y="0"/>
                </a:cubicBezTo>
                <a:close/>
              </a:path>
            </a:pathLst>
          </a:custGeom>
          <a:gradFill rotWithShape="1" flip="none">
            <a:gsLst>
              <a:gs pos="0">
                <a:srgbClr val="EFF6FF"/>
              </a:gs>
              <a:gs pos="100000">
                <a:srgbClr val="DBEAFE"/>
              </a:gs>
            </a:gsLst>
            <a:lin ang="2700000" scaled="1"/>
          </a:gradFill>
          <a:ln/>
        </p:spPr>
      </p:sp>
      <p:sp>
        <p:nvSpPr>
          <p:cNvPr id="5" name="Shape 3"/>
          <p:cNvSpPr/>
          <p:nvPr/>
        </p:nvSpPr>
        <p:spPr>
          <a:xfrm>
            <a:off x="397874" y="1316774"/>
            <a:ext cx="37893" cy="2368298"/>
          </a:xfrm>
          <a:custGeom>
            <a:avLst/>
            <a:gdLst/>
            <a:ahLst/>
            <a:cxnLst/>
            <a:rect l="l" t="t" r="r" b="b"/>
            <a:pathLst>
              <a:path w="37893" h="2368298">
                <a:moveTo>
                  <a:pt x="37893" y="0"/>
                </a:moveTo>
                <a:lnTo>
                  <a:pt x="37893" y="0"/>
                </a:lnTo>
                <a:lnTo>
                  <a:pt x="37893" y="2368298"/>
                </a:lnTo>
                <a:lnTo>
                  <a:pt x="37893" y="2368298"/>
                </a:lnTo>
                <a:cubicBezTo>
                  <a:pt x="16965" y="2368298"/>
                  <a:pt x="0" y="2351333"/>
                  <a:pt x="0" y="2330406"/>
                </a:cubicBezTo>
                <a:lnTo>
                  <a:pt x="0" y="37893"/>
                </a:lnTo>
                <a:cubicBezTo>
                  <a:pt x="0" y="16965"/>
                  <a:pt x="16965" y="0"/>
                  <a:pt x="37893" y="0"/>
                </a:cubicBezTo>
                <a:close/>
              </a:path>
            </a:pathLst>
          </a:custGeom>
          <a:solidFill>
            <a:srgbClr val="2B7FFF"/>
          </a:solidFill>
          <a:ln/>
        </p:spPr>
      </p:sp>
      <p:sp>
        <p:nvSpPr>
          <p:cNvPr id="6" name="Shape 4"/>
          <p:cNvSpPr/>
          <p:nvPr/>
        </p:nvSpPr>
        <p:spPr>
          <a:xfrm>
            <a:off x="653650" y="1553604"/>
            <a:ext cx="663124" cy="663124"/>
          </a:xfrm>
          <a:custGeom>
            <a:avLst/>
            <a:gdLst/>
            <a:ahLst/>
            <a:cxnLst/>
            <a:rect l="l" t="t" r="r" b="b"/>
            <a:pathLst>
              <a:path w="663124" h="663124">
                <a:moveTo>
                  <a:pt x="331562" y="0"/>
                </a:moveTo>
                <a:lnTo>
                  <a:pt x="331562" y="0"/>
                </a:lnTo>
                <a:cubicBezTo>
                  <a:pt x="514556" y="0"/>
                  <a:pt x="663124" y="148568"/>
                  <a:pt x="663124" y="331562"/>
                </a:cubicBezTo>
                <a:lnTo>
                  <a:pt x="663124" y="331562"/>
                </a:lnTo>
                <a:cubicBezTo>
                  <a:pt x="663124" y="514556"/>
                  <a:pt x="514556" y="663124"/>
                  <a:pt x="331562" y="663124"/>
                </a:cubicBezTo>
                <a:lnTo>
                  <a:pt x="331562" y="663124"/>
                </a:lnTo>
                <a:cubicBezTo>
                  <a:pt x="148568" y="663124"/>
                  <a:pt x="0" y="514556"/>
                  <a:pt x="0" y="331562"/>
                </a:cubicBezTo>
                <a:lnTo>
                  <a:pt x="0" y="331562"/>
                </a:lnTo>
                <a:cubicBezTo>
                  <a:pt x="0" y="148568"/>
                  <a:pt x="148568" y="0"/>
                  <a:pt x="331562" y="0"/>
                </a:cubicBezTo>
                <a:close/>
              </a:path>
            </a:pathLst>
          </a:custGeom>
          <a:solidFill>
            <a:srgbClr val="2B7FFF"/>
          </a:solidFill>
          <a:ln/>
        </p:spPr>
      </p:sp>
      <p:sp>
        <p:nvSpPr>
          <p:cNvPr id="7" name="Shape 5"/>
          <p:cNvSpPr/>
          <p:nvPr/>
        </p:nvSpPr>
        <p:spPr>
          <a:xfrm>
            <a:off x="863245" y="1743068"/>
            <a:ext cx="248671" cy="284196"/>
          </a:xfrm>
          <a:custGeom>
            <a:avLst/>
            <a:gdLst/>
            <a:ahLst/>
            <a:cxnLst/>
            <a:rect l="l" t="t" r="r" b="b"/>
            <a:pathLst>
              <a:path w="248671" h="284196">
                <a:moveTo>
                  <a:pt x="35524" y="17762"/>
                </a:moveTo>
                <a:cubicBezTo>
                  <a:pt x="15931" y="17762"/>
                  <a:pt x="0" y="33693"/>
                  <a:pt x="0" y="53287"/>
                </a:cubicBezTo>
                <a:lnTo>
                  <a:pt x="0" y="144374"/>
                </a:lnTo>
                <a:cubicBezTo>
                  <a:pt x="10047" y="137324"/>
                  <a:pt x="22314" y="133217"/>
                  <a:pt x="35524" y="133217"/>
                </a:cubicBezTo>
                <a:lnTo>
                  <a:pt x="213147" y="133217"/>
                </a:lnTo>
                <a:cubicBezTo>
                  <a:pt x="226358" y="133217"/>
                  <a:pt x="238625" y="137324"/>
                  <a:pt x="248671" y="144374"/>
                </a:cubicBezTo>
                <a:lnTo>
                  <a:pt x="248671" y="53287"/>
                </a:lnTo>
                <a:cubicBezTo>
                  <a:pt x="248671" y="33693"/>
                  <a:pt x="232741" y="17762"/>
                  <a:pt x="213147" y="17762"/>
                </a:cubicBezTo>
                <a:lnTo>
                  <a:pt x="35524" y="17762"/>
                </a:lnTo>
                <a:close/>
                <a:moveTo>
                  <a:pt x="248671" y="195385"/>
                </a:moveTo>
                <a:cubicBezTo>
                  <a:pt x="248671" y="175791"/>
                  <a:pt x="232741" y="159860"/>
                  <a:pt x="213147" y="159860"/>
                </a:cubicBezTo>
                <a:lnTo>
                  <a:pt x="35524" y="159860"/>
                </a:lnTo>
                <a:cubicBezTo>
                  <a:pt x="15931" y="159860"/>
                  <a:pt x="0" y="175791"/>
                  <a:pt x="0" y="195385"/>
                </a:cubicBezTo>
                <a:lnTo>
                  <a:pt x="0" y="230909"/>
                </a:lnTo>
                <a:cubicBezTo>
                  <a:pt x="0" y="250503"/>
                  <a:pt x="15931" y="266434"/>
                  <a:pt x="35524" y="266434"/>
                </a:cubicBezTo>
                <a:lnTo>
                  <a:pt x="213147" y="266434"/>
                </a:lnTo>
                <a:cubicBezTo>
                  <a:pt x="232741" y="266434"/>
                  <a:pt x="248671" y="250503"/>
                  <a:pt x="248671" y="230909"/>
                </a:cubicBezTo>
                <a:lnTo>
                  <a:pt x="248671" y="195385"/>
                </a:lnTo>
                <a:close/>
                <a:moveTo>
                  <a:pt x="124336" y="213147"/>
                </a:moveTo>
                <a:cubicBezTo>
                  <a:pt x="124336" y="203344"/>
                  <a:pt x="132295" y="195385"/>
                  <a:pt x="142098" y="195385"/>
                </a:cubicBezTo>
                <a:cubicBezTo>
                  <a:pt x="151901" y="195385"/>
                  <a:pt x="159860" y="203344"/>
                  <a:pt x="159860" y="213147"/>
                </a:cubicBezTo>
                <a:cubicBezTo>
                  <a:pt x="159860" y="222950"/>
                  <a:pt x="151901" y="230909"/>
                  <a:pt x="142098" y="230909"/>
                </a:cubicBezTo>
                <a:cubicBezTo>
                  <a:pt x="132295" y="230909"/>
                  <a:pt x="124336" y="222950"/>
                  <a:pt x="124336" y="213147"/>
                </a:cubicBezTo>
                <a:close/>
                <a:moveTo>
                  <a:pt x="195385" y="195385"/>
                </a:moveTo>
                <a:cubicBezTo>
                  <a:pt x="205188" y="195385"/>
                  <a:pt x="213147" y="203344"/>
                  <a:pt x="213147" y="213147"/>
                </a:cubicBezTo>
                <a:cubicBezTo>
                  <a:pt x="213147" y="222950"/>
                  <a:pt x="205188" y="230909"/>
                  <a:pt x="195385" y="230909"/>
                </a:cubicBezTo>
                <a:cubicBezTo>
                  <a:pt x="185581" y="230909"/>
                  <a:pt x="177622" y="222950"/>
                  <a:pt x="177622" y="213147"/>
                </a:cubicBezTo>
                <a:cubicBezTo>
                  <a:pt x="177622" y="203344"/>
                  <a:pt x="185581" y="195385"/>
                  <a:pt x="195385" y="195385"/>
                </a:cubicBezTo>
                <a:close/>
              </a:path>
            </a:pathLst>
          </a:custGeom>
          <a:solidFill>
            <a:srgbClr val="FFFFFF"/>
          </a:solidFill>
          <a:ln/>
        </p:spPr>
      </p:sp>
      <p:sp>
        <p:nvSpPr>
          <p:cNvPr id="8" name="Text 6"/>
          <p:cNvSpPr/>
          <p:nvPr/>
        </p:nvSpPr>
        <p:spPr>
          <a:xfrm>
            <a:off x="1506238" y="1695702"/>
            <a:ext cx="3988214" cy="378928"/>
          </a:xfrm>
          <a:prstGeom prst="rect">
            <a:avLst/>
          </a:prstGeom>
          <a:noFill/>
          <a:ln/>
        </p:spPr>
        <p:txBody>
          <a:bodyPr wrap="square" lIns="0" tIns="0" rIns="0" bIns="0" rtlCol="0" anchor="ctr"/>
          <a:lstStyle/>
          <a:p>
            <a:pPr>
              <a:lnSpc>
                <a:spcPct val="110000"/>
              </a:lnSpc>
            </a:pPr>
            <a:r>
              <a:rPr lang="en-US" sz="2238" b="1" dirty="0">
                <a:solidFill>
                  <a:srgbClr val="1D293D"/>
                </a:solidFill>
                <a:latin typeface="Quattrocento Sans" pitchFamily="34" charset="0"/>
                <a:ea typeface="Quattrocento Sans" pitchFamily="34" charset="-122"/>
                <a:cs typeface="Quattrocento Sans" pitchFamily="34" charset="-120"/>
              </a:rPr>
              <a:t>System Reinstallation Recovery</a:t>
            </a:r>
            <a:endParaRPr lang="en-US" sz="1600" dirty="0"/>
          </a:p>
        </p:txBody>
      </p:sp>
      <p:sp>
        <p:nvSpPr>
          <p:cNvPr id="9" name="Shape 7"/>
          <p:cNvSpPr/>
          <p:nvPr/>
        </p:nvSpPr>
        <p:spPr>
          <a:xfrm>
            <a:off x="724699" y="2453557"/>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2B7FFF"/>
          </a:solidFill>
          <a:ln/>
        </p:spPr>
      </p:sp>
      <p:sp>
        <p:nvSpPr>
          <p:cNvPr id="10" name="Text 8"/>
          <p:cNvSpPr/>
          <p:nvPr/>
        </p:nvSpPr>
        <p:spPr>
          <a:xfrm>
            <a:off x="985212" y="2406191"/>
            <a:ext cx="3315618"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Quick restoration after OS reinstallation</a:t>
            </a:r>
            <a:endParaRPr lang="en-US" sz="1600" dirty="0"/>
          </a:p>
        </p:txBody>
      </p:sp>
      <p:sp>
        <p:nvSpPr>
          <p:cNvPr id="11" name="Shape 9"/>
          <p:cNvSpPr/>
          <p:nvPr/>
        </p:nvSpPr>
        <p:spPr>
          <a:xfrm>
            <a:off x="724699" y="2832485"/>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2B7FFF"/>
          </a:solidFill>
          <a:ln/>
        </p:spPr>
      </p:sp>
      <p:sp>
        <p:nvSpPr>
          <p:cNvPr id="12" name="Text 10"/>
          <p:cNvSpPr/>
          <p:nvPr/>
        </p:nvSpPr>
        <p:spPr>
          <a:xfrm>
            <a:off x="985212" y="2785119"/>
            <a:ext cx="2576709"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Recovery from system failures</a:t>
            </a:r>
            <a:endParaRPr lang="en-US" sz="1600" dirty="0"/>
          </a:p>
        </p:txBody>
      </p:sp>
      <p:sp>
        <p:nvSpPr>
          <p:cNvPr id="13" name="Shape 11"/>
          <p:cNvSpPr/>
          <p:nvPr/>
        </p:nvSpPr>
        <p:spPr>
          <a:xfrm>
            <a:off x="724699" y="3211413"/>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2B7FFF"/>
          </a:solidFill>
          <a:ln/>
        </p:spPr>
      </p:sp>
      <p:sp>
        <p:nvSpPr>
          <p:cNvPr id="14" name="Text 12"/>
          <p:cNvSpPr/>
          <p:nvPr/>
        </p:nvSpPr>
        <p:spPr>
          <a:xfrm>
            <a:off x="985212" y="3164047"/>
            <a:ext cx="2311459"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Migrating to new hardware</a:t>
            </a:r>
            <a:endParaRPr lang="en-US" sz="1600" dirty="0"/>
          </a:p>
        </p:txBody>
      </p:sp>
      <p:sp>
        <p:nvSpPr>
          <p:cNvPr id="15" name="Shape 13"/>
          <p:cNvSpPr/>
          <p:nvPr/>
        </p:nvSpPr>
        <p:spPr>
          <a:xfrm>
            <a:off x="6233835" y="1316774"/>
            <a:ext cx="5579711" cy="2368298"/>
          </a:xfrm>
          <a:custGeom>
            <a:avLst/>
            <a:gdLst/>
            <a:ahLst/>
            <a:cxnLst/>
            <a:rect l="l" t="t" r="r" b="b"/>
            <a:pathLst>
              <a:path w="5579711" h="2368298">
                <a:moveTo>
                  <a:pt x="37893" y="0"/>
                </a:moveTo>
                <a:lnTo>
                  <a:pt x="5484979" y="0"/>
                </a:lnTo>
                <a:cubicBezTo>
                  <a:pt x="5537298" y="0"/>
                  <a:pt x="5579711" y="42413"/>
                  <a:pt x="5579711" y="94732"/>
                </a:cubicBezTo>
                <a:lnTo>
                  <a:pt x="5579711" y="2273566"/>
                </a:lnTo>
                <a:cubicBezTo>
                  <a:pt x="5579711" y="2325885"/>
                  <a:pt x="5537298" y="2368298"/>
                  <a:pt x="5484979" y="2368298"/>
                </a:cubicBezTo>
                <a:lnTo>
                  <a:pt x="37893" y="2368298"/>
                </a:lnTo>
                <a:cubicBezTo>
                  <a:pt x="16965" y="2368298"/>
                  <a:pt x="0" y="2351333"/>
                  <a:pt x="0" y="2330406"/>
                </a:cubicBezTo>
                <a:lnTo>
                  <a:pt x="0" y="37893"/>
                </a:lnTo>
                <a:cubicBezTo>
                  <a:pt x="0" y="16965"/>
                  <a:pt x="16965" y="0"/>
                  <a:pt x="37893" y="0"/>
                </a:cubicBezTo>
                <a:close/>
              </a:path>
            </a:pathLst>
          </a:custGeom>
          <a:gradFill rotWithShape="1" flip="none">
            <a:gsLst>
              <a:gs pos="0">
                <a:srgbClr val="F0FDF4"/>
              </a:gs>
              <a:gs pos="100000">
                <a:srgbClr val="DCFCE7"/>
              </a:gs>
            </a:gsLst>
            <a:lin ang="2700000" scaled="1"/>
          </a:gradFill>
          <a:ln/>
        </p:spPr>
      </p:sp>
      <p:sp>
        <p:nvSpPr>
          <p:cNvPr id="16" name="Shape 14"/>
          <p:cNvSpPr/>
          <p:nvPr/>
        </p:nvSpPr>
        <p:spPr>
          <a:xfrm>
            <a:off x="6233835" y="1316774"/>
            <a:ext cx="37893" cy="2368298"/>
          </a:xfrm>
          <a:custGeom>
            <a:avLst/>
            <a:gdLst/>
            <a:ahLst/>
            <a:cxnLst/>
            <a:rect l="l" t="t" r="r" b="b"/>
            <a:pathLst>
              <a:path w="37893" h="2368298">
                <a:moveTo>
                  <a:pt x="37893" y="0"/>
                </a:moveTo>
                <a:lnTo>
                  <a:pt x="37893" y="0"/>
                </a:lnTo>
                <a:lnTo>
                  <a:pt x="37893" y="2368298"/>
                </a:lnTo>
                <a:lnTo>
                  <a:pt x="37893" y="2368298"/>
                </a:lnTo>
                <a:cubicBezTo>
                  <a:pt x="16965" y="2368298"/>
                  <a:pt x="0" y="2351333"/>
                  <a:pt x="0" y="2330406"/>
                </a:cubicBezTo>
                <a:lnTo>
                  <a:pt x="0" y="37893"/>
                </a:lnTo>
                <a:cubicBezTo>
                  <a:pt x="0" y="16965"/>
                  <a:pt x="16965" y="0"/>
                  <a:pt x="37893" y="0"/>
                </a:cubicBezTo>
                <a:close/>
              </a:path>
            </a:pathLst>
          </a:custGeom>
          <a:solidFill>
            <a:srgbClr val="00C950"/>
          </a:solidFill>
          <a:ln/>
        </p:spPr>
      </p:sp>
      <p:sp>
        <p:nvSpPr>
          <p:cNvPr id="17" name="Shape 15"/>
          <p:cNvSpPr/>
          <p:nvPr/>
        </p:nvSpPr>
        <p:spPr>
          <a:xfrm>
            <a:off x="6489611" y="1553604"/>
            <a:ext cx="663124" cy="663124"/>
          </a:xfrm>
          <a:custGeom>
            <a:avLst/>
            <a:gdLst/>
            <a:ahLst/>
            <a:cxnLst/>
            <a:rect l="l" t="t" r="r" b="b"/>
            <a:pathLst>
              <a:path w="663124" h="663124">
                <a:moveTo>
                  <a:pt x="331562" y="0"/>
                </a:moveTo>
                <a:lnTo>
                  <a:pt x="331562" y="0"/>
                </a:lnTo>
                <a:cubicBezTo>
                  <a:pt x="514556" y="0"/>
                  <a:pt x="663124" y="148568"/>
                  <a:pt x="663124" y="331562"/>
                </a:cubicBezTo>
                <a:lnTo>
                  <a:pt x="663124" y="331562"/>
                </a:lnTo>
                <a:cubicBezTo>
                  <a:pt x="663124" y="514556"/>
                  <a:pt x="514556" y="663124"/>
                  <a:pt x="331562" y="663124"/>
                </a:cubicBezTo>
                <a:lnTo>
                  <a:pt x="331562" y="663124"/>
                </a:lnTo>
                <a:cubicBezTo>
                  <a:pt x="148568" y="663124"/>
                  <a:pt x="0" y="514556"/>
                  <a:pt x="0" y="331562"/>
                </a:cubicBezTo>
                <a:lnTo>
                  <a:pt x="0" y="331562"/>
                </a:lnTo>
                <a:cubicBezTo>
                  <a:pt x="0" y="148568"/>
                  <a:pt x="148568" y="0"/>
                  <a:pt x="331562" y="0"/>
                </a:cubicBezTo>
                <a:close/>
              </a:path>
            </a:pathLst>
          </a:custGeom>
          <a:solidFill>
            <a:srgbClr val="00C950"/>
          </a:solidFill>
          <a:ln/>
        </p:spPr>
      </p:sp>
      <p:sp>
        <p:nvSpPr>
          <p:cNvPr id="18" name="Shape 16"/>
          <p:cNvSpPr/>
          <p:nvPr/>
        </p:nvSpPr>
        <p:spPr>
          <a:xfrm>
            <a:off x="6645919" y="1743068"/>
            <a:ext cx="355245" cy="284196"/>
          </a:xfrm>
          <a:custGeom>
            <a:avLst/>
            <a:gdLst/>
            <a:ahLst/>
            <a:cxnLst/>
            <a:rect l="l" t="t" r="r" b="b"/>
            <a:pathLst>
              <a:path w="355245" h="284196">
                <a:moveTo>
                  <a:pt x="75490" y="71049"/>
                </a:moveTo>
                <a:cubicBezTo>
                  <a:pt x="75490" y="34287"/>
                  <a:pt x="105336" y="4441"/>
                  <a:pt x="142098" y="4441"/>
                </a:cubicBezTo>
                <a:cubicBezTo>
                  <a:pt x="178860" y="4441"/>
                  <a:pt x="208706" y="34287"/>
                  <a:pt x="208706" y="71049"/>
                </a:cubicBezTo>
                <a:cubicBezTo>
                  <a:pt x="208706" y="107811"/>
                  <a:pt x="178860" y="137657"/>
                  <a:pt x="142098" y="137657"/>
                </a:cubicBezTo>
                <a:cubicBezTo>
                  <a:pt x="105336" y="137657"/>
                  <a:pt x="75490" y="107811"/>
                  <a:pt x="75490" y="71049"/>
                </a:cubicBezTo>
                <a:close/>
                <a:moveTo>
                  <a:pt x="26643" y="267710"/>
                </a:moveTo>
                <a:cubicBezTo>
                  <a:pt x="26643" y="213036"/>
                  <a:pt x="70938" y="168741"/>
                  <a:pt x="125612" y="168741"/>
                </a:cubicBezTo>
                <a:lnTo>
                  <a:pt x="158583" y="168741"/>
                </a:lnTo>
                <a:cubicBezTo>
                  <a:pt x="213258" y="168741"/>
                  <a:pt x="257552" y="213036"/>
                  <a:pt x="257552" y="267710"/>
                </a:cubicBezTo>
                <a:cubicBezTo>
                  <a:pt x="257552" y="276813"/>
                  <a:pt x="250170" y="284196"/>
                  <a:pt x="241067" y="284196"/>
                </a:cubicBezTo>
                <a:lnTo>
                  <a:pt x="43129" y="284196"/>
                </a:lnTo>
                <a:cubicBezTo>
                  <a:pt x="34026" y="284196"/>
                  <a:pt x="26643" y="276813"/>
                  <a:pt x="26643" y="267710"/>
                </a:cubicBezTo>
                <a:close/>
                <a:moveTo>
                  <a:pt x="301958" y="53287"/>
                </a:moveTo>
                <a:cubicBezTo>
                  <a:pt x="309340" y="53287"/>
                  <a:pt x="315280" y="59226"/>
                  <a:pt x="315280" y="66608"/>
                </a:cubicBezTo>
                <a:lnTo>
                  <a:pt x="315280" y="93252"/>
                </a:lnTo>
                <a:lnTo>
                  <a:pt x="341923" y="93252"/>
                </a:lnTo>
                <a:cubicBezTo>
                  <a:pt x="349306" y="93252"/>
                  <a:pt x="355245" y="99191"/>
                  <a:pt x="355245" y="106573"/>
                </a:cubicBezTo>
                <a:cubicBezTo>
                  <a:pt x="355245" y="113956"/>
                  <a:pt x="349306" y="119895"/>
                  <a:pt x="341923" y="119895"/>
                </a:cubicBezTo>
                <a:lnTo>
                  <a:pt x="315280" y="119895"/>
                </a:lnTo>
                <a:lnTo>
                  <a:pt x="315280" y="146538"/>
                </a:lnTo>
                <a:cubicBezTo>
                  <a:pt x="315280" y="153921"/>
                  <a:pt x="309340" y="159860"/>
                  <a:pt x="301958" y="159860"/>
                </a:cubicBezTo>
                <a:cubicBezTo>
                  <a:pt x="294576" y="159860"/>
                  <a:pt x="288636" y="153921"/>
                  <a:pt x="288636" y="146538"/>
                </a:cubicBezTo>
                <a:lnTo>
                  <a:pt x="288636" y="119895"/>
                </a:lnTo>
                <a:lnTo>
                  <a:pt x="261993" y="119895"/>
                </a:lnTo>
                <a:cubicBezTo>
                  <a:pt x="254611" y="119895"/>
                  <a:pt x="248671" y="113956"/>
                  <a:pt x="248671" y="106573"/>
                </a:cubicBezTo>
                <a:cubicBezTo>
                  <a:pt x="248671" y="99191"/>
                  <a:pt x="254611" y="93252"/>
                  <a:pt x="261993" y="93252"/>
                </a:cubicBezTo>
                <a:lnTo>
                  <a:pt x="288636" y="93252"/>
                </a:lnTo>
                <a:lnTo>
                  <a:pt x="288636" y="66608"/>
                </a:lnTo>
                <a:cubicBezTo>
                  <a:pt x="288636" y="59226"/>
                  <a:pt x="294576" y="53287"/>
                  <a:pt x="301958" y="53287"/>
                </a:cubicBezTo>
                <a:close/>
              </a:path>
            </a:pathLst>
          </a:custGeom>
          <a:solidFill>
            <a:srgbClr val="FFFFFF"/>
          </a:solidFill>
          <a:ln/>
        </p:spPr>
      </p:sp>
      <p:sp>
        <p:nvSpPr>
          <p:cNvPr id="19" name="Text 17"/>
          <p:cNvSpPr/>
          <p:nvPr/>
        </p:nvSpPr>
        <p:spPr>
          <a:xfrm>
            <a:off x="7342198" y="1695702"/>
            <a:ext cx="2955636" cy="378928"/>
          </a:xfrm>
          <a:prstGeom prst="rect">
            <a:avLst/>
          </a:prstGeom>
          <a:noFill/>
          <a:ln/>
        </p:spPr>
        <p:txBody>
          <a:bodyPr wrap="square" lIns="0" tIns="0" rIns="0" bIns="0" rtlCol="0" anchor="ctr"/>
          <a:lstStyle/>
          <a:p>
            <a:pPr>
              <a:lnSpc>
                <a:spcPct val="110000"/>
              </a:lnSpc>
            </a:pPr>
            <a:r>
              <a:rPr lang="en-US" sz="2238" b="1" dirty="0">
                <a:solidFill>
                  <a:srgbClr val="1D293D"/>
                </a:solidFill>
                <a:latin typeface="Quattrocento Sans" pitchFamily="34" charset="0"/>
                <a:ea typeface="Quattrocento Sans" pitchFamily="34" charset="-122"/>
                <a:cs typeface="Quattrocento Sans" pitchFamily="34" charset="-120"/>
              </a:rPr>
              <a:t>Developer Onboarding</a:t>
            </a:r>
            <a:endParaRPr lang="en-US" sz="1600" dirty="0"/>
          </a:p>
        </p:txBody>
      </p:sp>
      <p:sp>
        <p:nvSpPr>
          <p:cNvPr id="20" name="Shape 18"/>
          <p:cNvSpPr/>
          <p:nvPr/>
        </p:nvSpPr>
        <p:spPr>
          <a:xfrm>
            <a:off x="6560660" y="2453557"/>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00C950"/>
          </a:solidFill>
          <a:ln/>
        </p:spPr>
      </p:sp>
      <p:sp>
        <p:nvSpPr>
          <p:cNvPr id="21" name="Text 19"/>
          <p:cNvSpPr/>
          <p:nvPr/>
        </p:nvSpPr>
        <p:spPr>
          <a:xfrm>
            <a:off x="6821173" y="2406191"/>
            <a:ext cx="2188308"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New team member setup</a:t>
            </a:r>
            <a:endParaRPr lang="en-US" sz="1600" dirty="0"/>
          </a:p>
        </p:txBody>
      </p:sp>
      <p:sp>
        <p:nvSpPr>
          <p:cNvPr id="22" name="Shape 20"/>
          <p:cNvSpPr/>
          <p:nvPr/>
        </p:nvSpPr>
        <p:spPr>
          <a:xfrm>
            <a:off x="6560660" y="2832485"/>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00C950"/>
          </a:solidFill>
          <a:ln/>
        </p:spPr>
      </p:sp>
      <p:sp>
        <p:nvSpPr>
          <p:cNvPr id="23" name="Text 21"/>
          <p:cNvSpPr/>
          <p:nvPr/>
        </p:nvSpPr>
        <p:spPr>
          <a:xfrm>
            <a:off x="6821173" y="2785119"/>
            <a:ext cx="3078788"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Consistent environment across team</a:t>
            </a:r>
            <a:endParaRPr lang="en-US" sz="1600" dirty="0"/>
          </a:p>
        </p:txBody>
      </p:sp>
      <p:sp>
        <p:nvSpPr>
          <p:cNvPr id="24" name="Shape 22"/>
          <p:cNvSpPr/>
          <p:nvPr/>
        </p:nvSpPr>
        <p:spPr>
          <a:xfrm>
            <a:off x="6560660" y="3211413"/>
            <a:ext cx="94732" cy="189464"/>
          </a:xfrm>
          <a:custGeom>
            <a:avLst/>
            <a:gdLst/>
            <a:ahLst/>
            <a:cxnLst/>
            <a:rect l="l" t="t" r="r" b="b"/>
            <a:pathLst>
              <a:path w="94732" h="189464">
                <a:moveTo>
                  <a:pt x="91439" y="86369"/>
                </a:moveTo>
                <a:cubicBezTo>
                  <a:pt x="96064" y="90994"/>
                  <a:pt x="96064" y="98506"/>
                  <a:pt x="91439" y="103132"/>
                </a:cubicBezTo>
                <a:lnTo>
                  <a:pt x="32231" y="162339"/>
                </a:lnTo>
                <a:cubicBezTo>
                  <a:pt x="27605" y="166965"/>
                  <a:pt x="20094" y="166965"/>
                  <a:pt x="15468" y="162339"/>
                </a:cubicBezTo>
                <a:cubicBezTo>
                  <a:pt x="10842" y="157714"/>
                  <a:pt x="10842" y="150202"/>
                  <a:pt x="15468" y="145576"/>
                </a:cubicBezTo>
                <a:lnTo>
                  <a:pt x="66312" y="94732"/>
                </a:lnTo>
                <a:lnTo>
                  <a:pt x="15505" y="43888"/>
                </a:lnTo>
                <a:cubicBezTo>
                  <a:pt x="10879" y="39262"/>
                  <a:pt x="10879" y="31750"/>
                  <a:pt x="15505" y="27124"/>
                </a:cubicBezTo>
                <a:cubicBezTo>
                  <a:pt x="20131" y="22499"/>
                  <a:pt x="27642" y="22499"/>
                  <a:pt x="32268" y="27124"/>
                </a:cubicBezTo>
                <a:lnTo>
                  <a:pt x="91476" y="86332"/>
                </a:lnTo>
                <a:close/>
              </a:path>
            </a:pathLst>
          </a:custGeom>
          <a:solidFill>
            <a:srgbClr val="00C950"/>
          </a:solidFill>
          <a:ln/>
        </p:spPr>
      </p:sp>
      <p:sp>
        <p:nvSpPr>
          <p:cNvPr id="25" name="Text 23"/>
          <p:cNvSpPr/>
          <p:nvPr/>
        </p:nvSpPr>
        <p:spPr>
          <a:xfrm>
            <a:off x="6821173" y="3164047"/>
            <a:ext cx="2216727" cy="284196"/>
          </a:xfrm>
          <a:prstGeom prst="rect">
            <a:avLst/>
          </a:prstGeom>
          <a:noFill/>
          <a:ln/>
        </p:spPr>
        <p:txBody>
          <a:bodyPr wrap="square" lIns="0" tIns="0" rIns="0" bIns="0" rtlCol="0" anchor="ctr"/>
          <a:lstStyle/>
          <a:p>
            <a:pPr>
              <a:lnSpc>
                <a:spcPct val="130000"/>
              </a:lnSpc>
            </a:pPr>
            <a:r>
              <a:rPr lang="en-US" sz="1492" dirty="0">
                <a:solidFill>
                  <a:srgbClr val="314158"/>
                </a:solidFill>
                <a:latin typeface="Quattrocento Sans" pitchFamily="34" charset="0"/>
                <a:ea typeface="Quattrocento Sans" pitchFamily="34" charset="-122"/>
                <a:cs typeface="Quattrocento Sans" pitchFamily="34" charset="-120"/>
              </a:rPr>
              <a:t>Reduced onboarding time</a:t>
            </a:r>
            <a:endParaRPr lang="en-US" sz="1600" dirty="0"/>
          </a:p>
        </p:txBody>
      </p:sp>
      <p:sp>
        <p:nvSpPr>
          <p:cNvPr id="26" name="Shape 24"/>
          <p:cNvSpPr/>
          <p:nvPr/>
        </p:nvSpPr>
        <p:spPr>
          <a:xfrm>
            <a:off x="397874" y="3921902"/>
            <a:ext cx="11415198" cy="2557762"/>
          </a:xfrm>
          <a:custGeom>
            <a:avLst/>
            <a:gdLst/>
            <a:ahLst/>
            <a:cxnLst/>
            <a:rect l="l" t="t" r="r" b="b"/>
            <a:pathLst>
              <a:path w="11415198" h="2557762">
                <a:moveTo>
                  <a:pt x="37893" y="0"/>
                </a:moveTo>
                <a:lnTo>
                  <a:pt x="11320459" y="0"/>
                </a:lnTo>
                <a:cubicBezTo>
                  <a:pt x="11372782" y="0"/>
                  <a:pt x="11415198" y="42416"/>
                  <a:pt x="11415198" y="94740"/>
                </a:cubicBezTo>
                <a:lnTo>
                  <a:pt x="11415198" y="2463023"/>
                </a:lnTo>
                <a:cubicBezTo>
                  <a:pt x="11415198" y="2515346"/>
                  <a:pt x="11372782" y="2557762"/>
                  <a:pt x="11320459" y="2557762"/>
                </a:cubicBezTo>
                <a:lnTo>
                  <a:pt x="37893" y="2557762"/>
                </a:lnTo>
                <a:cubicBezTo>
                  <a:pt x="16965" y="2557762"/>
                  <a:pt x="0" y="2540797"/>
                  <a:pt x="0" y="2519869"/>
                </a:cubicBezTo>
                <a:lnTo>
                  <a:pt x="0" y="37893"/>
                </a:lnTo>
                <a:cubicBezTo>
                  <a:pt x="0" y="16979"/>
                  <a:pt x="16979" y="0"/>
                  <a:pt x="37893" y="0"/>
                </a:cubicBezTo>
                <a:close/>
              </a:path>
            </a:pathLst>
          </a:custGeom>
          <a:gradFill rotWithShape="1" flip="none">
            <a:gsLst>
              <a:gs pos="0">
                <a:srgbClr val="FAF5FF"/>
              </a:gs>
              <a:gs pos="100000">
                <a:srgbClr val="F3E8FF"/>
              </a:gs>
            </a:gsLst>
            <a:lin ang="2700000" scaled="1"/>
          </a:gradFill>
          <a:ln/>
        </p:spPr>
      </p:sp>
      <p:sp>
        <p:nvSpPr>
          <p:cNvPr id="27" name="Shape 25"/>
          <p:cNvSpPr/>
          <p:nvPr/>
        </p:nvSpPr>
        <p:spPr>
          <a:xfrm>
            <a:off x="397874" y="3921902"/>
            <a:ext cx="37893" cy="2557762"/>
          </a:xfrm>
          <a:custGeom>
            <a:avLst/>
            <a:gdLst/>
            <a:ahLst/>
            <a:cxnLst/>
            <a:rect l="l" t="t" r="r" b="b"/>
            <a:pathLst>
              <a:path w="37893" h="2557762">
                <a:moveTo>
                  <a:pt x="37893" y="0"/>
                </a:moveTo>
                <a:lnTo>
                  <a:pt x="37893" y="0"/>
                </a:lnTo>
                <a:lnTo>
                  <a:pt x="37893" y="2557762"/>
                </a:lnTo>
                <a:lnTo>
                  <a:pt x="37893" y="2557762"/>
                </a:lnTo>
                <a:cubicBezTo>
                  <a:pt x="16965" y="2557762"/>
                  <a:pt x="0" y="2540797"/>
                  <a:pt x="0" y="2519869"/>
                </a:cubicBezTo>
                <a:lnTo>
                  <a:pt x="0" y="37893"/>
                </a:lnTo>
                <a:cubicBezTo>
                  <a:pt x="0" y="16965"/>
                  <a:pt x="16965" y="0"/>
                  <a:pt x="37893" y="0"/>
                </a:cubicBezTo>
                <a:close/>
              </a:path>
            </a:pathLst>
          </a:custGeom>
          <a:solidFill>
            <a:srgbClr val="AD46FF"/>
          </a:solidFill>
          <a:ln/>
        </p:spPr>
      </p:sp>
      <p:sp>
        <p:nvSpPr>
          <p:cNvPr id="28" name="Shape 26"/>
          <p:cNvSpPr/>
          <p:nvPr/>
        </p:nvSpPr>
        <p:spPr>
          <a:xfrm>
            <a:off x="653650" y="4158732"/>
            <a:ext cx="663124" cy="663124"/>
          </a:xfrm>
          <a:custGeom>
            <a:avLst/>
            <a:gdLst/>
            <a:ahLst/>
            <a:cxnLst/>
            <a:rect l="l" t="t" r="r" b="b"/>
            <a:pathLst>
              <a:path w="663124" h="663124">
                <a:moveTo>
                  <a:pt x="331562" y="0"/>
                </a:moveTo>
                <a:lnTo>
                  <a:pt x="331562" y="0"/>
                </a:lnTo>
                <a:cubicBezTo>
                  <a:pt x="514556" y="0"/>
                  <a:pt x="663124" y="148568"/>
                  <a:pt x="663124" y="331562"/>
                </a:cubicBezTo>
                <a:lnTo>
                  <a:pt x="663124" y="331562"/>
                </a:lnTo>
                <a:cubicBezTo>
                  <a:pt x="663124" y="514556"/>
                  <a:pt x="514556" y="663124"/>
                  <a:pt x="331562" y="663124"/>
                </a:cubicBezTo>
                <a:lnTo>
                  <a:pt x="331562" y="663124"/>
                </a:lnTo>
                <a:cubicBezTo>
                  <a:pt x="148568" y="663124"/>
                  <a:pt x="0" y="514556"/>
                  <a:pt x="0" y="331562"/>
                </a:cubicBezTo>
                <a:lnTo>
                  <a:pt x="0" y="331562"/>
                </a:lnTo>
                <a:cubicBezTo>
                  <a:pt x="0" y="148568"/>
                  <a:pt x="148568" y="0"/>
                  <a:pt x="331562" y="0"/>
                </a:cubicBezTo>
                <a:close/>
              </a:path>
            </a:pathLst>
          </a:custGeom>
          <a:solidFill>
            <a:srgbClr val="AD46FF"/>
          </a:solidFill>
          <a:ln/>
        </p:spPr>
      </p:sp>
      <p:sp>
        <p:nvSpPr>
          <p:cNvPr id="29" name="Shape 27"/>
          <p:cNvSpPr/>
          <p:nvPr/>
        </p:nvSpPr>
        <p:spPr>
          <a:xfrm>
            <a:off x="827720" y="4348196"/>
            <a:ext cx="319720" cy="284196"/>
          </a:xfrm>
          <a:custGeom>
            <a:avLst/>
            <a:gdLst/>
            <a:ahLst/>
            <a:cxnLst/>
            <a:rect l="l" t="t" r="r" b="b"/>
            <a:pathLst>
              <a:path w="319720" h="284196">
                <a:moveTo>
                  <a:pt x="26643" y="108683"/>
                </a:moveTo>
                <a:lnTo>
                  <a:pt x="142764" y="156474"/>
                </a:lnTo>
                <a:cubicBezTo>
                  <a:pt x="148204" y="158694"/>
                  <a:pt x="153976" y="159860"/>
                  <a:pt x="159860" y="159860"/>
                </a:cubicBezTo>
                <a:cubicBezTo>
                  <a:pt x="165744" y="159860"/>
                  <a:pt x="171517" y="158694"/>
                  <a:pt x="176956" y="156474"/>
                </a:cubicBezTo>
                <a:lnTo>
                  <a:pt x="311505" y="101078"/>
                </a:lnTo>
                <a:cubicBezTo>
                  <a:pt x="316501" y="99024"/>
                  <a:pt x="319720" y="94195"/>
                  <a:pt x="319720" y="88811"/>
                </a:cubicBezTo>
                <a:cubicBezTo>
                  <a:pt x="319720" y="83427"/>
                  <a:pt x="316501" y="78598"/>
                  <a:pt x="311505" y="76544"/>
                </a:cubicBezTo>
                <a:lnTo>
                  <a:pt x="176956" y="21148"/>
                </a:lnTo>
                <a:cubicBezTo>
                  <a:pt x="171517" y="18928"/>
                  <a:pt x="165744" y="17762"/>
                  <a:pt x="159860" y="17762"/>
                </a:cubicBezTo>
                <a:cubicBezTo>
                  <a:pt x="153976" y="17762"/>
                  <a:pt x="148204" y="18928"/>
                  <a:pt x="142764" y="21148"/>
                </a:cubicBezTo>
                <a:lnTo>
                  <a:pt x="8215" y="76544"/>
                </a:lnTo>
                <a:cubicBezTo>
                  <a:pt x="3219" y="78598"/>
                  <a:pt x="0" y="83427"/>
                  <a:pt x="0" y="88811"/>
                </a:cubicBezTo>
                <a:lnTo>
                  <a:pt x="0" y="253112"/>
                </a:lnTo>
                <a:cubicBezTo>
                  <a:pt x="0" y="260494"/>
                  <a:pt x="5939" y="266434"/>
                  <a:pt x="13322" y="266434"/>
                </a:cubicBezTo>
                <a:cubicBezTo>
                  <a:pt x="20704" y="266434"/>
                  <a:pt x="26643" y="260494"/>
                  <a:pt x="26643" y="253112"/>
                </a:cubicBezTo>
                <a:lnTo>
                  <a:pt x="26643" y="108683"/>
                </a:lnTo>
                <a:close/>
                <a:moveTo>
                  <a:pt x="53287" y="148481"/>
                </a:moveTo>
                <a:lnTo>
                  <a:pt x="53287" y="213147"/>
                </a:lnTo>
                <a:cubicBezTo>
                  <a:pt x="53287" y="242566"/>
                  <a:pt x="101023" y="266434"/>
                  <a:pt x="159860" y="266434"/>
                </a:cubicBezTo>
                <a:cubicBezTo>
                  <a:pt x="218698" y="266434"/>
                  <a:pt x="266434" y="242566"/>
                  <a:pt x="266434" y="213147"/>
                </a:cubicBezTo>
                <a:lnTo>
                  <a:pt x="266434" y="148426"/>
                </a:lnTo>
                <a:lnTo>
                  <a:pt x="187114" y="181119"/>
                </a:lnTo>
                <a:cubicBezTo>
                  <a:pt x="178455" y="184672"/>
                  <a:pt x="169241" y="186503"/>
                  <a:pt x="159860" y="186503"/>
                </a:cubicBezTo>
                <a:cubicBezTo>
                  <a:pt x="150479" y="186503"/>
                  <a:pt x="141265" y="184672"/>
                  <a:pt x="132606" y="181119"/>
                </a:cubicBezTo>
                <a:lnTo>
                  <a:pt x="53287" y="148426"/>
                </a:lnTo>
                <a:close/>
              </a:path>
            </a:pathLst>
          </a:custGeom>
          <a:solidFill>
            <a:srgbClr val="FFFFFF"/>
          </a:solidFill>
          <a:ln/>
        </p:spPr>
      </p:sp>
      <p:sp>
        <p:nvSpPr>
          <p:cNvPr id="30" name="Text 28"/>
          <p:cNvSpPr/>
          <p:nvPr/>
        </p:nvSpPr>
        <p:spPr>
          <a:xfrm>
            <a:off x="1506238" y="4300830"/>
            <a:ext cx="2785119" cy="378928"/>
          </a:xfrm>
          <a:prstGeom prst="rect">
            <a:avLst/>
          </a:prstGeom>
          <a:noFill/>
          <a:ln/>
        </p:spPr>
        <p:txBody>
          <a:bodyPr wrap="square" lIns="0" tIns="0" rIns="0" bIns="0" rtlCol="0" anchor="ctr"/>
          <a:lstStyle/>
          <a:p>
            <a:pPr>
              <a:lnSpc>
                <a:spcPct val="110000"/>
              </a:lnSpc>
            </a:pPr>
            <a:r>
              <a:rPr lang="en-US" sz="2238" b="1" dirty="0">
                <a:solidFill>
                  <a:srgbClr val="1D293D"/>
                </a:solidFill>
                <a:latin typeface="Quattrocento Sans" pitchFamily="34" charset="0"/>
                <a:ea typeface="Quattrocento Sans" pitchFamily="34" charset="-122"/>
                <a:cs typeface="Quattrocento Sans" pitchFamily="34" charset="-120"/>
              </a:rPr>
              <a:t>Academic Lab Setups</a:t>
            </a:r>
            <a:endParaRPr lang="en-US" sz="1600" dirty="0"/>
          </a:p>
        </p:txBody>
      </p:sp>
      <p:sp>
        <p:nvSpPr>
          <p:cNvPr id="31" name="Shape 29"/>
          <p:cNvSpPr/>
          <p:nvPr/>
        </p:nvSpPr>
        <p:spPr>
          <a:xfrm>
            <a:off x="653650" y="5011319"/>
            <a:ext cx="3514555" cy="1231515"/>
          </a:xfrm>
          <a:custGeom>
            <a:avLst/>
            <a:gdLst/>
            <a:ahLst/>
            <a:cxnLst/>
            <a:rect l="l" t="t" r="r" b="b"/>
            <a:pathLst>
              <a:path w="3514555" h="1231515">
                <a:moveTo>
                  <a:pt x="94728" y="0"/>
                </a:moveTo>
                <a:lnTo>
                  <a:pt x="3419827" y="0"/>
                </a:lnTo>
                <a:cubicBezTo>
                  <a:pt x="3472144" y="0"/>
                  <a:pt x="3514555" y="42411"/>
                  <a:pt x="3514555" y="94728"/>
                </a:cubicBezTo>
                <a:lnTo>
                  <a:pt x="3514555" y="1136787"/>
                </a:lnTo>
                <a:cubicBezTo>
                  <a:pt x="3514555" y="1189104"/>
                  <a:pt x="3472144" y="1231515"/>
                  <a:pt x="3419827" y="1231515"/>
                </a:cubicBezTo>
                <a:lnTo>
                  <a:pt x="94728" y="1231515"/>
                </a:lnTo>
                <a:cubicBezTo>
                  <a:pt x="42411" y="1231515"/>
                  <a:pt x="0" y="1189104"/>
                  <a:pt x="0" y="1136787"/>
                </a:cubicBezTo>
                <a:lnTo>
                  <a:pt x="0" y="94728"/>
                </a:lnTo>
                <a:cubicBezTo>
                  <a:pt x="0" y="42446"/>
                  <a:pt x="42446" y="0"/>
                  <a:pt x="94728" y="0"/>
                </a:cubicBezTo>
                <a:close/>
              </a:path>
            </a:pathLst>
          </a:custGeom>
          <a:solidFill>
            <a:srgbClr val="FFFFFF"/>
          </a:solidFill>
          <a:ln/>
          <a:effectLst>
            <a:outerShdw sx="100000" sy="100000" kx="0" ky="0" algn="bl" rotWithShape="0" blurRad="28420" dist="9473" dir="5400000">
              <a:srgbClr val="000000">
                <a:alpha val="10196"/>
              </a:srgbClr>
            </a:outerShdw>
          </a:effectLst>
        </p:spPr>
      </p:sp>
      <p:sp>
        <p:nvSpPr>
          <p:cNvPr id="32" name="Shape 30"/>
          <p:cNvSpPr/>
          <p:nvPr/>
        </p:nvSpPr>
        <p:spPr>
          <a:xfrm>
            <a:off x="871534" y="5224466"/>
            <a:ext cx="236830" cy="236830"/>
          </a:xfrm>
          <a:custGeom>
            <a:avLst/>
            <a:gdLst/>
            <a:ahLst/>
            <a:cxnLst/>
            <a:rect l="l" t="t" r="r" b="b"/>
            <a:pathLst>
              <a:path w="236830" h="236830">
                <a:moveTo>
                  <a:pt x="29604" y="14802"/>
                </a:moveTo>
                <a:cubicBezTo>
                  <a:pt x="13275" y="14802"/>
                  <a:pt x="0" y="28077"/>
                  <a:pt x="0" y="44406"/>
                </a:cubicBezTo>
                <a:lnTo>
                  <a:pt x="0" y="162821"/>
                </a:lnTo>
                <a:cubicBezTo>
                  <a:pt x="0" y="179149"/>
                  <a:pt x="13275" y="192424"/>
                  <a:pt x="29604" y="192424"/>
                </a:cubicBezTo>
                <a:lnTo>
                  <a:pt x="96212" y="192424"/>
                </a:lnTo>
                <a:lnTo>
                  <a:pt x="88811" y="214627"/>
                </a:lnTo>
                <a:lnTo>
                  <a:pt x="55507" y="214627"/>
                </a:lnTo>
                <a:cubicBezTo>
                  <a:pt x="49355" y="214627"/>
                  <a:pt x="44406" y="219576"/>
                  <a:pt x="44406" y="225728"/>
                </a:cubicBezTo>
                <a:cubicBezTo>
                  <a:pt x="44406" y="231880"/>
                  <a:pt x="49355" y="236830"/>
                  <a:pt x="55507" y="236830"/>
                </a:cubicBezTo>
                <a:lnTo>
                  <a:pt x="181323" y="236830"/>
                </a:lnTo>
                <a:cubicBezTo>
                  <a:pt x="187475" y="236830"/>
                  <a:pt x="192424" y="231880"/>
                  <a:pt x="192424" y="225728"/>
                </a:cubicBezTo>
                <a:cubicBezTo>
                  <a:pt x="192424" y="219576"/>
                  <a:pt x="187475" y="214627"/>
                  <a:pt x="181323" y="214627"/>
                </a:cubicBezTo>
                <a:lnTo>
                  <a:pt x="148019" y="214627"/>
                </a:lnTo>
                <a:lnTo>
                  <a:pt x="140618" y="192424"/>
                </a:lnTo>
                <a:lnTo>
                  <a:pt x="207226" y="192424"/>
                </a:lnTo>
                <a:cubicBezTo>
                  <a:pt x="223554" y="192424"/>
                  <a:pt x="236830" y="179149"/>
                  <a:pt x="236830" y="162821"/>
                </a:cubicBezTo>
                <a:lnTo>
                  <a:pt x="236830" y="44406"/>
                </a:lnTo>
                <a:cubicBezTo>
                  <a:pt x="236830" y="28077"/>
                  <a:pt x="223554" y="14802"/>
                  <a:pt x="207226" y="14802"/>
                </a:cubicBezTo>
                <a:lnTo>
                  <a:pt x="29604" y="14802"/>
                </a:lnTo>
                <a:close/>
                <a:moveTo>
                  <a:pt x="44406" y="44406"/>
                </a:moveTo>
                <a:lnTo>
                  <a:pt x="192424" y="44406"/>
                </a:lnTo>
                <a:cubicBezTo>
                  <a:pt x="200612" y="44406"/>
                  <a:pt x="207226" y="51020"/>
                  <a:pt x="207226" y="59207"/>
                </a:cubicBezTo>
                <a:lnTo>
                  <a:pt x="207226" y="133217"/>
                </a:lnTo>
                <a:cubicBezTo>
                  <a:pt x="207226" y="141404"/>
                  <a:pt x="200612" y="148019"/>
                  <a:pt x="192424" y="148019"/>
                </a:cubicBezTo>
                <a:lnTo>
                  <a:pt x="44406" y="148019"/>
                </a:lnTo>
                <a:cubicBezTo>
                  <a:pt x="36218" y="148019"/>
                  <a:pt x="29604" y="141404"/>
                  <a:pt x="29604" y="133217"/>
                </a:cubicBezTo>
                <a:lnTo>
                  <a:pt x="29604" y="59207"/>
                </a:lnTo>
                <a:cubicBezTo>
                  <a:pt x="29604" y="51020"/>
                  <a:pt x="36218" y="44406"/>
                  <a:pt x="44406" y="44406"/>
                </a:cubicBezTo>
                <a:close/>
              </a:path>
            </a:pathLst>
          </a:custGeom>
          <a:solidFill>
            <a:srgbClr val="AD46FF"/>
          </a:solidFill>
          <a:ln/>
        </p:spPr>
      </p:sp>
      <p:sp>
        <p:nvSpPr>
          <p:cNvPr id="33" name="Text 31"/>
          <p:cNvSpPr/>
          <p:nvPr/>
        </p:nvSpPr>
        <p:spPr>
          <a:xfrm>
            <a:off x="1233883" y="5200783"/>
            <a:ext cx="1345193" cy="284196"/>
          </a:xfrm>
          <a:prstGeom prst="rect">
            <a:avLst/>
          </a:prstGeom>
          <a:noFill/>
          <a:ln/>
        </p:spPr>
        <p:txBody>
          <a:bodyPr wrap="square" lIns="0" tIns="0" rIns="0" bIns="0" rtlCol="0" anchor="ctr"/>
          <a:lstStyle/>
          <a:p>
            <a:pPr>
              <a:lnSpc>
                <a:spcPct val="130000"/>
              </a:lnSpc>
            </a:pPr>
            <a:r>
              <a:rPr lang="en-US" sz="1492" b="1" dirty="0">
                <a:solidFill>
                  <a:srgbClr val="1D293D"/>
                </a:solidFill>
                <a:latin typeface="Quattrocento Sans" pitchFamily="34" charset="0"/>
                <a:ea typeface="Quattrocento Sans" pitchFamily="34" charset="-122"/>
                <a:cs typeface="Quattrocento Sans" pitchFamily="34" charset="-120"/>
              </a:rPr>
              <a:t>Lab Computers</a:t>
            </a:r>
            <a:endParaRPr lang="en-US" sz="1600" dirty="0"/>
          </a:p>
        </p:txBody>
      </p:sp>
      <p:sp>
        <p:nvSpPr>
          <p:cNvPr id="34" name="Text 32"/>
          <p:cNvSpPr/>
          <p:nvPr/>
        </p:nvSpPr>
        <p:spPr>
          <a:xfrm>
            <a:off x="843114" y="5579711"/>
            <a:ext cx="3218517" cy="236830"/>
          </a:xfrm>
          <a:prstGeom prst="rect">
            <a:avLst/>
          </a:prstGeom>
          <a:noFill/>
          <a:ln/>
        </p:spPr>
        <p:txBody>
          <a:bodyPr wrap="square" lIns="0" tIns="0" rIns="0" bIns="0" rtlCol="0" anchor="ctr"/>
          <a:lstStyle/>
          <a:p>
            <a:pPr>
              <a:lnSpc>
                <a:spcPct val="120000"/>
              </a:lnSpc>
            </a:pPr>
            <a:r>
              <a:rPr lang="en-US" sz="1305" dirty="0">
                <a:solidFill>
                  <a:srgbClr val="45556C"/>
                </a:solidFill>
                <a:latin typeface="Quattrocento Sans" pitchFamily="34" charset="0"/>
                <a:ea typeface="Quattrocento Sans" pitchFamily="34" charset="-122"/>
                <a:cs typeface="Quattrocento Sans" pitchFamily="34" charset="-120"/>
              </a:rPr>
              <a:t>Standardized setup for all lab machines</a:t>
            </a:r>
            <a:endParaRPr lang="en-US" sz="1600" dirty="0"/>
          </a:p>
        </p:txBody>
      </p:sp>
      <p:sp>
        <p:nvSpPr>
          <p:cNvPr id="35" name="Shape 33"/>
          <p:cNvSpPr/>
          <p:nvPr/>
        </p:nvSpPr>
        <p:spPr>
          <a:xfrm>
            <a:off x="4357906" y="5011319"/>
            <a:ext cx="3514555" cy="1231515"/>
          </a:xfrm>
          <a:custGeom>
            <a:avLst/>
            <a:gdLst/>
            <a:ahLst/>
            <a:cxnLst/>
            <a:rect l="l" t="t" r="r" b="b"/>
            <a:pathLst>
              <a:path w="3514555" h="1231515">
                <a:moveTo>
                  <a:pt x="94728" y="0"/>
                </a:moveTo>
                <a:lnTo>
                  <a:pt x="3419827" y="0"/>
                </a:lnTo>
                <a:cubicBezTo>
                  <a:pt x="3472144" y="0"/>
                  <a:pt x="3514555" y="42411"/>
                  <a:pt x="3514555" y="94728"/>
                </a:cubicBezTo>
                <a:lnTo>
                  <a:pt x="3514555" y="1136787"/>
                </a:lnTo>
                <a:cubicBezTo>
                  <a:pt x="3514555" y="1189104"/>
                  <a:pt x="3472144" y="1231515"/>
                  <a:pt x="3419827" y="1231515"/>
                </a:cubicBezTo>
                <a:lnTo>
                  <a:pt x="94728" y="1231515"/>
                </a:lnTo>
                <a:cubicBezTo>
                  <a:pt x="42411" y="1231515"/>
                  <a:pt x="0" y="1189104"/>
                  <a:pt x="0" y="1136787"/>
                </a:cubicBezTo>
                <a:lnTo>
                  <a:pt x="0" y="94728"/>
                </a:lnTo>
                <a:cubicBezTo>
                  <a:pt x="0" y="42446"/>
                  <a:pt x="42446" y="0"/>
                  <a:pt x="94728" y="0"/>
                </a:cubicBezTo>
                <a:close/>
              </a:path>
            </a:pathLst>
          </a:custGeom>
          <a:solidFill>
            <a:srgbClr val="FFFFFF"/>
          </a:solidFill>
          <a:ln/>
          <a:effectLst>
            <a:outerShdw sx="100000" sy="100000" kx="0" ky="0" algn="bl" rotWithShape="0" blurRad="28420" dist="9473" dir="5400000">
              <a:srgbClr val="000000">
                <a:alpha val="10196"/>
              </a:srgbClr>
            </a:outerShdw>
          </a:effectLst>
        </p:spPr>
      </p:sp>
      <p:sp>
        <p:nvSpPr>
          <p:cNvPr id="36" name="Shape 34"/>
          <p:cNvSpPr/>
          <p:nvPr/>
        </p:nvSpPr>
        <p:spPr>
          <a:xfrm>
            <a:off x="4546185" y="5224466"/>
            <a:ext cx="296037" cy="236830"/>
          </a:xfrm>
          <a:custGeom>
            <a:avLst/>
            <a:gdLst/>
            <a:ahLst/>
            <a:cxnLst/>
            <a:rect l="l" t="t" r="r" b="b"/>
            <a:pathLst>
              <a:path w="296037" h="236830">
                <a:moveTo>
                  <a:pt x="59207" y="44406"/>
                </a:moveTo>
                <a:cubicBezTo>
                  <a:pt x="59207" y="28077"/>
                  <a:pt x="72483" y="14802"/>
                  <a:pt x="88811" y="14802"/>
                </a:cubicBezTo>
                <a:lnTo>
                  <a:pt x="251632" y="14802"/>
                </a:lnTo>
                <a:cubicBezTo>
                  <a:pt x="267960" y="14802"/>
                  <a:pt x="281235" y="28077"/>
                  <a:pt x="281235" y="44406"/>
                </a:cubicBezTo>
                <a:lnTo>
                  <a:pt x="281235" y="155420"/>
                </a:lnTo>
                <a:lnTo>
                  <a:pt x="236830" y="155420"/>
                </a:lnTo>
                <a:lnTo>
                  <a:pt x="236830" y="148019"/>
                </a:lnTo>
                <a:cubicBezTo>
                  <a:pt x="236830" y="139831"/>
                  <a:pt x="230215" y="133217"/>
                  <a:pt x="222028" y="133217"/>
                </a:cubicBezTo>
                <a:lnTo>
                  <a:pt x="192424" y="133217"/>
                </a:lnTo>
                <a:cubicBezTo>
                  <a:pt x="184237" y="133217"/>
                  <a:pt x="177622" y="139831"/>
                  <a:pt x="177622" y="148019"/>
                </a:cubicBezTo>
                <a:lnTo>
                  <a:pt x="177622" y="155420"/>
                </a:lnTo>
                <a:lnTo>
                  <a:pt x="117906" y="155420"/>
                </a:lnTo>
                <a:cubicBezTo>
                  <a:pt x="122948" y="146723"/>
                  <a:pt x="125816" y="136593"/>
                  <a:pt x="125816" y="125816"/>
                </a:cubicBezTo>
                <a:cubicBezTo>
                  <a:pt x="125816" y="93113"/>
                  <a:pt x="99311" y="66608"/>
                  <a:pt x="66608" y="66608"/>
                </a:cubicBezTo>
                <a:cubicBezTo>
                  <a:pt x="64111" y="66608"/>
                  <a:pt x="61613" y="66747"/>
                  <a:pt x="59207" y="67071"/>
                </a:cubicBezTo>
                <a:lnTo>
                  <a:pt x="59207" y="44406"/>
                </a:lnTo>
                <a:close/>
                <a:moveTo>
                  <a:pt x="154032" y="207226"/>
                </a:moveTo>
                <a:cubicBezTo>
                  <a:pt x="151673" y="196032"/>
                  <a:pt x="146492" y="185902"/>
                  <a:pt x="139184" y="177622"/>
                </a:cubicBezTo>
                <a:lnTo>
                  <a:pt x="281235" y="177622"/>
                </a:lnTo>
                <a:cubicBezTo>
                  <a:pt x="281235" y="193951"/>
                  <a:pt x="267960" y="207226"/>
                  <a:pt x="251632" y="207226"/>
                </a:cubicBezTo>
                <a:lnTo>
                  <a:pt x="154032" y="207226"/>
                </a:lnTo>
                <a:close/>
                <a:moveTo>
                  <a:pt x="29604" y="125816"/>
                </a:moveTo>
                <a:cubicBezTo>
                  <a:pt x="29604" y="105392"/>
                  <a:pt x="46185" y="88811"/>
                  <a:pt x="66608" y="88811"/>
                </a:cubicBezTo>
                <a:cubicBezTo>
                  <a:pt x="87032" y="88811"/>
                  <a:pt x="103613" y="105392"/>
                  <a:pt x="103613" y="125816"/>
                </a:cubicBezTo>
                <a:cubicBezTo>
                  <a:pt x="103613" y="146239"/>
                  <a:pt x="87032" y="162821"/>
                  <a:pt x="66608" y="162821"/>
                </a:cubicBezTo>
                <a:cubicBezTo>
                  <a:pt x="46185" y="162821"/>
                  <a:pt x="29604" y="146239"/>
                  <a:pt x="29604" y="125816"/>
                </a:cubicBezTo>
                <a:close/>
                <a:moveTo>
                  <a:pt x="0" y="222028"/>
                </a:moveTo>
                <a:cubicBezTo>
                  <a:pt x="0" y="197512"/>
                  <a:pt x="19890" y="177622"/>
                  <a:pt x="44406" y="177622"/>
                </a:cubicBezTo>
                <a:lnTo>
                  <a:pt x="88811" y="177622"/>
                </a:lnTo>
                <a:cubicBezTo>
                  <a:pt x="113327" y="177622"/>
                  <a:pt x="133217" y="197512"/>
                  <a:pt x="133217" y="222028"/>
                </a:cubicBezTo>
                <a:cubicBezTo>
                  <a:pt x="133217" y="230215"/>
                  <a:pt x="126602" y="236830"/>
                  <a:pt x="118415" y="236830"/>
                </a:cubicBezTo>
                <a:lnTo>
                  <a:pt x="14802" y="236830"/>
                </a:lnTo>
                <a:cubicBezTo>
                  <a:pt x="6615" y="236830"/>
                  <a:pt x="0" y="230215"/>
                  <a:pt x="0" y="222028"/>
                </a:cubicBezTo>
                <a:close/>
              </a:path>
            </a:pathLst>
          </a:custGeom>
          <a:solidFill>
            <a:srgbClr val="AD46FF"/>
          </a:solidFill>
          <a:ln/>
        </p:spPr>
      </p:sp>
      <p:sp>
        <p:nvSpPr>
          <p:cNvPr id="37" name="Text 35"/>
          <p:cNvSpPr/>
          <p:nvPr/>
        </p:nvSpPr>
        <p:spPr>
          <a:xfrm>
            <a:off x="4938139" y="5200783"/>
            <a:ext cx="1326247" cy="284196"/>
          </a:xfrm>
          <a:prstGeom prst="rect">
            <a:avLst/>
          </a:prstGeom>
          <a:noFill/>
          <a:ln/>
        </p:spPr>
        <p:txBody>
          <a:bodyPr wrap="square" lIns="0" tIns="0" rIns="0" bIns="0" rtlCol="0" anchor="ctr"/>
          <a:lstStyle/>
          <a:p>
            <a:pPr>
              <a:lnSpc>
                <a:spcPct val="130000"/>
              </a:lnSpc>
            </a:pPr>
            <a:r>
              <a:rPr lang="en-US" sz="1492" b="1" dirty="0">
                <a:solidFill>
                  <a:srgbClr val="1D293D"/>
                </a:solidFill>
                <a:latin typeface="Quattrocento Sans" pitchFamily="34" charset="0"/>
                <a:ea typeface="Quattrocento Sans" pitchFamily="34" charset="-122"/>
                <a:cs typeface="Quattrocento Sans" pitchFamily="34" charset="-120"/>
              </a:rPr>
              <a:t>Classroom Use</a:t>
            </a:r>
            <a:endParaRPr lang="en-US" sz="1600" dirty="0"/>
          </a:p>
        </p:txBody>
      </p:sp>
      <p:sp>
        <p:nvSpPr>
          <p:cNvPr id="38" name="Text 36"/>
          <p:cNvSpPr/>
          <p:nvPr/>
        </p:nvSpPr>
        <p:spPr>
          <a:xfrm>
            <a:off x="4547370" y="5579711"/>
            <a:ext cx="3218517" cy="236830"/>
          </a:xfrm>
          <a:prstGeom prst="rect">
            <a:avLst/>
          </a:prstGeom>
          <a:noFill/>
          <a:ln/>
        </p:spPr>
        <p:txBody>
          <a:bodyPr wrap="square" lIns="0" tIns="0" rIns="0" bIns="0" rtlCol="0" anchor="ctr"/>
          <a:lstStyle/>
          <a:p>
            <a:pPr>
              <a:lnSpc>
                <a:spcPct val="120000"/>
              </a:lnSpc>
            </a:pPr>
            <a:r>
              <a:rPr lang="en-US" sz="1305" dirty="0">
                <a:solidFill>
                  <a:srgbClr val="45556C"/>
                </a:solidFill>
                <a:latin typeface="Quattrocento Sans" pitchFamily="34" charset="0"/>
                <a:ea typeface="Quattrocento Sans" pitchFamily="34" charset="-122"/>
                <a:cs typeface="Quattrocento Sans" pitchFamily="34" charset="-120"/>
              </a:rPr>
              <a:t>Consistent environment for students</a:t>
            </a:r>
            <a:endParaRPr lang="en-US" sz="1600" dirty="0"/>
          </a:p>
        </p:txBody>
      </p:sp>
      <p:sp>
        <p:nvSpPr>
          <p:cNvPr id="39" name="Shape 37"/>
          <p:cNvSpPr/>
          <p:nvPr/>
        </p:nvSpPr>
        <p:spPr>
          <a:xfrm>
            <a:off x="8062280" y="5011319"/>
            <a:ext cx="3514555" cy="1231515"/>
          </a:xfrm>
          <a:custGeom>
            <a:avLst/>
            <a:gdLst/>
            <a:ahLst/>
            <a:cxnLst/>
            <a:rect l="l" t="t" r="r" b="b"/>
            <a:pathLst>
              <a:path w="3514555" h="1231515">
                <a:moveTo>
                  <a:pt x="94728" y="0"/>
                </a:moveTo>
                <a:lnTo>
                  <a:pt x="3419827" y="0"/>
                </a:lnTo>
                <a:cubicBezTo>
                  <a:pt x="3472144" y="0"/>
                  <a:pt x="3514555" y="42411"/>
                  <a:pt x="3514555" y="94728"/>
                </a:cubicBezTo>
                <a:lnTo>
                  <a:pt x="3514555" y="1136787"/>
                </a:lnTo>
                <a:cubicBezTo>
                  <a:pt x="3514555" y="1189104"/>
                  <a:pt x="3472144" y="1231515"/>
                  <a:pt x="3419827" y="1231515"/>
                </a:cubicBezTo>
                <a:lnTo>
                  <a:pt x="94728" y="1231515"/>
                </a:lnTo>
                <a:cubicBezTo>
                  <a:pt x="42411" y="1231515"/>
                  <a:pt x="0" y="1189104"/>
                  <a:pt x="0" y="1136787"/>
                </a:cubicBezTo>
                <a:lnTo>
                  <a:pt x="0" y="94728"/>
                </a:lnTo>
                <a:cubicBezTo>
                  <a:pt x="0" y="42446"/>
                  <a:pt x="42446" y="0"/>
                  <a:pt x="94728" y="0"/>
                </a:cubicBezTo>
                <a:close/>
              </a:path>
            </a:pathLst>
          </a:custGeom>
          <a:solidFill>
            <a:srgbClr val="FFFFFF"/>
          </a:solidFill>
          <a:ln/>
          <a:effectLst>
            <a:outerShdw sx="100000" sy="100000" kx="0" ky="0" algn="bl" rotWithShape="0" blurRad="28420" dist="9473" dir="5400000">
              <a:srgbClr val="000000">
                <a:alpha val="10196"/>
              </a:srgbClr>
            </a:outerShdw>
          </a:effectLst>
        </p:spPr>
      </p:sp>
      <p:sp>
        <p:nvSpPr>
          <p:cNvPr id="40" name="Shape 38"/>
          <p:cNvSpPr/>
          <p:nvPr/>
        </p:nvSpPr>
        <p:spPr>
          <a:xfrm>
            <a:off x="8280163" y="5224466"/>
            <a:ext cx="236830" cy="236830"/>
          </a:xfrm>
          <a:custGeom>
            <a:avLst/>
            <a:gdLst/>
            <a:ahLst/>
            <a:cxnLst/>
            <a:rect l="l" t="t" r="r" b="b"/>
            <a:pathLst>
              <a:path w="236830" h="236830">
                <a:moveTo>
                  <a:pt x="0" y="37005"/>
                </a:moveTo>
                <a:cubicBezTo>
                  <a:pt x="0" y="24747"/>
                  <a:pt x="9945" y="14802"/>
                  <a:pt x="22203" y="14802"/>
                </a:cubicBezTo>
                <a:lnTo>
                  <a:pt x="66608" y="14802"/>
                </a:lnTo>
                <a:cubicBezTo>
                  <a:pt x="78866" y="14802"/>
                  <a:pt x="88811" y="24747"/>
                  <a:pt x="88811" y="37005"/>
                </a:cubicBezTo>
                <a:lnTo>
                  <a:pt x="88811" y="44406"/>
                </a:lnTo>
                <a:lnTo>
                  <a:pt x="148019" y="44406"/>
                </a:lnTo>
                <a:lnTo>
                  <a:pt x="148019" y="37005"/>
                </a:lnTo>
                <a:cubicBezTo>
                  <a:pt x="148019" y="24747"/>
                  <a:pt x="157964" y="14802"/>
                  <a:pt x="170221" y="14802"/>
                </a:cubicBezTo>
                <a:lnTo>
                  <a:pt x="214627" y="14802"/>
                </a:lnTo>
                <a:cubicBezTo>
                  <a:pt x="226885" y="14802"/>
                  <a:pt x="236830" y="24747"/>
                  <a:pt x="236830" y="37005"/>
                </a:cubicBezTo>
                <a:lnTo>
                  <a:pt x="236830" y="81410"/>
                </a:lnTo>
                <a:cubicBezTo>
                  <a:pt x="236830" y="93668"/>
                  <a:pt x="226885" y="103613"/>
                  <a:pt x="214627" y="103613"/>
                </a:cubicBezTo>
                <a:lnTo>
                  <a:pt x="170221" y="103613"/>
                </a:lnTo>
                <a:cubicBezTo>
                  <a:pt x="157964" y="103613"/>
                  <a:pt x="148019" y="93668"/>
                  <a:pt x="148019" y="81410"/>
                </a:cubicBezTo>
                <a:lnTo>
                  <a:pt x="148019" y="74009"/>
                </a:lnTo>
                <a:lnTo>
                  <a:pt x="88811" y="74009"/>
                </a:lnTo>
                <a:lnTo>
                  <a:pt x="88811" y="81410"/>
                </a:lnTo>
                <a:cubicBezTo>
                  <a:pt x="88811" y="84787"/>
                  <a:pt x="88025" y="88025"/>
                  <a:pt x="86683" y="90893"/>
                </a:cubicBezTo>
                <a:lnTo>
                  <a:pt x="118415" y="133217"/>
                </a:lnTo>
                <a:lnTo>
                  <a:pt x="155420" y="133217"/>
                </a:lnTo>
                <a:cubicBezTo>
                  <a:pt x="167677" y="133217"/>
                  <a:pt x="177622" y="143162"/>
                  <a:pt x="177622" y="155420"/>
                </a:cubicBezTo>
                <a:lnTo>
                  <a:pt x="177622" y="199825"/>
                </a:lnTo>
                <a:cubicBezTo>
                  <a:pt x="177622" y="212083"/>
                  <a:pt x="167677" y="222028"/>
                  <a:pt x="155420" y="222028"/>
                </a:cubicBezTo>
                <a:lnTo>
                  <a:pt x="111014" y="222028"/>
                </a:lnTo>
                <a:cubicBezTo>
                  <a:pt x="98756" y="222028"/>
                  <a:pt x="88811" y="212083"/>
                  <a:pt x="88811" y="199825"/>
                </a:cubicBezTo>
                <a:lnTo>
                  <a:pt x="88811" y="155420"/>
                </a:lnTo>
                <a:cubicBezTo>
                  <a:pt x="88811" y="152043"/>
                  <a:pt x="89598" y="148805"/>
                  <a:pt x="90939" y="145937"/>
                </a:cubicBezTo>
                <a:lnTo>
                  <a:pt x="59207" y="103613"/>
                </a:lnTo>
                <a:lnTo>
                  <a:pt x="22203" y="103613"/>
                </a:lnTo>
                <a:cubicBezTo>
                  <a:pt x="9945" y="103613"/>
                  <a:pt x="0" y="93668"/>
                  <a:pt x="0" y="81410"/>
                </a:cubicBezTo>
                <a:lnTo>
                  <a:pt x="0" y="37005"/>
                </a:lnTo>
                <a:close/>
              </a:path>
            </a:pathLst>
          </a:custGeom>
          <a:solidFill>
            <a:srgbClr val="AD46FF"/>
          </a:solidFill>
          <a:ln/>
        </p:spPr>
      </p:sp>
      <p:sp>
        <p:nvSpPr>
          <p:cNvPr id="41" name="Text 39"/>
          <p:cNvSpPr/>
          <p:nvPr/>
        </p:nvSpPr>
        <p:spPr>
          <a:xfrm>
            <a:off x="8642513" y="5200783"/>
            <a:ext cx="1174676" cy="284196"/>
          </a:xfrm>
          <a:prstGeom prst="rect">
            <a:avLst/>
          </a:prstGeom>
          <a:noFill/>
          <a:ln/>
        </p:spPr>
        <p:txBody>
          <a:bodyPr wrap="square" lIns="0" tIns="0" rIns="0" bIns="0" rtlCol="0" anchor="ctr"/>
          <a:lstStyle/>
          <a:p>
            <a:pPr>
              <a:lnSpc>
                <a:spcPct val="130000"/>
              </a:lnSpc>
            </a:pPr>
            <a:r>
              <a:rPr lang="en-US" sz="1492" b="1" dirty="0">
                <a:solidFill>
                  <a:srgbClr val="1D293D"/>
                </a:solidFill>
                <a:latin typeface="Quattrocento Sans" pitchFamily="34" charset="0"/>
                <a:ea typeface="Quattrocento Sans" pitchFamily="34" charset="-122"/>
                <a:cs typeface="Quattrocento Sans" pitchFamily="34" charset="-120"/>
              </a:rPr>
              <a:t>Project Work</a:t>
            </a:r>
            <a:endParaRPr lang="en-US" sz="1600" dirty="0"/>
          </a:p>
        </p:txBody>
      </p:sp>
      <p:sp>
        <p:nvSpPr>
          <p:cNvPr id="42" name="Text 40"/>
          <p:cNvSpPr/>
          <p:nvPr/>
        </p:nvSpPr>
        <p:spPr>
          <a:xfrm>
            <a:off x="8251744" y="5579711"/>
            <a:ext cx="3218517" cy="473660"/>
          </a:xfrm>
          <a:prstGeom prst="rect">
            <a:avLst/>
          </a:prstGeom>
          <a:noFill/>
          <a:ln/>
        </p:spPr>
        <p:txBody>
          <a:bodyPr wrap="square" lIns="0" tIns="0" rIns="0" bIns="0" rtlCol="0" anchor="ctr"/>
          <a:lstStyle/>
          <a:p>
            <a:pPr>
              <a:lnSpc>
                <a:spcPct val="120000"/>
              </a:lnSpc>
            </a:pPr>
            <a:r>
              <a:rPr lang="en-US" sz="1305" dirty="0">
                <a:solidFill>
                  <a:srgbClr val="45556C"/>
                </a:solidFill>
                <a:latin typeface="Quattrocento Sans" pitchFamily="34" charset="0"/>
                <a:ea typeface="Quattrocento Sans" pitchFamily="34" charset="-122"/>
                <a:cs typeface="Quattrocento Sans" pitchFamily="34" charset="-120"/>
              </a:rPr>
              <a:t>Easy environment sharing for group projects</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3437" y="918693"/>
            <a:ext cx="4584879" cy="34344"/>
          </a:xfrm>
          <a:custGeom>
            <a:avLst/>
            <a:gdLst/>
            <a:ahLst/>
            <a:cxnLst/>
            <a:rect l="l" t="t" r="r" b="b"/>
            <a:pathLst>
              <a:path w="4584879" h="34344">
                <a:moveTo>
                  <a:pt x="0" y="0"/>
                </a:moveTo>
                <a:lnTo>
                  <a:pt x="4584879" y="0"/>
                </a:lnTo>
                <a:lnTo>
                  <a:pt x="4584879" y="34344"/>
                </a:lnTo>
                <a:lnTo>
                  <a:pt x="0" y="34344"/>
                </a:lnTo>
                <a:lnTo>
                  <a:pt x="0" y="0"/>
                </a:lnTo>
                <a:close/>
              </a:path>
            </a:pathLst>
          </a:custGeom>
          <a:solidFill>
            <a:srgbClr val="2B7FFF"/>
          </a:solidFill>
          <a:ln/>
        </p:spPr>
      </p:sp>
      <p:sp>
        <p:nvSpPr>
          <p:cNvPr id="3" name="Text 1"/>
          <p:cNvSpPr/>
          <p:nvPr/>
        </p:nvSpPr>
        <p:spPr>
          <a:xfrm>
            <a:off x="343437" y="343437"/>
            <a:ext cx="4778062" cy="558085"/>
          </a:xfrm>
          <a:prstGeom prst="rect">
            <a:avLst/>
          </a:prstGeom>
          <a:noFill/>
          <a:ln/>
        </p:spPr>
        <p:txBody>
          <a:bodyPr wrap="square" lIns="0" tIns="0" rIns="0" bIns="128789" rtlCol="0" anchor="ctr"/>
          <a:lstStyle/>
          <a:p>
            <a:pPr>
              <a:lnSpc>
                <a:spcPct val="90000"/>
              </a:lnSpc>
            </a:pPr>
            <a:r>
              <a:rPr lang="en-US" sz="3042" b="1" dirty="0">
                <a:solidFill>
                  <a:srgbClr val="1D293D"/>
                </a:solidFill>
                <a:latin typeface="Quattrocento Sans" pitchFamily="34" charset="0"/>
                <a:ea typeface="Quattrocento Sans" pitchFamily="34" charset="-122"/>
                <a:cs typeface="Quattrocento Sans" pitchFamily="34" charset="-120"/>
              </a:rPr>
              <a:t>Advantages and Limitations</a:t>
            </a:r>
            <a:endParaRPr lang="en-US" sz="1600" dirty="0"/>
          </a:p>
        </p:txBody>
      </p:sp>
      <p:sp>
        <p:nvSpPr>
          <p:cNvPr id="4" name="Shape 2"/>
          <p:cNvSpPr/>
          <p:nvPr/>
        </p:nvSpPr>
        <p:spPr>
          <a:xfrm>
            <a:off x="343437" y="1193442"/>
            <a:ext cx="5623775" cy="5323268"/>
          </a:xfrm>
          <a:custGeom>
            <a:avLst/>
            <a:gdLst/>
            <a:ahLst/>
            <a:cxnLst/>
            <a:rect l="l" t="t" r="r" b="b"/>
            <a:pathLst>
              <a:path w="5623775" h="5323268">
                <a:moveTo>
                  <a:pt x="85864" y="0"/>
                </a:moveTo>
                <a:lnTo>
                  <a:pt x="5537910" y="0"/>
                </a:lnTo>
                <a:cubicBezTo>
                  <a:pt x="5585332" y="0"/>
                  <a:pt x="5623775" y="38443"/>
                  <a:pt x="5623775" y="85864"/>
                </a:cubicBezTo>
                <a:lnTo>
                  <a:pt x="5623775" y="5237403"/>
                </a:lnTo>
                <a:cubicBezTo>
                  <a:pt x="5623775" y="5284825"/>
                  <a:pt x="5585332" y="5323268"/>
                  <a:pt x="5537910" y="5323268"/>
                </a:cubicBezTo>
                <a:lnTo>
                  <a:pt x="85864" y="5323268"/>
                </a:lnTo>
                <a:cubicBezTo>
                  <a:pt x="38443" y="5323268"/>
                  <a:pt x="0" y="5284825"/>
                  <a:pt x="0" y="5237403"/>
                </a:cubicBezTo>
                <a:lnTo>
                  <a:pt x="0" y="85864"/>
                </a:lnTo>
                <a:cubicBezTo>
                  <a:pt x="0" y="38475"/>
                  <a:pt x="38475" y="0"/>
                  <a:pt x="85864" y="0"/>
                </a:cubicBezTo>
                <a:close/>
              </a:path>
            </a:pathLst>
          </a:custGeom>
          <a:gradFill rotWithShape="1" flip="none">
            <a:gsLst>
              <a:gs pos="0">
                <a:srgbClr val="F0FDF4"/>
              </a:gs>
              <a:gs pos="100000">
                <a:srgbClr val="DCFCE7"/>
              </a:gs>
            </a:gsLst>
            <a:lin ang="2700000" scaled="1"/>
          </a:gradFill>
          <a:ln/>
        </p:spPr>
      </p:sp>
      <p:sp>
        <p:nvSpPr>
          <p:cNvPr id="5" name="Shape 3"/>
          <p:cNvSpPr/>
          <p:nvPr/>
        </p:nvSpPr>
        <p:spPr>
          <a:xfrm>
            <a:off x="558085" y="1408090"/>
            <a:ext cx="601014" cy="601014"/>
          </a:xfrm>
          <a:custGeom>
            <a:avLst/>
            <a:gdLst/>
            <a:ahLst/>
            <a:cxnLst/>
            <a:rect l="l" t="t" r="r" b="b"/>
            <a:pathLst>
              <a:path w="601014" h="601014">
                <a:moveTo>
                  <a:pt x="300507" y="0"/>
                </a:moveTo>
                <a:lnTo>
                  <a:pt x="300507" y="0"/>
                </a:lnTo>
                <a:cubicBezTo>
                  <a:pt x="466361" y="0"/>
                  <a:pt x="601014" y="134653"/>
                  <a:pt x="601014" y="300507"/>
                </a:cubicBezTo>
                <a:lnTo>
                  <a:pt x="601014" y="300507"/>
                </a:lnTo>
                <a:cubicBezTo>
                  <a:pt x="601014" y="466361"/>
                  <a:pt x="466361" y="601014"/>
                  <a:pt x="300507" y="601014"/>
                </a:cubicBezTo>
                <a:lnTo>
                  <a:pt x="300507" y="601014"/>
                </a:lnTo>
                <a:cubicBezTo>
                  <a:pt x="134653" y="601014"/>
                  <a:pt x="0" y="466361"/>
                  <a:pt x="0" y="300507"/>
                </a:cubicBezTo>
                <a:lnTo>
                  <a:pt x="0" y="300507"/>
                </a:lnTo>
                <a:cubicBezTo>
                  <a:pt x="0" y="134653"/>
                  <a:pt x="134653" y="0"/>
                  <a:pt x="300507" y="0"/>
                </a:cubicBezTo>
                <a:close/>
              </a:path>
            </a:pathLst>
          </a:custGeom>
          <a:solidFill>
            <a:srgbClr val="00C950"/>
          </a:solidFill>
          <a:ln/>
        </p:spPr>
      </p:sp>
      <p:sp>
        <p:nvSpPr>
          <p:cNvPr id="6" name="Shape 4"/>
          <p:cNvSpPr/>
          <p:nvPr/>
        </p:nvSpPr>
        <p:spPr>
          <a:xfrm>
            <a:off x="731949" y="1579808"/>
            <a:ext cx="257577" cy="257577"/>
          </a:xfrm>
          <a:custGeom>
            <a:avLst/>
            <a:gdLst/>
            <a:ahLst/>
            <a:cxnLst/>
            <a:rect l="l" t="t" r="r" b="b"/>
            <a:pathLst>
              <a:path w="257577" h="257577">
                <a:moveTo>
                  <a:pt x="40246" y="80493"/>
                </a:moveTo>
                <a:cubicBezTo>
                  <a:pt x="49151" y="80493"/>
                  <a:pt x="56345" y="87687"/>
                  <a:pt x="56345" y="96592"/>
                </a:cubicBezTo>
                <a:lnTo>
                  <a:pt x="56345" y="225380"/>
                </a:lnTo>
                <a:cubicBezTo>
                  <a:pt x="56345" y="234285"/>
                  <a:pt x="49151" y="241479"/>
                  <a:pt x="40246" y="241479"/>
                </a:cubicBezTo>
                <a:lnTo>
                  <a:pt x="16099" y="241479"/>
                </a:lnTo>
                <a:cubicBezTo>
                  <a:pt x="7194" y="241479"/>
                  <a:pt x="0" y="234285"/>
                  <a:pt x="0" y="225380"/>
                </a:cubicBezTo>
                <a:lnTo>
                  <a:pt x="0" y="96592"/>
                </a:lnTo>
                <a:cubicBezTo>
                  <a:pt x="0" y="87687"/>
                  <a:pt x="7194" y="80493"/>
                  <a:pt x="16099" y="80493"/>
                </a:cubicBezTo>
                <a:lnTo>
                  <a:pt x="40246" y="80493"/>
                </a:lnTo>
                <a:close/>
                <a:moveTo>
                  <a:pt x="136134" y="8049"/>
                </a:moveTo>
                <a:cubicBezTo>
                  <a:pt x="149868" y="8049"/>
                  <a:pt x="160986" y="19167"/>
                  <a:pt x="160986" y="32901"/>
                </a:cubicBezTo>
                <a:lnTo>
                  <a:pt x="160986" y="35014"/>
                </a:lnTo>
                <a:cubicBezTo>
                  <a:pt x="160986" y="38435"/>
                  <a:pt x="160332" y="41856"/>
                  <a:pt x="159074" y="45026"/>
                </a:cubicBezTo>
                <a:lnTo>
                  <a:pt x="144887" y="80493"/>
                </a:lnTo>
                <a:lnTo>
                  <a:pt x="225380" y="80493"/>
                </a:lnTo>
                <a:cubicBezTo>
                  <a:pt x="238712" y="80493"/>
                  <a:pt x="249528" y="91309"/>
                  <a:pt x="249528" y="104641"/>
                </a:cubicBezTo>
                <a:cubicBezTo>
                  <a:pt x="249528" y="114552"/>
                  <a:pt x="243542" y="123054"/>
                  <a:pt x="234989" y="126776"/>
                </a:cubicBezTo>
                <a:cubicBezTo>
                  <a:pt x="243542" y="130499"/>
                  <a:pt x="249528" y="139001"/>
                  <a:pt x="249528" y="148912"/>
                </a:cubicBezTo>
                <a:cubicBezTo>
                  <a:pt x="249528" y="160684"/>
                  <a:pt x="241076" y="170494"/>
                  <a:pt x="229908" y="172607"/>
                </a:cubicBezTo>
                <a:cubicBezTo>
                  <a:pt x="232122" y="176280"/>
                  <a:pt x="233430" y="180556"/>
                  <a:pt x="233430" y="185134"/>
                </a:cubicBezTo>
                <a:cubicBezTo>
                  <a:pt x="233430" y="196302"/>
                  <a:pt x="225883" y="205660"/>
                  <a:pt x="215621" y="208426"/>
                </a:cubicBezTo>
                <a:cubicBezTo>
                  <a:pt x="216727" y="211193"/>
                  <a:pt x="217331" y="214212"/>
                  <a:pt x="217331" y="217331"/>
                </a:cubicBezTo>
                <a:cubicBezTo>
                  <a:pt x="217331" y="230663"/>
                  <a:pt x="206515" y="241479"/>
                  <a:pt x="193183" y="241479"/>
                </a:cubicBezTo>
                <a:lnTo>
                  <a:pt x="148962" y="241479"/>
                </a:lnTo>
                <a:cubicBezTo>
                  <a:pt x="130700" y="241479"/>
                  <a:pt x="112942" y="235241"/>
                  <a:pt x="98704" y="223821"/>
                </a:cubicBezTo>
                <a:lnTo>
                  <a:pt x="92567" y="218941"/>
                </a:lnTo>
                <a:cubicBezTo>
                  <a:pt x="84920" y="212854"/>
                  <a:pt x="80493" y="203597"/>
                  <a:pt x="80493" y="193787"/>
                </a:cubicBezTo>
                <a:lnTo>
                  <a:pt x="80493" y="99912"/>
                </a:lnTo>
                <a:cubicBezTo>
                  <a:pt x="80493" y="92416"/>
                  <a:pt x="82254" y="85021"/>
                  <a:pt x="85574" y="78330"/>
                </a:cubicBezTo>
                <a:lnTo>
                  <a:pt x="113847" y="21783"/>
                </a:lnTo>
                <a:cubicBezTo>
                  <a:pt x="118073" y="13382"/>
                  <a:pt x="126676" y="8049"/>
                  <a:pt x="136134" y="8049"/>
                </a:cubicBezTo>
                <a:close/>
              </a:path>
            </a:pathLst>
          </a:custGeom>
          <a:solidFill>
            <a:srgbClr val="FFFFFF"/>
          </a:solidFill>
          <a:ln/>
        </p:spPr>
      </p:sp>
      <p:sp>
        <p:nvSpPr>
          <p:cNvPr id="7" name="Text 5"/>
          <p:cNvSpPr/>
          <p:nvPr/>
        </p:nvSpPr>
        <p:spPr>
          <a:xfrm>
            <a:off x="1287887" y="1536879"/>
            <a:ext cx="1433848" cy="343437"/>
          </a:xfrm>
          <a:prstGeom prst="rect">
            <a:avLst/>
          </a:prstGeom>
          <a:noFill/>
          <a:ln/>
        </p:spPr>
        <p:txBody>
          <a:bodyPr wrap="square" lIns="0" tIns="0" rIns="0" bIns="0" rtlCol="0" anchor="ctr"/>
          <a:lstStyle/>
          <a:p>
            <a:pPr>
              <a:lnSpc>
                <a:spcPct val="110000"/>
              </a:lnSpc>
            </a:pPr>
            <a:r>
              <a:rPr lang="en-US" sz="2028" b="1" dirty="0">
                <a:solidFill>
                  <a:srgbClr val="1D293D"/>
                </a:solidFill>
                <a:latin typeface="Quattrocento Sans" pitchFamily="34" charset="0"/>
                <a:ea typeface="Quattrocento Sans" pitchFamily="34" charset="-122"/>
                <a:cs typeface="Quattrocento Sans" pitchFamily="34" charset="-120"/>
              </a:rPr>
              <a:t>Advantages</a:t>
            </a:r>
            <a:endParaRPr lang="en-US" sz="1600" dirty="0"/>
          </a:p>
        </p:txBody>
      </p:sp>
      <p:sp>
        <p:nvSpPr>
          <p:cNvPr id="8" name="Shape 6"/>
          <p:cNvSpPr/>
          <p:nvPr/>
        </p:nvSpPr>
        <p:spPr>
          <a:xfrm>
            <a:off x="558085" y="2223752"/>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9" name="Shape 7"/>
          <p:cNvSpPr/>
          <p:nvPr/>
        </p:nvSpPr>
        <p:spPr>
          <a:xfrm>
            <a:off x="755561" y="2438400"/>
            <a:ext cx="214648" cy="214648"/>
          </a:xfrm>
          <a:custGeom>
            <a:avLst/>
            <a:gdLst/>
            <a:ahLst/>
            <a:cxnLst/>
            <a:rect l="l" t="t" r="r" b="b"/>
            <a:pathLst>
              <a:path w="214648" h="214648">
                <a:moveTo>
                  <a:pt x="199262" y="42"/>
                </a:moveTo>
                <a:cubicBezTo>
                  <a:pt x="203412" y="-293"/>
                  <a:pt x="207479" y="1300"/>
                  <a:pt x="210414" y="4234"/>
                </a:cubicBezTo>
                <a:cubicBezTo>
                  <a:pt x="213348" y="7169"/>
                  <a:pt x="214941" y="11235"/>
                  <a:pt x="214606" y="15386"/>
                </a:cubicBezTo>
                <a:cubicBezTo>
                  <a:pt x="212929" y="36054"/>
                  <a:pt x="207311" y="68293"/>
                  <a:pt x="195195" y="99107"/>
                </a:cubicBezTo>
                <a:cubicBezTo>
                  <a:pt x="194441" y="100994"/>
                  <a:pt x="192890" y="102419"/>
                  <a:pt x="190919" y="103006"/>
                </a:cubicBezTo>
                <a:lnTo>
                  <a:pt x="157003" y="113193"/>
                </a:lnTo>
                <a:cubicBezTo>
                  <a:pt x="155368" y="113696"/>
                  <a:pt x="154278" y="115164"/>
                  <a:pt x="154278" y="116882"/>
                </a:cubicBezTo>
                <a:cubicBezTo>
                  <a:pt x="154278" y="119021"/>
                  <a:pt x="155997" y="120739"/>
                  <a:pt x="158135" y="120739"/>
                </a:cubicBezTo>
                <a:lnTo>
                  <a:pt x="174318" y="120739"/>
                </a:lnTo>
                <a:cubicBezTo>
                  <a:pt x="179348" y="120739"/>
                  <a:pt x="182576" y="126106"/>
                  <a:pt x="179977" y="130424"/>
                </a:cubicBezTo>
                <a:cubicBezTo>
                  <a:pt x="178300" y="133233"/>
                  <a:pt x="176498" y="135958"/>
                  <a:pt x="174653" y="138641"/>
                </a:cubicBezTo>
                <a:cubicBezTo>
                  <a:pt x="173814" y="139857"/>
                  <a:pt x="172557" y="140737"/>
                  <a:pt x="171131" y="141198"/>
                </a:cubicBezTo>
                <a:lnTo>
                  <a:pt x="130172" y="153440"/>
                </a:lnTo>
                <a:cubicBezTo>
                  <a:pt x="128537" y="153943"/>
                  <a:pt x="127447" y="155410"/>
                  <a:pt x="127447" y="157129"/>
                </a:cubicBezTo>
                <a:cubicBezTo>
                  <a:pt x="127447" y="159267"/>
                  <a:pt x="129166" y="160986"/>
                  <a:pt x="131304" y="160986"/>
                </a:cubicBezTo>
                <a:lnTo>
                  <a:pt x="138012" y="160986"/>
                </a:lnTo>
                <a:cubicBezTo>
                  <a:pt x="144133" y="160986"/>
                  <a:pt x="146816" y="168281"/>
                  <a:pt x="141701" y="171634"/>
                </a:cubicBezTo>
                <a:cubicBezTo>
                  <a:pt x="113193" y="190500"/>
                  <a:pt x="83973" y="189787"/>
                  <a:pt x="65233" y="184756"/>
                </a:cubicBezTo>
                <a:cubicBezTo>
                  <a:pt x="59909" y="183331"/>
                  <a:pt x="55171" y="180606"/>
                  <a:pt x="50811" y="177252"/>
                </a:cubicBezTo>
                <a:lnTo>
                  <a:pt x="20123" y="207940"/>
                </a:lnTo>
                <a:cubicBezTo>
                  <a:pt x="16434" y="211629"/>
                  <a:pt x="10397" y="211629"/>
                  <a:pt x="6708" y="207940"/>
                </a:cubicBezTo>
                <a:cubicBezTo>
                  <a:pt x="3018" y="204251"/>
                  <a:pt x="3018" y="198214"/>
                  <a:pt x="6708" y="194525"/>
                </a:cubicBezTo>
                <a:lnTo>
                  <a:pt x="40246" y="160986"/>
                </a:lnTo>
                <a:lnTo>
                  <a:pt x="40456" y="161196"/>
                </a:lnTo>
                <a:cubicBezTo>
                  <a:pt x="40750" y="160651"/>
                  <a:pt x="41127" y="160147"/>
                  <a:pt x="41588" y="159686"/>
                </a:cubicBezTo>
                <a:lnTo>
                  <a:pt x="107324" y="93908"/>
                </a:lnTo>
                <a:cubicBezTo>
                  <a:pt x="111013" y="90219"/>
                  <a:pt x="111013" y="84182"/>
                  <a:pt x="107324" y="80493"/>
                </a:cubicBezTo>
                <a:cubicBezTo>
                  <a:pt x="103635" y="76804"/>
                  <a:pt x="97598" y="76804"/>
                  <a:pt x="93908" y="80493"/>
                </a:cubicBezTo>
                <a:lnTo>
                  <a:pt x="37605" y="136754"/>
                </a:lnTo>
                <a:cubicBezTo>
                  <a:pt x="33874" y="140485"/>
                  <a:pt x="27544" y="138599"/>
                  <a:pt x="27124" y="133316"/>
                </a:cubicBezTo>
                <a:cubicBezTo>
                  <a:pt x="25322" y="111013"/>
                  <a:pt x="31023" y="81709"/>
                  <a:pt x="57561" y="55171"/>
                </a:cubicBezTo>
                <a:cubicBezTo>
                  <a:pt x="95753" y="16979"/>
                  <a:pt x="164130" y="2893"/>
                  <a:pt x="199220" y="42"/>
                </a:cubicBezTo>
                <a:close/>
              </a:path>
            </a:pathLst>
          </a:custGeom>
          <a:solidFill>
            <a:srgbClr val="00C950"/>
          </a:solidFill>
          <a:ln/>
        </p:spPr>
      </p:sp>
      <p:sp>
        <p:nvSpPr>
          <p:cNvPr id="10" name="Text 8"/>
          <p:cNvSpPr/>
          <p:nvPr/>
        </p:nvSpPr>
        <p:spPr>
          <a:xfrm>
            <a:off x="1126901" y="2395470"/>
            <a:ext cx="1066800"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Lightweight</a:t>
            </a:r>
            <a:endParaRPr lang="en-US" sz="1600" dirty="0"/>
          </a:p>
        </p:txBody>
      </p:sp>
      <p:sp>
        <p:nvSpPr>
          <p:cNvPr id="11" name="Text 9"/>
          <p:cNvSpPr/>
          <p:nvPr/>
        </p:nvSpPr>
        <p:spPr>
          <a:xfrm>
            <a:off x="729803" y="2781837"/>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Uses only native OS scripting without additional software or heavy dependencies</a:t>
            </a:r>
            <a:endParaRPr lang="en-US" sz="1600" dirty="0"/>
          </a:p>
        </p:txBody>
      </p:sp>
      <p:sp>
        <p:nvSpPr>
          <p:cNvPr id="12" name="Shape 10"/>
          <p:cNvSpPr/>
          <p:nvPr/>
        </p:nvSpPr>
        <p:spPr>
          <a:xfrm>
            <a:off x="558085" y="3640428"/>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13" name="Shape 11"/>
          <p:cNvSpPr/>
          <p:nvPr/>
        </p:nvSpPr>
        <p:spPr>
          <a:xfrm>
            <a:off x="742145" y="3855076"/>
            <a:ext cx="241479" cy="214648"/>
          </a:xfrm>
          <a:custGeom>
            <a:avLst/>
            <a:gdLst/>
            <a:ahLst/>
            <a:cxnLst/>
            <a:rect l="l" t="t" r="r" b="b"/>
            <a:pathLst>
              <a:path w="241479" h="214648">
                <a:moveTo>
                  <a:pt x="17189" y="-10439"/>
                </a:moveTo>
                <a:cubicBezTo>
                  <a:pt x="13248" y="-14380"/>
                  <a:pt x="6875" y="-14380"/>
                  <a:pt x="2977" y="-10439"/>
                </a:cubicBezTo>
                <a:cubicBezTo>
                  <a:pt x="-922" y="-6498"/>
                  <a:pt x="-964" y="-126"/>
                  <a:pt x="2935" y="3815"/>
                </a:cubicBezTo>
                <a:lnTo>
                  <a:pt x="224290" y="225171"/>
                </a:lnTo>
                <a:cubicBezTo>
                  <a:pt x="228231" y="229111"/>
                  <a:pt x="234603" y="229111"/>
                  <a:pt x="238502" y="225171"/>
                </a:cubicBezTo>
                <a:cubicBezTo>
                  <a:pt x="242401" y="221230"/>
                  <a:pt x="242443" y="214858"/>
                  <a:pt x="238502" y="210959"/>
                </a:cubicBezTo>
                <a:lnTo>
                  <a:pt x="187356" y="159812"/>
                </a:lnTo>
                <a:cubicBezTo>
                  <a:pt x="189117" y="158387"/>
                  <a:pt x="190835" y="156835"/>
                  <a:pt x="192428" y="155242"/>
                </a:cubicBezTo>
                <a:lnTo>
                  <a:pt x="222236" y="125435"/>
                </a:lnTo>
                <a:cubicBezTo>
                  <a:pt x="234520" y="113151"/>
                  <a:pt x="241437" y="96466"/>
                  <a:pt x="241437" y="79068"/>
                </a:cubicBezTo>
                <a:cubicBezTo>
                  <a:pt x="241437" y="42846"/>
                  <a:pt x="212091" y="13457"/>
                  <a:pt x="175827" y="13457"/>
                </a:cubicBezTo>
                <a:cubicBezTo>
                  <a:pt x="160189" y="13457"/>
                  <a:pt x="145181" y="19033"/>
                  <a:pt x="133358" y="29053"/>
                </a:cubicBezTo>
                <a:cubicBezTo>
                  <a:pt x="141869" y="33287"/>
                  <a:pt x="149583" y="38905"/>
                  <a:pt x="156207" y="45613"/>
                </a:cubicBezTo>
                <a:cubicBezTo>
                  <a:pt x="162118" y="42133"/>
                  <a:pt x="168868" y="40288"/>
                  <a:pt x="175827" y="40288"/>
                </a:cubicBezTo>
                <a:cubicBezTo>
                  <a:pt x="197250" y="40288"/>
                  <a:pt x="214606" y="57645"/>
                  <a:pt x="214606" y="79068"/>
                </a:cubicBezTo>
                <a:cubicBezTo>
                  <a:pt x="214606" y="89339"/>
                  <a:pt x="210539" y="99191"/>
                  <a:pt x="203245" y="106485"/>
                </a:cubicBezTo>
                <a:lnTo>
                  <a:pt x="173437" y="136293"/>
                </a:lnTo>
                <a:cubicBezTo>
                  <a:pt x="171802" y="137928"/>
                  <a:pt x="170041" y="139395"/>
                  <a:pt x="168155" y="140695"/>
                </a:cubicBezTo>
                <a:lnTo>
                  <a:pt x="148241" y="120781"/>
                </a:lnTo>
                <a:cubicBezTo>
                  <a:pt x="155159" y="120404"/>
                  <a:pt x="160692" y="114744"/>
                  <a:pt x="160902" y="107743"/>
                </a:cubicBezTo>
                <a:cubicBezTo>
                  <a:pt x="160902" y="107198"/>
                  <a:pt x="160902" y="106653"/>
                  <a:pt x="160902" y="106108"/>
                </a:cubicBezTo>
                <a:cubicBezTo>
                  <a:pt x="160902" y="69928"/>
                  <a:pt x="131598" y="40330"/>
                  <a:pt x="95292" y="40330"/>
                </a:cubicBezTo>
                <a:cubicBezTo>
                  <a:pt x="87243" y="40330"/>
                  <a:pt x="79403" y="41798"/>
                  <a:pt x="72024" y="44607"/>
                </a:cubicBezTo>
                <a:lnTo>
                  <a:pt x="17189" y="-10439"/>
                </a:lnTo>
                <a:close/>
                <a:moveTo>
                  <a:pt x="94705" y="67077"/>
                </a:moveTo>
                <a:cubicBezTo>
                  <a:pt x="94957" y="67077"/>
                  <a:pt x="95166" y="67077"/>
                  <a:pt x="95418" y="67077"/>
                </a:cubicBezTo>
                <a:cubicBezTo>
                  <a:pt x="101748" y="67077"/>
                  <a:pt x="107785" y="68629"/>
                  <a:pt x="113067" y="71354"/>
                </a:cubicBezTo>
                <a:cubicBezTo>
                  <a:pt x="113822" y="71857"/>
                  <a:pt x="114577" y="72318"/>
                  <a:pt x="115373" y="72653"/>
                </a:cubicBezTo>
                <a:cubicBezTo>
                  <a:pt x="126609" y="79487"/>
                  <a:pt x="134155" y="91896"/>
                  <a:pt x="134155" y="106024"/>
                </a:cubicBezTo>
                <a:cubicBezTo>
                  <a:pt x="134155" y="106192"/>
                  <a:pt x="134155" y="106360"/>
                  <a:pt x="134155" y="106527"/>
                </a:cubicBezTo>
                <a:lnTo>
                  <a:pt x="94705" y="67077"/>
                </a:lnTo>
                <a:close/>
                <a:moveTo>
                  <a:pt x="145139" y="174401"/>
                </a:moveTo>
                <a:lnTo>
                  <a:pt x="80493" y="109756"/>
                </a:lnTo>
                <a:cubicBezTo>
                  <a:pt x="80996" y="145223"/>
                  <a:pt x="109672" y="173856"/>
                  <a:pt x="145097" y="174359"/>
                </a:cubicBezTo>
                <a:close/>
                <a:moveTo>
                  <a:pt x="58567" y="87830"/>
                </a:moveTo>
                <a:lnTo>
                  <a:pt x="39576" y="68838"/>
                </a:lnTo>
                <a:lnTo>
                  <a:pt x="19201" y="89213"/>
                </a:lnTo>
                <a:cubicBezTo>
                  <a:pt x="6917" y="101497"/>
                  <a:pt x="0" y="118182"/>
                  <a:pt x="0" y="135580"/>
                </a:cubicBezTo>
                <a:cubicBezTo>
                  <a:pt x="0" y="171802"/>
                  <a:pt x="29346" y="201190"/>
                  <a:pt x="65610" y="201190"/>
                </a:cubicBezTo>
                <a:cubicBezTo>
                  <a:pt x="81206" y="201190"/>
                  <a:pt x="96256" y="195615"/>
                  <a:pt x="108079" y="185595"/>
                </a:cubicBezTo>
                <a:cubicBezTo>
                  <a:pt x="99568" y="181361"/>
                  <a:pt x="91812" y="175743"/>
                  <a:pt x="85188" y="169035"/>
                </a:cubicBezTo>
                <a:cubicBezTo>
                  <a:pt x="79319" y="172473"/>
                  <a:pt x="72569" y="174318"/>
                  <a:pt x="65610" y="174318"/>
                </a:cubicBezTo>
                <a:cubicBezTo>
                  <a:pt x="44187" y="174318"/>
                  <a:pt x="26831" y="156961"/>
                  <a:pt x="26831" y="135538"/>
                </a:cubicBezTo>
                <a:cubicBezTo>
                  <a:pt x="26831" y="125267"/>
                  <a:pt x="30898" y="115415"/>
                  <a:pt x="38192" y="108120"/>
                </a:cubicBezTo>
                <a:lnTo>
                  <a:pt x="58567" y="87746"/>
                </a:lnTo>
                <a:close/>
              </a:path>
            </a:pathLst>
          </a:custGeom>
          <a:solidFill>
            <a:srgbClr val="00C950"/>
          </a:solidFill>
          <a:ln/>
        </p:spPr>
      </p:sp>
      <p:sp>
        <p:nvSpPr>
          <p:cNvPr id="14" name="Text 12"/>
          <p:cNvSpPr/>
          <p:nvPr/>
        </p:nvSpPr>
        <p:spPr>
          <a:xfrm>
            <a:off x="1126901" y="3812146"/>
            <a:ext cx="2303172"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No External Dependencies</a:t>
            </a:r>
            <a:endParaRPr lang="en-US" sz="1600" dirty="0"/>
          </a:p>
        </p:txBody>
      </p:sp>
      <p:sp>
        <p:nvSpPr>
          <p:cNvPr id="15" name="Text 13"/>
          <p:cNvSpPr/>
          <p:nvPr/>
        </p:nvSpPr>
        <p:spPr>
          <a:xfrm>
            <a:off x="729803" y="4198513"/>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Works with built-in system capabilities, no third-party tools required</a:t>
            </a:r>
            <a:endParaRPr lang="en-US" sz="1600" dirty="0"/>
          </a:p>
        </p:txBody>
      </p:sp>
      <p:sp>
        <p:nvSpPr>
          <p:cNvPr id="16" name="Shape 14"/>
          <p:cNvSpPr/>
          <p:nvPr/>
        </p:nvSpPr>
        <p:spPr>
          <a:xfrm>
            <a:off x="558085" y="5057104"/>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17" name="Shape 15"/>
          <p:cNvSpPr/>
          <p:nvPr/>
        </p:nvSpPr>
        <p:spPr>
          <a:xfrm>
            <a:off x="742145" y="5271752"/>
            <a:ext cx="241479" cy="214648"/>
          </a:xfrm>
          <a:custGeom>
            <a:avLst/>
            <a:gdLst/>
            <a:ahLst/>
            <a:cxnLst/>
            <a:rect l="l" t="t" r="r" b="b"/>
            <a:pathLst>
              <a:path w="241479" h="214648">
                <a:moveTo>
                  <a:pt x="120739" y="13415"/>
                </a:moveTo>
                <a:cubicBezTo>
                  <a:pt x="86865" y="13415"/>
                  <a:pt x="59741" y="28843"/>
                  <a:pt x="39995" y="47206"/>
                </a:cubicBezTo>
                <a:cubicBezTo>
                  <a:pt x="20375" y="65442"/>
                  <a:pt x="7253" y="87201"/>
                  <a:pt x="1006" y="102167"/>
                </a:cubicBezTo>
                <a:cubicBezTo>
                  <a:pt x="-377" y="105479"/>
                  <a:pt x="-377" y="109169"/>
                  <a:pt x="1006" y="112481"/>
                </a:cubicBezTo>
                <a:cubicBezTo>
                  <a:pt x="7253" y="127447"/>
                  <a:pt x="20375" y="149247"/>
                  <a:pt x="39995" y="167442"/>
                </a:cubicBezTo>
                <a:cubicBezTo>
                  <a:pt x="59741" y="185763"/>
                  <a:pt x="86865" y="201232"/>
                  <a:pt x="120739" y="201232"/>
                </a:cubicBezTo>
                <a:cubicBezTo>
                  <a:pt x="154614" y="201232"/>
                  <a:pt x="181738" y="185805"/>
                  <a:pt x="201484" y="167442"/>
                </a:cubicBezTo>
                <a:cubicBezTo>
                  <a:pt x="221104" y="149205"/>
                  <a:pt x="234226" y="127447"/>
                  <a:pt x="240473" y="112481"/>
                </a:cubicBezTo>
                <a:cubicBezTo>
                  <a:pt x="241856" y="109169"/>
                  <a:pt x="241856" y="105479"/>
                  <a:pt x="240473" y="102167"/>
                </a:cubicBezTo>
                <a:cubicBezTo>
                  <a:pt x="234226" y="87201"/>
                  <a:pt x="221104" y="65401"/>
                  <a:pt x="201484" y="47206"/>
                </a:cubicBezTo>
                <a:cubicBezTo>
                  <a:pt x="181738" y="28885"/>
                  <a:pt x="154614" y="13415"/>
                  <a:pt x="120739" y="13415"/>
                </a:cubicBezTo>
                <a:close/>
                <a:moveTo>
                  <a:pt x="60370" y="107324"/>
                </a:moveTo>
                <a:cubicBezTo>
                  <a:pt x="60370" y="74005"/>
                  <a:pt x="87420" y="46954"/>
                  <a:pt x="120739" y="46954"/>
                </a:cubicBezTo>
                <a:cubicBezTo>
                  <a:pt x="154058" y="46954"/>
                  <a:pt x="181109" y="74005"/>
                  <a:pt x="181109" y="107324"/>
                </a:cubicBezTo>
                <a:cubicBezTo>
                  <a:pt x="181109" y="140643"/>
                  <a:pt x="154058" y="167694"/>
                  <a:pt x="120739" y="167694"/>
                </a:cubicBezTo>
                <a:cubicBezTo>
                  <a:pt x="87420" y="167694"/>
                  <a:pt x="60370" y="140643"/>
                  <a:pt x="60370" y="107324"/>
                </a:cubicBezTo>
                <a:close/>
                <a:moveTo>
                  <a:pt x="120739" y="80493"/>
                </a:moveTo>
                <a:cubicBezTo>
                  <a:pt x="120739" y="95292"/>
                  <a:pt x="108707" y="107324"/>
                  <a:pt x="93908" y="107324"/>
                </a:cubicBezTo>
                <a:cubicBezTo>
                  <a:pt x="89087" y="107324"/>
                  <a:pt x="84560" y="106066"/>
                  <a:pt x="80619" y="103802"/>
                </a:cubicBezTo>
                <a:cubicBezTo>
                  <a:pt x="80199" y="108372"/>
                  <a:pt x="80577" y="113067"/>
                  <a:pt x="81835" y="117721"/>
                </a:cubicBezTo>
                <a:cubicBezTo>
                  <a:pt x="87578" y="139186"/>
                  <a:pt x="109672" y="151930"/>
                  <a:pt x="131136" y="146187"/>
                </a:cubicBezTo>
                <a:cubicBezTo>
                  <a:pt x="152601" y="140443"/>
                  <a:pt x="165346" y="118350"/>
                  <a:pt x="159602" y="96885"/>
                </a:cubicBezTo>
                <a:cubicBezTo>
                  <a:pt x="154488" y="77726"/>
                  <a:pt x="136335" y="65526"/>
                  <a:pt x="117218" y="67203"/>
                </a:cubicBezTo>
                <a:cubicBezTo>
                  <a:pt x="119440" y="71102"/>
                  <a:pt x="120739" y="75630"/>
                  <a:pt x="120739" y="80493"/>
                </a:cubicBezTo>
                <a:close/>
              </a:path>
            </a:pathLst>
          </a:custGeom>
          <a:solidFill>
            <a:srgbClr val="00C950"/>
          </a:solidFill>
          <a:ln/>
        </p:spPr>
      </p:sp>
      <p:sp>
        <p:nvSpPr>
          <p:cNvPr id="18" name="Text 16"/>
          <p:cNvSpPr/>
          <p:nvPr/>
        </p:nvSpPr>
        <p:spPr>
          <a:xfrm>
            <a:off x="1126901" y="5228823"/>
            <a:ext cx="1719330"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Easy to Understand</a:t>
            </a:r>
            <a:endParaRPr lang="en-US" sz="1600" dirty="0"/>
          </a:p>
        </p:txBody>
      </p:sp>
      <p:sp>
        <p:nvSpPr>
          <p:cNvPr id="19" name="Text 17"/>
          <p:cNvSpPr/>
          <p:nvPr/>
        </p:nvSpPr>
        <p:spPr>
          <a:xfrm>
            <a:off x="729803" y="5615189"/>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Simple scripts and readable file formats make the solution transparent</a:t>
            </a:r>
            <a:endParaRPr lang="en-US" sz="1600" dirty="0"/>
          </a:p>
        </p:txBody>
      </p:sp>
      <p:sp>
        <p:nvSpPr>
          <p:cNvPr id="20" name="Shape 18"/>
          <p:cNvSpPr/>
          <p:nvPr/>
        </p:nvSpPr>
        <p:spPr>
          <a:xfrm>
            <a:off x="6226613" y="1193442"/>
            <a:ext cx="5623775" cy="5323268"/>
          </a:xfrm>
          <a:custGeom>
            <a:avLst/>
            <a:gdLst/>
            <a:ahLst/>
            <a:cxnLst/>
            <a:rect l="l" t="t" r="r" b="b"/>
            <a:pathLst>
              <a:path w="5623775" h="5323268">
                <a:moveTo>
                  <a:pt x="85864" y="0"/>
                </a:moveTo>
                <a:lnTo>
                  <a:pt x="5537910" y="0"/>
                </a:lnTo>
                <a:cubicBezTo>
                  <a:pt x="5585332" y="0"/>
                  <a:pt x="5623775" y="38443"/>
                  <a:pt x="5623775" y="85864"/>
                </a:cubicBezTo>
                <a:lnTo>
                  <a:pt x="5623775" y="5237403"/>
                </a:lnTo>
                <a:cubicBezTo>
                  <a:pt x="5623775" y="5284825"/>
                  <a:pt x="5585332" y="5323268"/>
                  <a:pt x="5537910" y="5323268"/>
                </a:cubicBezTo>
                <a:lnTo>
                  <a:pt x="85864" y="5323268"/>
                </a:lnTo>
                <a:cubicBezTo>
                  <a:pt x="38443" y="5323268"/>
                  <a:pt x="0" y="5284825"/>
                  <a:pt x="0" y="5237403"/>
                </a:cubicBezTo>
                <a:lnTo>
                  <a:pt x="0" y="85864"/>
                </a:lnTo>
                <a:cubicBezTo>
                  <a:pt x="0" y="38475"/>
                  <a:pt x="38475" y="0"/>
                  <a:pt x="85864" y="0"/>
                </a:cubicBezTo>
                <a:close/>
              </a:path>
            </a:pathLst>
          </a:custGeom>
          <a:gradFill rotWithShape="1" flip="none">
            <a:gsLst>
              <a:gs pos="0">
                <a:srgbClr val="FFF7ED"/>
              </a:gs>
              <a:gs pos="100000">
                <a:srgbClr val="FFEDD4"/>
              </a:gs>
            </a:gsLst>
            <a:lin ang="2700000" scaled="1"/>
          </a:gradFill>
          <a:ln/>
        </p:spPr>
      </p:sp>
      <p:sp>
        <p:nvSpPr>
          <p:cNvPr id="21" name="Shape 19"/>
          <p:cNvSpPr/>
          <p:nvPr/>
        </p:nvSpPr>
        <p:spPr>
          <a:xfrm>
            <a:off x="6441261" y="1408090"/>
            <a:ext cx="601014" cy="601014"/>
          </a:xfrm>
          <a:custGeom>
            <a:avLst/>
            <a:gdLst/>
            <a:ahLst/>
            <a:cxnLst/>
            <a:rect l="l" t="t" r="r" b="b"/>
            <a:pathLst>
              <a:path w="601014" h="601014">
                <a:moveTo>
                  <a:pt x="300507" y="0"/>
                </a:moveTo>
                <a:lnTo>
                  <a:pt x="300507" y="0"/>
                </a:lnTo>
                <a:cubicBezTo>
                  <a:pt x="466361" y="0"/>
                  <a:pt x="601014" y="134653"/>
                  <a:pt x="601014" y="300507"/>
                </a:cubicBezTo>
                <a:lnTo>
                  <a:pt x="601014" y="300507"/>
                </a:lnTo>
                <a:cubicBezTo>
                  <a:pt x="601014" y="466361"/>
                  <a:pt x="466361" y="601014"/>
                  <a:pt x="300507" y="601014"/>
                </a:cubicBezTo>
                <a:lnTo>
                  <a:pt x="300507" y="601014"/>
                </a:lnTo>
                <a:cubicBezTo>
                  <a:pt x="134653" y="601014"/>
                  <a:pt x="0" y="466361"/>
                  <a:pt x="0" y="300507"/>
                </a:cubicBezTo>
                <a:lnTo>
                  <a:pt x="0" y="300507"/>
                </a:lnTo>
                <a:cubicBezTo>
                  <a:pt x="0" y="134653"/>
                  <a:pt x="134653" y="0"/>
                  <a:pt x="300507" y="0"/>
                </a:cubicBezTo>
                <a:close/>
              </a:path>
            </a:pathLst>
          </a:custGeom>
          <a:solidFill>
            <a:srgbClr val="FF6900"/>
          </a:solidFill>
          <a:ln/>
        </p:spPr>
      </p:sp>
      <p:sp>
        <p:nvSpPr>
          <p:cNvPr id="22" name="Shape 20"/>
          <p:cNvSpPr/>
          <p:nvPr/>
        </p:nvSpPr>
        <p:spPr>
          <a:xfrm>
            <a:off x="6615126" y="1579808"/>
            <a:ext cx="257577" cy="257577"/>
          </a:xfrm>
          <a:custGeom>
            <a:avLst/>
            <a:gdLst/>
            <a:ahLst/>
            <a:cxnLst/>
            <a:rect l="l" t="t" r="r" b="b"/>
            <a:pathLst>
              <a:path w="257577" h="257577">
                <a:moveTo>
                  <a:pt x="128789" y="0"/>
                </a:moveTo>
                <a:cubicBezTo>
                  <a:pt x="136184" y="0"/>
                  <a:pt x="142976" y="4075"/>
                  <a:pt x="146497" y="10565"/>
                </a:cubicBezTo>
                <a:lnTo>
                  <a:pt x="255163" y="211797"/>
                </a:lnTo>
                <a:cubicBezTo>
                  <a:pt x="258533" y="218035"/>
                  <a:pt x="258382" y="225582"/>
                  <a:pt x="254760" y="231669"/>
                </a:cubicBezTo>
                <a:cubicBezTo>
                  <a:pt x="251138" y="237756"/>
                  <a:pt x="244548" y="241479"/>
                  <a:pt x="237454" y="241479"/>
                </a:cubicBezTo>
                <a:lnTo>
                  <a:pt x="20123" y="241479"/>
                </a:lnTo>
                <a:cubicBezTo>
                  <a:pt x="13030" y="241479"/>
                  <a:pt x="6490" y="237756"/>
                  <a:pt x="2817" y="231669"/>
                </a:cubicBezTo>
                <a:cubicBezTo>
                  <a:pt x="-855" y="225582"/>
                  <a:pt x="-956" y="218035"/>
                  <a:pt x="2415" y="211797"/>
                </a:cubicBezTo>
                <a:lnTo>
                  <a:pt x="111080" y="10565"/>
                </a:lnTo>
                <a:cubicBezTo>
                  <a:pt x="114602" y="4075"/>
                  <a:pt x="121393" y="0"/>
                  <a:pt x="128789" y="0"/>
                </a:cubicBezTo>
                <a:close/>
                <a:moveTo>
                  <a:pt x="128789" y="84518"/>
                </a:moveTo>
                <a:cubicBezTo>
                  <a:pt x="122098" y="84518"/>
                  <a:pt x="116715" y="89901"/>
                  <a:pt x="116715" y="96592"/>
                </a:cubicBezTo>
                <a:lnTo>
                  <a:pt x="116715" y="152937"/>
                </a:lnTo>
                <a:cubicBezTo>
                  <a:pt x="116715" y="159628"/>
                  <a:pt x="122098" y="165011"/>
                  <a:pt x="128789" y="165011"/>
                </a:cubicBezTo>
                <a:cubicBezTo>
                  <a:pt x="135480" y="165011"/>
                  <a:pt x="140863" y="159628"/>
                  <a:pt x="140863" y="152937"/>
                </a:cubicBezTo>
                <a:lnTo>
                  <a:pt x="140863" y="96592"/>
                </a:lnTo>
                <a:cubicBezTo>
                  <a:pt x="140863" y="89901"/>
                  <a:pt x="135480" y="84518"/>
                  <a:pt x="128789" y="84518"/>
                </a:cubicBezTo>
                <a:close/>
                <a:moveTo>
                  <a:pt x="142221" y="193183"/>
                </a:moveTo>
                <a:cubicBezTo>
                  <a:pt x="142527" y="188197"/>
                  <a:pt x="140040" y="183454"/>
                  <a:pt x="135766" y="180868"/>
                </a:cubicBezTo>
                <a:cubicBezTo>
                  <a:pt x="131492" y="178283"/>
                  <a:pt x="126136" y="178283"/>
                  <a:pt x="121862" y="180868"/>
                </a:cubicBezTo>
                <a:cubicBezTo>
                  <a:pt x="117588" y="183454"/>
                  <a:pt x="115101" y="188197"/>
                  <a:pt x="115407" y="193183"/>
                </a:cubicBezTo>
                <a:cubicBezTo>
                  <a:pt x="115101" y="198169"/>
                  <a:pt x="117588" y="202913"/>
                  <a:pt x="121862" y="205498"/>
                </a:cubicBezTo>
                <a:cubicBezTo>
                  <a:pt x="126136" y="208083"/>
                  <a:pt x="131492" y="208083"/>
                  <a:pt x="135766" y="205498"/>
                </a:cubicBezTo>
                <a:cubicBezTo>
                  <a:pt x="140040" y="202913"/>
                  <a:pt x="142527" y="198169"/>
                  <a:pt x="142221" y="193183"/>
                </a:cubicBezTo>
                <a:close/>
              </a:path>
            </a:pathLst>
          </a:custGeom>
          <a:solidFill>
            <a:srgbClr val="FFFFFF"/>
          </a:solidFill>
          <a:ln/>
        </p:spPr>
      </p:sp>
      <p:sp>
        <p:nvSpPr>
          <p:cNvPr id="23" name="Text 21"/>
          <p:cNvSpPr/>
          <p:nvPr/>
        </p:nvSpPr>
        <p:spPr>
          <a:xfrm>
            <a:off x="7171064" y="1536879"/>
            <a:ext cx="1339403" cy="343437"/>
          </a:xfrm>
          <a:prstGeom prst="rect">
            <a:avLst/>
          </a:prstGeom>
          <a:noFill/>
          <a:ln/>
        </p:spPr>
        <p:txBody>
          <a:bodyPr wrap="square" lIns="0" tIns="0" rIns="0" bIns="0" rtlCol="0" anchor="ctr"/>
          <a:lstStyle/>
          <a:p>
            <a:pPr>
              <a:lnSpc>
                <a:spcPct val="110000"/>
              </a:lnSpc>
            </a:pPr>
            <a:r>
              <a:rPr lang="en-US" sz="2028" b="1" dirty="0">
                <a:solidFill>
                  <a:srgbClr val="1D293D"/>
                </a:solidFill>
                <a:latin typeface="Quattrocento Sans" pitchFamily="34" charset="0"/>
                <a:ea typeface="Quattrocento Sans" pitchFamily="34" charset="-122"/>
                <a:cs typeface="Quattrocento Sans" pitchFamily="34" charset="-120"/>
              </a:rPr>
              <a:t>Limitations</a:t>
            </a:r>
            <a:endParaRPr lang="en-US" sz="1600" dirty="0"/>
          </a:p>
        </p:txBody>
      </p:sp>
      <p:sp>
        <p:nvSpPr>
          <p:cNvPr id="24" name="Shape 22"/>
          <p:cNvSpPr/>
          <p:nvPr/>
        </p:nvSpPr>
        <p:spPr>
          <a:xfrm>
            <a:off x="6441261" y="2223752"/>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25" name="Shape 23"/>
          <p:cNvSpPr/>
          <p:nvPr/>
        </p:nvSpPr>
        <p:spPr>
          <a:xfrm>
            <a:off x="6652153" y="2438400"/>
            <a:ext cx="187817" cy="214648"/>
          </a:xfrm>
          <a:custGeom>
            <a:avLst/>
            <a:gdLst/>
            <a:ahLst/>
            <a:cxnLst/>
            <a:rect l="l" t="t" r="r" b="b"/>
            <a:pathLst>
              <a:path w="187817" h="214648">
                <a:moveTo>
                  <a:pt x="53662" y="16769"/>
                </a:moveTo>
                <a:cubicBezTo>
                  <a:pt x="53662" y="7504"/>
                  <a:pt x="61166" y="0"/>
                  <a:pt x="70431" y="0"/>
                </a:cubicBezTo>
                <a:cubicBezTo>
                  <a:pt x="79696" y="0"/>
                  <a:pt x="87201" y="7504"/>
                  <a:pt x="87201" y="16769"/>
                </a:cubicBezTo>
                <a:lnTo>
                  <a:pt x="87201" y="78900"/>
                </a:lnTo>
                <a:cubicBezTo>
                  <a:pt x="90764" y="75714"/>
                  <a:pt x="95460" y="73785"/>
                  <a:pt x="100616" y="73785"/>
                </a:cubicBezTo>
                <a:cubicBezTo>
                  <a:pt x="109252" y="73785"/>
                  <a:pt x="116631" y="79235"/>
                  <a:pt x="119482" y="86865"/>
                </a:cubicBezTo>
                <a:cubicBezTo>
                  <a:pt x="123171" y="82966"/>
                  <a:pt x="128369" y="80493"/>
                  <a:pt x="134155" y="80493"/>
                </a:cubicBezTo>
                <a:cubicBezTo>
                  <a:pt x="144762" y="80493"/>
                  <a:pt x="153440" y="88668"/>
                  <a:pt x="154236" y="99065"/>
                </a:cubicBezTo>
                <a:cubicBezTo>
                  <a:pt x="157800" y="95837"/>
                  <a:pt x="162537" y="93908"/>
                  <a:pt x="167694" y="93908"/>
                </a:cubicBezTo>
                <a:cubicBezTo>
                  <a:pt x="178803" y="93908"/>
                  <a:pt x="187817" y="102922"/>
                  <a:pt x="187817" y="114032"/>
                </a:cubicBezTo>
                <a:lnTo>
                  <a:pt x="187817" y="160986"/>
                </a:lnTo>
                <a:cubicBezTo>
                  <a:pt x="187817" y="190626"/>
                  <a:pt x="163795" y="214648"/>
                  <a:pt x="134155" y="214648"/>
                </a:cubicBezTo>
                <a:lnTo>
                  <a:pt x="98394" y="214648"/>
                </a:lnTo>
                <a:cubicBezTo>
                  <a:pt x="96298" y="214648"/>
                  <a:pt x="94244" y="214522"/>
                  <a:pt x="92232" y="214229"/>
                </a:cubicBezTo>
                <a:cubicBezTo>
                  <a:pt x="69048" y="211881"/>
                  <a:pt x="47709" y="199975"/>
                  <a:pt x="33539" y="181109"/>
                </a:cubicBezTo>
                <a:lnTo>
                  <a:pt x="3354" y="140863"/>
                </a:lnTo>
                <a:cubicBezTo>
                  <a:pt x="-2222" y="133442"/>
                  <a:pt x="-713" y="122961"/>
                  <a:pt x="6708" y="117386"/>
                </a:cubicBezTo>
                <a:cubicBezTo>
                  <a:pt x="14128" y="111810"/>
                  <a:pt x="24609" y="113319"/>
                  <a:pt x="30185" y="120739"/>
                </a:cubicBezTo>
                <a:lnTo>
                  <a:pt x="53662" y="152056"/>
                </a:lnTo>
                <a:lnTo>
                  <a:pt x="53662" y="16769"/>
                </a:lnTo>
                <a:close/>
                <a:moveTo>
                  <a:pt x="100616" y="127447"/>
                </a:moveTo>
                <a:cubicBezTo>
                  <a:pt x="100616" y="123758"/>
                  <a:pt x="97598" y="120739"/>
                  <a:pt x="93908" y="120739"/>
                </a:cubicBezTo>
                <a:cubicBezTo>
                  <a:pt x="90219" y="120739"/>
                  <a:pt x="87201" y="123758"/>
                  <a:pt x="87201" y="127447"/>
                </a:cubicBezTo>
                <a:lnTo>
                  <a:pt x="87201" y="167694"/>
                </a:lnTo>
                <a:cubicBezTo>
                  <a:pt x="87201" y="171383"/>
                  <a:pt x="90219" y="174401"/>
                  <a:pt x="93908" y="174401"/>
                </a:cubicBezTo>
                <a:cubicBezTo>
                  <a:pt x="97598" y="174401"/>
                  <a:pt x="100616" y="171383"/>
                  <a:pt x="100616" y="167694"/>
                </a:cubicBezTo>
                <a:lnTo>
                  <a:pt x="100616" y="127447"/>
                </a:lnTo>
                <a:close/>
                <a:moveTo>
                  <a:pt x="120739" y="120739"/>
                </a:moveTo>
                <a:cubicBezTo>
                  <a:pt x="117050" y="120739"/>
                  <a:pt x="114032" y="123758"/>
                  <a:pt x="114032" y="127447"/>
                </a:cubicBezTo>
                <a:lnTo>
                  <a:pt x="114032" y="167694"/>
                </a:lnTo>
                <a:cubicBezTo>
                  <a:pt x="114032" y="171383"/>
                  <a:pt x="117050" y="174401"/>
                  <a:pt x="120739" y="174401"/>
                </a:cubicBezTo>
                <a:cubicBezTo>
                  <a:pt x="124429" y="174401"/>
                  <a:pt x="127447" y="171383"/>
                  <a:pt x="127447" y="167694"/>
                </a:cubicBezTo>
                <a:lnTo>
                  <a:pt x="127447" y="127447"/>
                </a:lnTo>
                <a:cubicBezTo>
                  <a:pt x="127447" y="123758"/>
                  <a:pt x="124429" y="120739"/>
                  <a:pt x="120739" y="120739"/>
                </a:cubicBezTo>
                <a:close/>
                <a:moveTo>
                  <a:pt x="154278" y="127447"/>
                </a:moveTo>
                <a:cubicBezTo>
                  <a:pt x="154278" y="123758"/>
                  <a:pt x="151260" y="120739"/>
                  <a:pt x="147570" y="120739"/>
                </a:cubicBezTo>
                <a:cubicBezTo>
                  <a:pt x="143881" y="120739"/>
                  <a:pt x="140863" y="123758"/>
                  <a:pt x="140863" y="127447"/>
                </a:cubicBezTo>
                <a:lnTo>
                  <a:pt x="140863" y="167694"/>
                </a:lnTo>
                <a:cubicBezTo>
                  <a:pt x="140863" y="171383"/>
                  <a:pt x="143881" y="174401"/>
                  <a:pt x="147570" y="174401"/>
                </a:cubicBezTo>
                <a:cubicBezTo>
                  <a:pt x="151260" y="174401"/>
                  <a:pt x="154278" y="171383"/>
                  <a:pt x="154278" y="167694"/>
                </a:cubicBezTo>
                <a:lnTo>
                  <a:pt x="154278" y="127447"/>
                </a:lnTo>
                <a:close/>
              </a:path>
            </a:pathLst>
          </a:custGeom>
          <a:solidFill>
            <a:srgbClr val="FF6900"/>
          </a:solidFill>
          <a:ln/>
        </p:spPr>
      </p:sp>
      <p:sp>
        <p:nvSpPr>
          <p:cNvPr id="26" name="Text 24"/>
          <p:cNvSpPr/>
          <p:nvPr/>
        </p:nvSpPr>
        <p:spPr>
          <a:xfrm>
            <a:off x="7010078" y="2395470"/>
            <a:ext cx="1573369"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Manual Execution</a:t>
            </a:r>
            <a:endParaRPr lang="en-US" sz="1600" dirty="0"/>
          </a:p>
        </p:txBody>
      </p:sp>
      <p:sp>
        <p:nvSpPr>
          <p:cNvPr id="27" name="Text 25"/>
          <p:cNvSpPr/>
          <p:nvPr/>
        </p:nvSpPr>
        <p:spPr>
          <a:xfrm>
            <a:off x="6612980" y="2781837"/>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Requires user to run scripts manually rather than automatic synchronization</a:t>
            </a:r>
            <a:endParaRPr lang="en-US" sz="1600" dirty="0"/>
          </a:p>
        </p:txBody>
      </p:sp>
      <p:sp>
        <p:nvSpPr>
          <p:cNvPr id="28" name="Shape 26"/>
          <p:cNvSpPr/>
          <p:nvPr/>
        </p:nvSpPr>
        <p:spPr>
          <a:xfrm>
            <a:off x="6441261" y="3640428"/>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29" name="Shape 27"/>
          <p:cNvSpPr/>
          <p:nvPr/>
        </p:nvSpPr>
        <p:spPr>
          <a:xfrm>
            <a:off x="6638737" y="3855076"/>
            <a:ext cx="214648" cy="214648"/>
          </a:xfrm>
          <a:custGeom>
            <a:avLst/>
            <a:gdLst/>
            <a:ahLst/>
            <a:cxnLst/>
            <a:rect l="l" t="t" r="r" b="b"/>
            <a:pathLst>
              <a:path w="214648" h="214648">
                <a:moveTo>
                  <a:pt x="20123" y="60370"/>
                </a:moveTo>
                <a:cubicBezTo>
                  <a:pt x="31230" y="60370"/>
                  <a:pt x="40246" y="51353"/>
                  <a:pt x="40246" y="40246"/>
                </a:cubicBezTo>
                <a:cubicBezTo>
                  <a:pt x="40246" y="29140"/>
                  <a:pt x="31230" y="20123"/>
                  <a:pt x="20123" y="20123"/>
                </a:cubicBezTo>
                <a:cubicBezTo>
                  <a:pt x="9017" y="20123"/>
                  <a:pt x="0" y="29140"/>
                  <a:pt x="0" y="40246"/>
                </a:cubicBezTo>
                <a:cubicBezTo>
                  <a:pt x="0" y="51353"/>
                  <a:pt x="9017" y="60370"/>
                  <a:pt x="20123" y="60370"/>
                </a:cubicBezTo>
                <a:close/>
                <a:moveTo>
                  <a:pt x="80493" y="26831"/>
                </a:moveTo>
                <a:cubicBezTo>
                  <a:pt x="73073" y="26831"/>
                  <a:pt x="67077" y="32826"/>
                  <a:pt x="67077" y="40246"/>
                </a:cubicBezTo>
                <a:cubicBezTo>
                  <a:pt x="67077" y="47667"/>
                  <a:pt x="73073" y="53662"/>
                  <a:pt x="80493" y="53662"/>
                </a:cubicBezTo>
                <a:lnTo>
                  <a:pt x="201232" y="53662"/>
                </a:lnTo>
                <a:cubicBezTo>
                  <a:pt x="208653" y="53662"/>
                  <a:pt x="214648" y="47667"/>
                  <a:pt x="214648" y="40246"/>
                </a:cubicBezTo>
                <a:cubicBezTo>
                  <a:pt x="214648" y="32826"/>
                  <a:pt x="208653" y="26831"/>
                  <a:pt x="201232" y="26831"/>
                </a:cubicBezTo>
                <a:lnTo>
                  <a:pt x="80493" y="26831"/>
                </a:lnTo>
                <a:close/>
                <a:moveTo>
                  <a:pt x="80493" y="93908"/>
                </a:moveTo>
                <a:cubicBezTo>
                  <a:pt x="73073" y="93908"/>
                  <a:pt x="67077" y="99903"/>
                  <a:pt x="67077" y="107324"/>
                </a:cubicBezTo>
                <a:cubicBezTo>
                  <a:pt x="67077" y="114744"/>
                  <a:pt x="73073" y="120739"/>
                  <a:pt x="80493" y="120739"/>
                </a:cubicBezTo>
                <a:lnTo>
                  <a:pt x="201232" y="120739"/>
                </a:lnTo>
                <a:cubicBezTo>
                  <a:pt x="208653" y="120739"/>
                  <a:pt x="214648" y="114744"/>
                  <a:pt x="214648" y="107324"/>
                </a:cubicBezTo>
                <a:cubicBezTo>
                  <a:pt x="214648" y="99903"/>
                  <a:pt x="208653" y="93908"/>
                  <a:pt x="201232" y="93908"/>
                </a:cubicBezTo>
                <a:lnTo>
                  <a:pt x="80493" y="93908"/>
                </a:lnTo>
                <a:close/>
                <a:moveTo>
                  <a:pt x="80493" y="160986"/>
                </a:moveTo>
                <a:cubicBezTo>
                  <a:pt x="73073" y="160986"/>
                  <a:pt x="67077" y="166981"/>
                  <a:pt x="67077" y="174401"/>
                </a:cubicBezTo>
                <a:cubicBezTo>
                  <a:pt x="67077" y="181822"/>
                  <a:pt x="73073" y="187817"/>
                  <a:pt x="80493" y="187817"/>
                </a:cubicBezTo>
                <a:lnTo>
                  <a:pt x="201232" y="187817"/>
                </a:lnTo>
                <a:cubicBezTo>
                  <a:pt x="208653" y="187817"/>
                  <a:pt x="214648" y="181822"/>
                  <a:pt x="214648" y="174401"/>
                </a:cubicBezTo>
                <a:cubicBezTo>
                  <a:pt x="214648" y="166981"/>
                  <a:pt x="208653" y="160986"/>
                  <a:pt x="201232" y="160986"/>
                </a:cubicBezTo>
                <a:lnTo>
                  <a:pt x="80493" y="160986"/>
                </a:lnTo>
                <a:close/>
                <a:moveTo>
                  <a:pt x="20123" y="194525"/>
                </a:moveTo>
                <a:cubicBezTo>
                  <a:pt x="31230" y="194525"/>
                  <a:pt x="40246" y="185508"/>
                  <a:pt x="40246" y="174401"/>
                </a:cubicBezTo>
                <a:cubicBezTo>
                  <a:pt x="40246" y="163295"/>
                  <a:pt x="31230" y="154278"/>
                  <a:pt x="20123" y="154278"/>
                </a:cubicBezTo>
                <a:cubicBezTo>
                  <a:pt x="9017" y="154278"/>
                  <a:pt x="0" y="163295"/>
                  <a:pt x="0" y="174401"/>
                </a:cubicBezTo>
                <a:cubicBezTo>
                  <a:pt x="0" y="185508"/>
                  <a:pt x="9017" y="194525"/>
                  <a:pt x="20123" y="194525"/>
                </a:cubicBezTo>
                <a:close/>
                <a:moveTo>
                  <a:pt x="40246" y="107324"/>
                </a:moveTo>
                <a:cubicBezTo>
                  <a:pt x="40246" y="96218"/>
                  <a:pt x="31230" y="87201"/>
                  <a:pt x="20123" y="87201"/>
                </a:cubicBezTo>
                <a:cubicBezTo>
                  <a:pt x="9017" y="87201"/>
                  <a:pt x="0" y="96218"/>
                  <a:pt x="0" y="107324"/>
                </a:cubicBezTo>
                <a:cubicBezTo>
                  <a:pt x="0" y="118430"/>
                  <a:pt x="9017" y="127447"/>
                  <a:pt x="20123" y="127447"/>
                </a:cubicBezTo>
                <a:cubicBezTo>
                  <a:pt x="31230" y="127447"/>
                  <a:pt x="40246" y="118430"/>
                  <a:pt x="40246" y="107324"/>
                </a:cubicBezTo>
                <a:close/>
              </a:path>
            </a:pathLst>
          </a:custGeom>
          <a:solidFill>
            <a:srgbClr val="FF6900"/>
          </a:solidFill>
          <a:ln/>
        </p:spPr>
      </p:sp>
      <p:sp>
        <p:nvSpPr>
          <p:cNvPr id="30" name="Text 28"/>
          <p:cNvSpPr/>
          <p:nvPr/>
        </p:nvSpPr>
        <p:spPr>
          <a:xfrm>
            <a:off x="7010078" y="3812146"/>
            <a:ext cx="2363273"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Limited to Supported Tools</a:t>
            </a:r>
            <a:endParaRPr lang="en-US" sz="1600" dirty="0"/>
          </a:p>
        </p:txBody>
      </p:sp>
      <p:sp>
        <p:nvSpPr>
          <p:cNvPr id="31" name="Text 29"/>
          <p:cNvSpPr/>
          <p:nvPr/>
        </p:nvSpPr>
        <p:spPr>
          <a:xfrm>
            <a:off x="6612980" y="4198513"/>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Only handles specific tools (VS Code, npm, pip, Composer), others need manual addition</a:t>
            </a:r>
            <a:endParaRPr lang="en-US" sz="1600" dirty="0"/>
          </a:p>
        </p:txBody>
      </p:sp>
      <p:sp>
        <p:nvSpPr>
          <p:cNvPr id="32" name="Shape 30"/>
          <p:cNvSpPr/>
          <p:nvPr/>
        </p:nvSpPr>
        <p:spPr>
          <a:xfrm>
            <a:off x="6441261" y="5057104"/>
            <a:ext cx="5194479" cy="1244958"/>
          </a:xfrm>
          <a:custGeom>
            <a:avLst/>
            <a:gdLst/>
            <a:ahLst/>
            <a:cxnLst/>
            <a:rect l="l" t="t" r="r" b="b"/>
            <a:pathLst>
              <a:path w="5194479" h="1244958">
                <a:moveTo>
                  <a:pt x="85865" y="0"/>
                </a:moveTo>
                <a:lnTo>
                  <a:pt x="5108614" y="0"/>
                </a:lnTo>
                <a:cubicBezTo>
                  <a:pt x="5156036" y="0"/>
                  <a:pt x="5194479" y="38443"/>
                  <a:pt x="5194479" y="85865"/>
                </a:cubicBezTo>
                <a:lnTo>
                  <a:pt x="5194479" y="1159093"/>
                </a:lnTo>
                <a:cubicBezTo>
                  <a:pt x="5194479" y="1206515"/>
                  <a:pt x="5156036" y="1244958"/>
                  <a:pt x="5108614" y="1244958"/>
                </a:cubicBezTo>
                <a:lnTo>
                  <a:pt x="85865" y="1244958"/>
                </a:lnTo>
                <a:cubicBezTo>
                  <a:pt x="38443" y="1244958"/>
                  <a:pt x="0" y="1206515"/>
                  <a:pt x="0" y="1159093"/>
                </a:cubicBezTo>
                <a:lnTo>
                  <a:pt x="0" y="85865"/>
                </a:lnTo>
                <a:cubicBezTo>
                  <a:pt x="0" y="38443"/>
                  <a:pt x="38443" y="0"/>
                  <a:pt x="85865" y="0"/>
                </a:cubicBezTo>
                <a:close/>
              </a:path>
            </a:pathLst>
          </a:custGeom>
          <a:solidFill>
            <a:srgbClr val="FFFFFF"/>
          </a:solidFill>
          <a:ln/>
          <a:effectLst>
            <a:outerShdw sx="100000" sy="100000" kx="0" ky="0" algn="bl" rotWithShape="0" blurRad="25758" dist="8586" dir="5400000">
              <a:srgbClr val="000000">
                <a:alpha val="10196"/>
              </a:srgbClr>
            </a:outerShdw>
          </a:effectLst>
        </p:spPr>
      </p:sp>
      <p:sp>
        <p:nvSpPr>
          <p:cNvPr id="33" name="Shape 31"/>
          <p:cNvSpPr/>
          <p:nvPr/>
        </p:nvSpPr>
        <p:spPr>
          <a:xfrm>
            <a:off x="6611906" y="5271752"/>
            <a:ext cx="268310" cy="214648"/>
          </a:xfrm>
          <a:custGeom>
            <a:avLst/>
            <a:gdLst/>
            <a:ahLst/>
            <a:cxnLst/>
            <a:rect l="l" t="t" r="r" b="b"/>
            <a:pathLst>
              <a:path w="268310" h="214648">
                <a:moveTo>
                  <a:pt x="107534" y="3354"/>
                </a:moveTo>
                <a:cubicBezTo>
                  <a:pt x="135299" y="3354"/>
                  <a:pt x="157842" y="25896"/>
                  <a:pt x="157842" y="53662"/>
                </a:cubicBezTo>
                <a:cubicBezTo>
                  <a:pt x="157842" y="81428"/>
                  <a:pt x="135299" y="103970"/>
                  <a:pt x="107534" y="103970"/>
                </a:cubicBezTo>
                <a:cubicBezTo>
                  <a:pt x="79768" y="103970"/>
                  <a:pt x="57225" y="81428"/>
                  <a:pt x="57225" y="53662"/>
                </a:cubicBezTo>
                <a:cubicBezTo>
                  <a:pt x="57225" y="25896"/>
                  <a:pt x="79768" y="3354"/>
                  <a:pt x="107534" y="3354"/>
                </a:cubicBezTo>
                <a:close/>
                <a:moveTo>
                  <a:pt x="95040" y="127447"/>
                </a:moveTo>
                <a:lnTo>
                  <a:pt x="119943" y="127447"/>
                </a:lnTo>
                <a:lnTo>
                  <a:pt x="120572" y="127447"/>
                </a:lnTo>
                <a:cubicBezTo>
                  <a:pt x="115164" y="138683"/>
                  <a:pt x="117302" y="151847"/>
                  <a:pt x="125393" y="160776"/>
                </a:cubicBezTo>
                <a:cubicBezTo>
                  <a:pt x="116924" y="170125"/>
                  <a:pt x="114996" y="184170"/>
                  <a:pt x="121452" y="195740"/>
                </a:cubicBezTo>
                <a:lnTo>
                  <a:pt x="130885" y="212677"/>
                </a:lnTo>
                <a:cubicBezTo>
                  <a:pt x="131262" y="213348"/>
                  <a:pt x="131681" y="214019"/>
                  <a:pt x="132101" y="214648"/>
                </a:cubicBezTo>
                <a:lnTo>
                  <a:pt x="32742" y="214648"/>
                </a:lnTo>
                <a:cubicBezTo>
                  <a:pt x="25867" y="214648"/>
                  <a:pt x="20291" y="209072"/>
                  <a:pt x="20291" y="202197"/>
                </a:cubicBezTo>
                <a:cubicBezTo>
                  <a:pt x="20291" y="160902"/>
                  <a:pt x="53746" y="127447"/>
                  <a:pt x="95040" y="127447"/>
                </a:cubicBezTo>
                <a:close/>
                <a:moveTo>
                  <a:pt x="181361" y="103802"/>
                </a:moveTo>
                <a:cubicBezTo>
                  <a:pt x="181361" y="98227"/>
                  <a:pt x="185847" y="93741"/>
                  <a:pt x="191422" y="93741"/>
                </a:cubicBezTo>
                <a:lnTo>
                  <a:pt x="211546" y="93741"/>
                </a:lnTo>
                <a:cubicBezTo>
                  <a:pt x="217121" y="93741"/>
                  <a:pt x="221607" y="98227"/>
                  <a:pt x="221607" y="103802"/>
                </a:cubicBezTo>
                <a:lnTo>
                  <a:pt x="221607" y="106360"/>
                </a:lnTo>
                <a:cubicBezTo>
                  <a:pt x="221607" y="114283"/>
                  <a:pt x="231711" y="120111"/>
                  <a:pt x="238586" y="116170"/>
                </a:cubicBezTo>
                <a:lnTo>
                  <a:pt x="240682" y="114954"/>
                </a:lnTo>
                <a:cubicBezTo>
                  <a:pt x="245545" y="112145"/>
                  <a:pt x="251792" y="113864"/>
                  <a:pt x="254517" y="118769"/>
                </a:cubicBezTo>
                <a:lnTo>
                  <a:pt x="263908" y="135622"/>
                </a:lnTo>
                <a:cubicBezTo>
                  <a:pt x="266507" y="140318"/>
                  <a:pt x="264998" y="146187"/>
                  <a:pt x="260470" y="149038"/>
                </a:cubicBezTo>
                <a:lnTo>
                  <a:pt x="258500" y="150254"/>
                </a:lnTo>
                <a:cubicBezTo>
                  <a:pt x="251708" y="154488"/>
                  <a:pt x="251708" y="166981"/>
                  <a:pt x="258500" y="171257"/>
                </a:cubicBezTo>
                <a:lnTo>
                  <a:pt x="260428" y="172473"/>
                </a:lnTo>
                <a:cubicBezTo>
                  <a:pt x="264956" y="175324"/>
                  <a:pt x="266507" y="181193"/>
                  <a:pt x="263908" y="185888"/>
                </a:cubicBezTo>
                <a:lnTo>
                  <a:pt x="254475" y="202825"/>
                </a:lnTo>
                <a:cubicBezTo>
                  <a:pt x="251750" y="207731"/>
                  <a:pt x="245504" y="209491"/>
                  <a:pt x="240640" y="206641"/>
                </a:cubicBezTo>
                <a:lnTo>
                  <a:pt x="238586" y="205425"/>
                </a:lnTo>
                <a:cubicBezTo>
                  <a:pt x="231711" y="201442"/>
                  <a:pt x="221607" y="207311"/>
                  <a:pt x="221607" y="215235"/>
                </a:cubicBezTo>
                <a:lnTo>
                  <a:pt x="221607" y="217792"/>
                </a:lnTo>
                <a:cubicBezTo>
                  <a:pt x="221607" y="223368"/>
                  <a:pt x="217121" y="227854"/>
                  <a:pt x="211546" y="227854"/>
                </a:cubicBezTo>
                <a:lnTo>
                  <a:pt x="191422" y="227854"/>
                </a:lnTo>
                <a:cubicBezTo>
                  <a:pt x="185847" y="227854"/>
                  <a:pt x="181361" y="223368"/>
                  <a:pt x="181361" y="217792"/>
                </a:cubicBezTo>
                <a:lnTo>
                  <a:pt x="181361" y="215319"/>
                </a:lnTo>
                <a:cubicBezTo>
                  <a:pt x="181361" y="207353"/>
                  <a:pt x="171215" y="201484"/>
                  <a:pt x="164298" y="205467"/>
                </a:cubicBezTo>
                <a:lnTo>
                  <a:pt x="162286" y="206641"/>
                </a:lnTo>
                <a:cubicBezTo>
                  <a:pt x="157422" y="209449"/>
                  <a:pt x="151218" y="207731"/>
                  <a:pt x="148451" y="202825"/>
                </a:cubicBezTo>
                <a:lnTo>
                  <a:pt x="138976" y="185888"/>
                </a:lnTo>
                <a:cubicBezTo>
                  <a:pt x="136377" y="181193"/>
                  <a:pt x="137886" y="175282"/>
                  <a:pt x="142456" y="172431"/>
                </a:cubicBezTo>
                <a:lnTo>
                  <a:pt x="144300" y="171299"/>
                </a:lnTo>
                <a:cubicBezTo>
                  <a:pt x="151134" y="167065"/>
                  <a:pt x="151134" y="154488"/>
                  <a:pt x="144300" y="150254"/>
                </a:cubicBezTo>
                <a:lnTo>
                  <a:pt x="142414" y="149080"/>
                </a:lnTo>
                <a:cubicBezTo>
                  <a:pt x="137844" y="146229"/>
                  <a:pt x="136335" y="140318"/>
                  <a:pt x="138934" y="135622"/>
                </a:cubicBezTo>
                <a:lnTo>
                  <a:pt x="148367" y="118727"/>
                </a:lnTo>
                <a:cubicBezTo>
                  <a:pt x="151092" y="113822"/>
                  <a:pt x="157339" y="112103"/>
                  <a:pt x="162160" y="114912"/>
                </a:cubicBezTo>
                <a:lnTo>
                  <a:pt x="164172" y="116086"/>
                </a:lnTo>
                <a:cubicBezTo>
                  <a:pt x="171089" y="120069"/>
                  <a:pt x="181235" y="114199"/>
                  <a:pt x="181235" y="106234"/>
                </a:cubicBezTo>
                <a:lnTo>
                  <a:pt x="181235" y="103760"/>
                </a:lnTo>
                <a:close/>
                <a:moveTo>
                  <a:pt x="223242" y="160902"/>
                </a:moveTo>
                <a:cubicBezTo>
                  <a:pt x="223242" y="148870"/>
                  <a:pt x="213474" y="139102"/>
                  <a:pt x="201442" y="139102"/>
                </a:cubicBezTo>
                <a:cubicBezTo>
                  <a:pt x="189410" y="139102"/>
                  <a:pt x="179642" y="148870"/>
                  <a:pt x="179642" y="160902"/>
                </a:cubicBezTo>
                <a:cubicBezTo>
                  <a:pt x="179642" y="172934"/>
                  <a:pt x="189410" y="182702"/>
                  <a:pt x="201442" y="182702"/>
                </a:cubicBezTo>
                <a:cubicBezTo>
                  <a:pt x="213474" y="182702"/>
                  <a:pt x="223242" y="172934"/>
                  <a:pt x="223242" y="160902"/>
                </a:cubicBezTo>
                <a:close/>
              </a:path>
            </a:pathLst>
          </a:custGeom>
          <a:solidFill>
            <a:srgbClr val="FF6900"/>
          </a:solidFill>
          <a:ln/>
        </p:spPr>
      </p:sp>
      <p:sp>
        <p:nvSpPr>
          <p:cNvPr id="34" name="Text 32"/>
          <p:cNvSpPr/>
          <p:nvPr/>
        </p:nvSpPr>
        <p:spPr>
          <a:xfrm>
            <a:off x="7010078" y="5228823"/>
            <a:ext cx="2680952" cy="300507"/>
          </a:xfrm>
          <a:prstGeom prst="rect">
            <a:avLst/>
          </a:prstGeom>
          <a:noFill/>
          <a:ln/>
        </p:spPr>
        <p:txBody>
          <a:bodyPr wrap="square" lIns="0" tIns="0" rIns="0" bIns="0" rtlCol="0" anchor="ctr"/>
          <a:lstStyle/>
          <a:p>
            <a:pPr>
              <a:lnSpc>
                <a:spcPct val="130000"/>
              </a:lnSpc>
            </a:pPr>
            <a:r>
              <a:rPr lang="en-US" sz="1521" b="1" dirty="0">
                <a:solidFill>
                  <a:srgbClr val="1D293D"/>
                </a:solidFill>
                <a:latin typeface="Quattrocento Sans" pitchFamily="34" charset="0"/>
                <a:ea typeface="Quattrocento Sans" pitchFamily="34" charset="-122"/>
                <a:cs typeface="Quattrocento Sans" pitchFamily="34" charset="-120"/>
              </a:rPr>
              <a:t>Technical Knowledge Required</a:t>
            </a:r>
            <a:endParaRPr lang="en-US" sz="1600" dirty="0"/>
          </a:p>
        </p:txBody>
      </p:sp>
      <p:sp>
        <p:nvSpPr>
          <p:cNvPr id="35" name="Text 33"/>
          <p:cNvSpPr/>
          <p:nvPr/>
        </p:nvSpPr>
        <p:spPr>
          <a:xfrm>
            <a:off x="6612980" y="5615189"/>
            <a:ext cx="4936901" cy="515155"/>
          </a:xfrm>
          <a:prstGeom prst="rect">
            <a:avLst/>
          </a:prstGeom>
          <a:noFill/>
          <a:ln/>
        </p:spPr>
        <p:txBody>
          <a:bodyPr wrap="square" lIns="0" tIns="0" rIns="0" bIns="0" rtlCol="0" anchor="ctr"/>
          <a:lstStyle/>
          <a:p>
            <a:pPr>
              <a:lnSpc>
                <a:spcPct val="130000"/>
              </a:lnSpc>
            </a:pPr>
            <a:r>
              <a:rPr lang="en-US" sz="1352" dirty="0">
                <a:solidFill>
                  <a:srgbClr val="45556C"/>
                </a:solidFill>
                <a:latin typeface="Quattrocento Sans" pitchFamily="34" charset="0"/>
                <a:ea typeface="Quattrocento Sans" pitchFamily="34" charset="-122"/>
                <a:cs typeface="Quattrocento Sans" pitchFamily="34" charset="-120"/>
              </a:rPr>
              <a:t>Users need basic understanding of scripts and command line operations</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7500" y="849313"/>
            <a:ext cx="4508500" cy="31750"/>
          </a:xfrm>
          <a:custGeom>
            <a:avLst/>
            <a:gdLst/>
            <a:ahLst/>
            <a:cxnLst/>
            <a:rect l="l" t="t" r="r" b="b"/>
            <a:pathLst>
              <a:path w="4508500" h="31750">
                <a:moveTo>
                  <a:pt x="0" y="0"/>
                </a:moveTo>
                <a:lnTo>
                  <a:pt x="4508500" y="0"/>
                </a:lnTo>
                <a:lnTo>
                  <a:pt x="4508500" y="31750"/>
                </a:lnTo>
                <a:lnTo>
                  <a:pt x="0" y="31750"/>
                </a:lnTo>
                <a:lnTo>
                  <a:pt x="0" y="0"/>
                </a:lnTo>
                <a:close/>
              </a:path>
            </a:pathLst>
          </a:custGeom>
          <a:solidFill>
            <a:srgbClr val="2B7FFF"/>
          </a:solidFill>
          <a:ln/>
        </p:spPr>
      </p:sp>
      <p:sp>
        <p:nvSpPr>
          <p:cNvPr id="3" name="Text 1"/>
          <p:cNvSpPr/>
          <p:nvPr/>
        </p:nvSpPr>
        <p:spPr>
          <a:xfrm>
            <a:off x="317500" y="317500"/>
            <a:ext cx="4687094" cy="515938"/>
          </a:xfrm>
          <a:prstGeom prst="rect">
            <a:avLst/>
          </a:prstGeom>
          <a:noFill/>
          <a:ln/>
        </p:spPr>
        <p:txBody>
          <a:bodyPr wrap="square" lIns="0" tIns="0" rIns="0" bIns="119063" rtlCol="0" anchor="ctr"/>
          <a:lstStyle/>
          <a:p>
            <a:pPr>
              <a:lnSpc>
                <a:spcPct val="90000"/>
              </a:lnSpc>
            </a:pPr>
            <a:r>
              <a:rPr lang="en-US" sz="2813" b="1" dirty="0">
                <a:solidFill>
                  <a:srgbClr val="1D293D"/>
                </a:solidFill>
                <a:latin typeface="Quattrocento Sans" pitchFamily="34" charset="0"/>
                <a:ea typeface="Quattrocento Sans" pitchFamily="34" charset="-122"/>
                <a:cs typeface="Quattrocento Sans" pitchFamily="34" charset="-120"/>
              </a:rPr>
              <a:t>Conclusion and Future Scope</a:t>
            </a:r>
            <a:endParaRPr lang="en-US" sz="1600" dirty="0"/>
          </a:p>
        </p:txBody>
      </p:sp>
      <p:sp>
        <p:nvSpPr>
          <p:cNvPr id="4" name="Shape 2"/>
          <p:cNvSpPr/>
          <p:nvPr/>
        </p:nvSpPr>
        <p:spPr>
          <a:xfrm>
            <a:off x="317500" y="1103313"/>
            <a:ext cx="11557000" cy="1889125"/>
          </a:xfrm>
          <a:custGeom>
            <a:avLst/>
            <a:gdLst/>
            <a:ahLst/>
            <a:cxnLst/>
            <a:rect l="l" t="t" r="r" b="b"/>
            <a:pathLst>
              <a:path w="11557000" h="1889125">
                <a:moveTo>
                  <a:pt x="79381" y="0"/>
                </a:moveTo>
                <a:lnTo>
                  <a:pt x="11477619" y="0"/>
                </a:lnTo>
                <a:cubicBezTo>
                  <a:pt x="11521460" y="0"/>
                  <a:pt x="11557000" y="35540"/>
                  <a:pt x="11557000" y="79381"/>
                </a:cubicBezTo>
                <a:lnTo>
                  <a:pt x="11557000" y="1809744"/>
                </a:lnTo>
                <a:cubicBezTo>
                  <a:pt x="11557000" y="1853585"/>
                  <a:pt x="11521460" y="1889125"/>
                  <a:pt x="11477619" y="1889125"/>
                </a:cubicBezTo>
                <a:lnTo>
                  <a:pt x="79381" y="1889125"/>
                </a:lnTo>
                <a:cubicBezTo>
                  <a:pt x="35540" y="1889125"/>
                  <a:pt x="0" y="1853585"/>
                  <a:pt x="0" y="1809744"/>
                </a:cubicBezTo>
                <a:lnTo>
                  <a:pt x="0" y="79381"/>
                </a:lnTo>
                <a:cubicBezTo>
                  <a:pt x="0" y="35540"/>
                  <a:pt x="35540" y="0"/>
                  <a:pt x="79381" y="0"/>
                </a:cubicBezTo>
                <a:close/>
              </a:path>
            </a:pathLst>
          </a:custGeom>
          <a:gradFill rotWithShape="1" flip="none">
            <a:gsLst>
              <a:gs pos="0">
                <a:srgbClr val="EFF6FF"/>
              </a:gs>
              <a:gs pos="100000">
                <a:srgbClr val="DBEAFE"/>
              </a:gs>
            </a:gsLst>
            <a:lin ang="0" scaled="1"/>
          </a:gradFill>
          <a:ln/>
        </p:spPr>
      </p:sp>
      <p:sp>
        <p:nvSpPr>
          <p:cNvPr id="5" name="Shape 3"/>
          <p:cNvSpPr/>
          <p:nvPr/>
        </p:nvSpPr>
        <p:spPr>
          <a:xfrm>
            <a:off x="515938" y="1301750"/>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2B7FFF"/>
          </a:solidFill>
          <a:ln/>
        </p:spPr>
      </p:sp>
      <p:sp>
        <p:nvSpPr>
          <p:cNvPr id="6" name="Shape 4"/>
          <p:cNvSpPr/>
          <p:nvPr/>
        </p:nvSpPr>
        <p:spPr>
          <a:xfrm>
            <a:off x="706438" y="1460500"/>
            <a:ext cx="178594" cy="238125"/>
          </a:xfrm>
          <a:custGeom>
            <a:avLst/>
            <a:gdLst/>
            <a:ahLst/>
            <a:cxnLst/>
            <a:rect l="l" t="t" r="r" b="b"/>
            <a:pathLst>
              <a:path w="178594" h="238125">
                <a:moveTo>
                  <a:pt x="144828" y="14883"/>
                </a:moveTo>
                <a:lnTo>
                  <a:pt x="148828" y="14883"/>
                </a:lnTo>
                <a:cubicBezTo>
                  <a:pt x="165246" y="14883"/>
                  <a:pt x="178594" y="28231"/>
                  <a:pt x="178594" y="44648"/>
                </a:cubicBezTo>
                <a:lnTo>
                  <a:pt x="178594" y="208359"/>
                </a:lnTo>
                <a:cubicBezTo>
                  <a:pt x="178594" y="224777"/>
                  <a:pt x="165246" y="238125"/>
                  <a:pt x="148828" y="238125"/>
                </a:cubicBezTo>
                <a:lnTo>
                  <a:pt x="29766" y="238125"/>
                </a:lnTo>
                <a:cubicBezTo>
                  <a:pt x="13348" y="238125"/>
                  <a:pt x="0" y="224777"/>
                  <a:pt x="0" y="208359"/>
                </a:cubicBezTo>
                <a:lnTo>
                  <a:pt x="0" y="44648"/>
                </a:lnTo>
                <a:cubicBezTo>
                  <a:pt x="0" y="28231"/>
                  <a:pt x="13348" y="14883"/>
                  <a:pt x="29766" y="14883"/>
                </a:cubicBezTo>
                <a:lnTo>
                  <a:pt x="33765" y="14883"/>
                </a:lnTo>
                <a:cubicBezTo>
                  <a:pt x="38881" y="6000"/>
                  <a:pt x="48509" y="0"/>
                  <a:pt x="59531" y="0"/>
                </a:cubicBezTo>
                <a:lnTo>
                  <a:pt x="119062" y="0"/>
                </a:lnTo>
                <a:cubicBezTo>
                  <a:pt x="130085" y="0"/>
                  <a:pt x="139712" y="6000"/>
                  <a:pt x="144828" y="14883"/>
                </a:cubicBezTo>
                <a:close/>
                <a:moveTo>
                  <a:pt x="115342" y="52090"/>
                </a:moveTo>
                <a:cubicBezTo>
                  <a:pt x="121527" y="52090"/>
                  <a:pt x="126504" y="47113"/>
                  <a:pt x="126504" y="40928"/>
                </a:cubicBezTo>
                <a:cubicBezTo>
                  <a:pt x="126504" y="34742"/>
                  <a:pt x="121527" y="29766"/>
                  <a:pt x="115342" y="29766"/>
                </a:cubicBezTo>
                <a:lnTo>
                  <a:pt x="63252" y="29766"/>
                </a:lnTo>
                <a:cubicBezTo>
                  <a:pt x="57066" y="29766"/>
                  <a:pt x="52090" y="34742"/>
                  <a:pt x="52090" y="40928"/>
                </a:cubicBezTo>
                <a:cubicBezTo>
                  <a:pt x="52090" y="47113"/>
                  <a:pt x="57066" y="52090"/>
                  <a:pt x="63252" y="52090"/>
                </a:cubicBezTo>
                <a:lnTo>
                  <a:pt x="115342" y="52090"/>
                </a:lnTo>
                <a:close/>
                <a:moveTo>
                  <a:pt x="128550" y="121248"/>
                </a:moveTo>
                <a:cubicBezTo>
                  <a:pt x="131806" y="116039"/>
                  <a:pt x="130225" y="109156"/>
                  <a:pt x="125016" y="105854"/>
                </a:cubicBezTo>
                <a:cubicBezTo>
                  <a:pt x="119807" y="102552"/>
                  <a:pt x="112923" y="104180"/>
                  <a:pt x="109621" y="109389"/>
                </a:cubicBezTo>
                <a:lnTo>
                  <a:pt x="81065" y="155107"/>
                </a:lnTo>
                <a:lnTo>
                  <a:pt x="68507" y="138364"/>
                </a:lnTo>
                <a:cubicBezTo>
                  <a:pt x="64787" y="133434"/>
                  <a:pt x="57810" y="132411"/>
                  <a:pt x="52880" y="136131"/>
                </a:cubicBezTo>
                <a:cubicBezTo>
                  <a:pt x="47951" y="139852"/>
                  <a:pt x="46927" y="146828"/>
                  <a:pt x="50648" y="151758"/>
                </a:cubicBezTo>
                <a:lnTo>
                  <a:pt x="72972" y="181524"/>
                </a:lnTo>
                <a:cubicBezTo>
                  <a:pt x="75158" y="184454"/>
                  <a:pt x="78693" y="186128"/>
                  <a:pt x="82367" y="185989"/>
                </a:cubicBezTo>
                <a:cubicBezTo>
                  <a:pt x="86041" y="185849"/>
                  <a:pt x="89390" y="183896"/>
                  <a:pt x="91343" y="180733"/>
                </a:cubicBezTo>
                <a:lnTo>
                  <a:pt x="128550" y="121202"/>
                </a:lnTo>
                <a:close/>
              </a:path>
            </a:pathLst>
          </a:custGeom>
          <a:solidFill>
            <a:srgbClr val="FFFFFF"/>
          </a:solidFill>
          <a:ln/>
        </p:spPr>
      </p:sp>
      <p:sp>
        <p:nvSpPr>
          <p:cNvPr id="7" name="Text 5"/>
          <p:cNvSpPr/>
          <p:nvPr/>
        </p:nvSpPr>
        <p:spPr>
          <a:xfrm>
            <a:off x="1230313" y="1420813"/>
            <a:ext cx="2151063"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Summary of Project</a:t>
            </a:r>
            <a:endParaRPr lang="en-US" sz="1600" dirty="0"/>
          </a:p>
        </p:txBody>
      </p:sp>
      <p:sp>
        <p:nvSpPr>
          <p:cNvPr id="8" name="Text 6"/>
          <p:cNvSpPr/>
          <p:nvPr/>
        </p:nvSpPr>
        <p:spPr>
          <a:xfrm>
            <a:off x="515938" y="2016125"/>
            <a:ext cx="11239500" cy="777875"/>
          </a:xfrm>
          <a:prstGeom prst="rect">
            <a:avLst/>
          </a:prstGeom>
          <a:noFill/>
          <a:ln/>
        </p:spPr>
        <p:txBody>
          <a:bodyPr wrap="square" lIns="0" tIns="0" rIns="0" bIns="0" rtlCol="0" anchor="ctr"/>
          <a:lstStyle/>
          <a:p>
            <a:pPr>
              <a:lnSpc>
                <a:spcPct val="140000"/>
              </a:lnSpc>
            </a:pPr>
            <a:r>
              <a:rPr lang="en-US" sz="1250" dirty="0">
                <a:solidFill>
                  <a:srgbClr val="314158"/>
                </a:solidFill>
                <a:latin typeface="Quattrocento Sans" pitchFamily="34" charset="0"/>
                <a:ea typeface="Quattrocento Sans" pitchFamily="34" charset="-122"/>
                <a:cs typeface="Quattrocento Sans" pitchFamily="34" charset="-120"/>
              </a:rPr>
              <a:t>Development Environment Manager provides a simple, script-based solution for backing up and restoring developer environments across Windows, Linux, and macOS. Using native PowerShell and Shell scripts, it stores configurations in readable text and JSON files without requiring external tools or containerization platforms.</a:t>
            </a:r>
            <a:endParaRPr lang="en-US" sz="1600" dirty="0"/>
          </a:p>
        </p:txBody>
      </p:sp>
      <p:sp>
        <p:nvSpPr>
          <p:cNvPr id="9" name="Shape 7"/>
          <p:cNvSpPr/>
          <p:nvPr/>
        </p:nvSpPr>
        <p:spPr>
          <a:xfrm>
            <a:off x="317500" y="3147219"/>
            <a:ext cx="5661323" cy="3550751"/>
          </a:xfrm>
          <a:custGeom>
            <a:avLst/>
            <a:gdLst/>
            <a:ahLst/>
            <a:cxnLst/>
            <a:rect l="l" t="t" r="r" b="b"/>
            <a:pathLst>
              <a:path w="5661323" h="3550751">
                <a:moveTo>
                  <a:pt x="38886" y="0"/>
                </a:moveTo>
                <a:lnTo>
                  <a:pt x="5622437" y="0"/>
                </a:lnTo>
                <a:cubicBezTo>
                  <a:pt x="5643913" y="0"/>
                  <a:pt x="5661323" y="58883"/>
                  <a:pt x="5661323" y="131520"/>
                </a:cubicBezTo>
                <a:lnTo>
                  <a:pt x="5661323" y="3419231"/>
                </a:lnTo>
                <a:cubicBezTo>
                  <a:pt x="5661323" y="3491867"/>
                  <a:pt x="5643913" y="3550751"/>
                  <a:pt x="5622437" y="3550751"/>
                </a:cubicBezTo>
                <a:lnTo>
                  <a:pt x="38886" y="3550751"/>
                </a:lnTo>
                <a:cubicBezTo>
                  <a:pt x="17410" y="3550751"/>
                  <a:pt x="0" y="3491867"/>
                  <a:pt x="0" y="3419231"/>
                </a:cubicBezTo>
                <a:lnTo>
                  <a:pt x="0" y="131520"/>
                </a:lnTo>
                <a:cubicBezTo>
                  <a:pt x="0" y="58932"/>
                  <a:pt x="17424" y="0"/>
                  <a:pt x="38886" y="0"/>
                </a:cubicBezTo>
                <a:close/>
              </a:path>
            </a:pathLst>
          </a:custGeom>
          <a:gradFill rotWithShape="1" flip="none">
            <a:gsLst>
              <a:gs pos="0">
                <a:srgbClr val="F0FDF4"/>
              </a:gs>
              <a:gs pos="100000">
                <a:srgbClr val="DCFCE7"/>
              </a:gs>
            </a:gsLst>
            <a:lin ang="0" scaled="1"/>
          </a:gradFill>
          <a:ln/>
        </p:spPr>
      </p:sp>
      <p:sp>
        <p:nvSpPr>
          <p:cNvPr id="10" name="Shape 8"/>
          <p:cNvSpPr/>
          <p:nvPr/>
        </p:nvSpPr>
        <p:spPr>
          <a:xfrm>
            <a:off x="515938" y="3345656"/>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00C950"/>
          </a:solidFill>
          <a:ln/>
        </p:spPr>
      </p:sp>
      <p:sp>
        <p:nvSpPr>
          <p:cNvPr id="11" name="Shape 9"/>
          <p:cNvSpPr/>
          <p:nvPr/>
        </p:nvSpPr>
        <p:spPr>
          <a:xfrm>
            <a:off x="676672" y="3504406"/>
            <a:ext cx="238125" cy="238125"/>
          </a:xfrm>
          <a:custGeom>
            <a:avLst/>
            <a:gdLst/>
            <a:ahLst/>
            <a:cxnLst/>
            <a:rect l="l" t="t" r="r" b="b"/>
            <a:pathLst>
              <a:path w="238125" h="238125">
                <a:moveTo>
                  <a:pt x="156270" y="163711"/>
                </a:moveTo>
                <a:cubicBezTo>
                  <a:pt x="201476" y="163711"/>
                  <a:pt x="238125" y="127062"/>
                  <a:pt x="238125" y="81855"/>
                </a:cubicBezTo>
                <a:cubicBezTo>
                  <a:pt x="238125" y="36649"/>
                  <a:pt x="201476" y="0"/>
                  <a:pt x="156270" y="0"/>
                </a:cubicBezTo>
                <a:cubicBezTo>
                  <a:pt x="111063" y="0"/>
                  <a:pt x="74414" y="36649"/>
                  <a:pt x="74414" y="81855"/>
                </a:cubicBezTo>
                <a:cubicBezTo>
                  <a:pt x="74414" y="90553"/>
                  <a:pt x="75763" y="98971"/>
                  <a:pt x="78274" y="106831"/>
                </a:cubicBezTo>
                <a:lnTo>
                  <a:pt x="3256" y="181849"/>
                </a:lnTo>
                <a:cubicBezTo>
                  <a:pt x="1163" y="183942"/>
                  <a:pt x="0" y="186779"/>
                  <a:pt x="0" y="189756"/>
                </a:cubicBezTo>
                <a:lnTo>
                  <a:pt x="0" y="226963"/>
                </a:lnTo>
                <a:cubicBezTo>
                  <a:pt x="0" y="233149"/>
                  <a:pt x="4976" y="238125"/>
                  <a:pt x="11162" y="238125"/>
                </a:cubicBezTo>
                <a:lnTo>
                  <a:pt x="48369" y="238125"/>
                </a:lnTo>
                <a:cubicBezTo>
                  <a:pt x="54555" y="238125"/>
                  <a:pt x="59531" y="233149"/>
                  <a:pt x="59531" y="226963"/>
                </a:cubicBezTo>
                <a:lnTo>
                  <a:pt x="59531" y="208359"/>
                </a:lnTo>
                <a:lnTo>
                  <a:pt x="78135" y="208359"/>
                </a:lnTo>
                <a:cubicBezTo>
                  <a:pt x="84320" y="208359"/>
                  <a:pt x="89297" y="203383"/>
                  <a:pt x="89297" y="197197"/>
                </a:cubicBezTo>
                <a:lnTo>
                  <a:pt x="89297" y="178594"/>
                </a:lnTo>
                <a:lnTo>
                  <a:pt x="107900" y="178594"/>
                </a:lnTo>
                <a:cubicBezTo>
                  <a:pt x="110877" y="178594"/>
                  <a:pt x="113714" y="177431"/>
                  <a:pt x="115807" y="175338"/>
                </a:cubicBezTo>
                <a:lnTo>
                  <a:pt x="131294" y="159851"/>
                </a:lnTo>
                <a:cubicBezTo>
                  <a:pt x="139154" y="162362"/>
                  <a:pt x="147572" y="163711"/>
                  <a:pt x="156270" y="163711"/>
                </a:cubicBezTo>
                <a:close/>
                <a:moveTo>
                  <a:pt x="174873" y="44648"/>
                </a:moveTo>
                <a:cubicBezTo>
                  <a:pt x="185141" y="44648"/>
                  <a:pt x="193477" y="52984"/>
                  <a:pt x="193477" y="63252"/>
                </a:cubicBezTo>
                <a:cubicBezTo>
                  <a:pt x="193477" y="73520"/>
                  <a:pt x="185141" y="81855"/>
                  <a:pt x="174873" y="81855"/>
                </a:cubicBezTo>
                <a:cubicBezTo>
                  <a:pt x="164605" y="81855"/>
                  <a:pt x="156270" y="73520"/>
                  <a:pt x="156270" y="63252"/>
                </a:cubicBezTo>
                <a:cubicBezTo>
                  <a:pt x="156270" y="52984"/>
                  <a:pt x="164605" y="44648"/>
                  <a:pt x="174873" y="44648"/>
                </a:cubicBezTo>
                <a:close/>
              </a:path>
            </a:pathLst>
          </a:custGeom>
          <a:solidFill>
            <a:srgbClr val="FFFFFF"/>
          </a:solidFill>
          <a:ln/>
        </p:spPr>
      </p:sp>
      <p:sp>
        <p:nvSpPr>
          <p:cNvPr id="12" name="Text 10"/>
          <p:cNvSpPr/>
          <p:nvPr/>
        </p:nvSpPr>
        <p:spPr>
          <a:xfrm>
            <a:off x="1230313" y="3464719"/>
            <a:ext cx="1706563"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Key Takeaways</a:t>
            </a:r>
            <a:endParaRPr lang="en-US" sz="1600" dirty="0"/>
          </a:p>
        </p:txBody>
      </p:sp>
      <p:sp>
        <p:nvSpPr>
          <p:cNvPr id="13" name="Shape 11"/>
          <p:cNvSpPr/>
          <p:nvPr/>
        </p:nvSpPr>
        <p:spPr>
          <a:xfrm>
            <a:off x="539750" y="4099719"/>
            <a:ext cx="198438" cy="198438"/>
          </a:xfrm>
          <a:custGeom>
            <a:avLst/>
            <a:gdLst/>
            <a:ahLst/>
            <a:cxnLst/>
            <a:rect l="l" t="t" r="r" b="b"/>
            <a:pathLst>
              <a:path w="198438" h="198438">
                <a:moveTo>
                  <a:pt x="99219" y="198437"/>
                </a:moveTo>
                <a:cubicBezTo>
                  <a:pt x="153979" y="198437"/>
                  <a:pt x="198437" y="153979"/>
                  <a:pt x="198437" y="99219"/>
                </a:cubicBezTo>
                <a:cubicBezTo>
                  <a:pt x="198437" y="44458"/>
                  <a:pt x="153979" y="0"/>
                  <a:pt x="99219" y="0"/>
                </a:cubicBezTo>
                <a:cubicBezTo>
                  <a:pt x="44458" y="0"/>
                  <a:pt x="0" y="44458"/>
                  <a:pt x="0" y="99219"/>
                </a:cubicBezTo>
                <a:cubicBezTo>
                  <a:pt x="0" y="153979"/>
                  <a:pt x="44458" y="198437"/>
                  <a:pt x="99219" y="198437"/>
                </a:cubicBezTo>
                <a:close/>
                <a:moveTo>
                  <a:pt x="131930" y="82437"/>
                </a:moveTo>
                <a:lnTo>
                  <a:pt x="100924" y="132046"/>
                </a:lnTo>
                <a:cubicBezTo>
                  <a:pt x="99296" y="134643"/>
                  <a:pt x="96506" y="136271"/>
                  <a:pt x="93444" y="136426"/>
                </a:cubicBezTo>
                <a:cubicBezTo>
                  <a:pt x="90382" y="136581"/>
                  <a:pt x="87437" y="135186"/>
                  <a:pt x="85615" y="132705"/>
                </a:cubicBezTo>
                <a:lnTo>
                  <a:pt x="67011" y="107900"/>
                </a:lnTo>
                <a:cubicBezTo>
                  <a:pt x="63911" y="103792"/>
                  <a:pt x="64763" y="97979"/>
                  <a:pt x="68872" y="94878"/>
                </a:cubicBezTo>
                <a:cubicBezTo>
                  <a:pt x="72980" y="91777"/>
                  <a:pt x="78794" y="92630"/>
                  <a:pt x="81894" y="96738"/>
                </a:cubicBezTo>
                <a:lnTo>
                  <a:pt x="92359" y="110691"/>
                </a:lnTo>
                <a:lnTo>
                  <a:pt x="116156" y="72592"/>
                </a:lnTo>
                <a:cubicBezTo>
                  <a:pt x="118869" y="68252"/>
                  <a:pt x="124605" y="66895"/>
                  <a:pt x="128984" y="69647"/>
                </a:cubicBezTo>
                <a:cubicBezTo>
                  <a:pt x="133364" y="72399"/>
                  <a:pt x="134682" y="78096"/>
                  <a:pt x="131930" y="82476"/>
                </a:cubicBezTo>
                <a:close/>
              </a:path>
            </a:pathLst>
          </a:custGeom>
          <a:solidFill>
            <a:srgbClr val="00C950"/>
          </a:solidFill>
          <a:ln/>
        </p:spPr>
      </p:sp>
      <p:sp>
        <p:nvSpPr>
          <p:cNvPr id="14" name="Text 12"/>
          <p:cNvSpPr/>
          <p:nvPr/>
        </p:nvSpPr>
        <p:spPr>
          <a:xfrm>
            <a:off x="883047" y="4021931"/>
            <a:ext cx="1952625"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Native scripting is sufficient</a:t>
            </a:r>
            <a:endParaRPr lang="en-US" sz="1600" dirty="0"/>
          </a:p>
        </p:txBody>
      </p:sp>
      <p:sp>
        <p:nvSpPr>
          <p:cNvPr id="15" name="Text 13"/>
          <p:cNvSpPr/>
          <p:nvPr/>
        </p:nvSpPr>
        <p:spPr>
          <a:xfrm>
            <a:off x="883047" y="4260056"/>
            <a:ext cx="1942703"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No need for complex tools</a:t>
            </a:r>
            <a:endParaRPr lang="en-US" sz="1600" dirty="0"/>
          </a:p>
        </p:txBody>
      </p:sp>
      <p:sp>
        <p:nvSpPr>
          <p:cNvPr id="16" name="Shape 14"/>
          <p:cNvSpPr/>
          <p:nvPr/>
        </p:nvSpPr>
        <p:spPr>
          <a:xfrm>
            <a:off x="547688" y="5191919"/>
            <a:ext cx="198438" cy="198438"/>
          </a:xfrm>
          <a:custGeom>
            <a:avLst/>
            <a:gdLst/>
            <a:ahLst/>
            <a:cxnLst/>
            <a:rect l="l" t="t" r="r" b="b"/>
            <a:pathLst>
              <a:path w="198438" h="198438">
                <a:moveTo>
                  <a:pt x="99219" y="198437"/>
                </a:moveTo>
                <a:cubicBezTo>
                  <a:pt x="153979" y="198437"/>
                  <a:pt x="198437" y="153979"/>
                  <a:pt x="198437" y="99219"/>
                </a:cubicBezTo>
                <a:cubicBezTo>
                  <a:pt x="198437" y="44458"/>
                  <a:pt x="153979" y="0"/>
                  <a:pt x="99219" y="0"/>
                </a:cubicBezTo>
                <a:cubicBezTo>
                  <a:pt x="44458" y="0"/>
                  <a:pt x="0" y="44458"/>
                  <a:pt x="0" y="99219"/>
                </a:cubicBezTo>
                <a:cubicBezTo>
                  <a:pt x="0" y="153979"/>
                  <a:pt x="44458" y="198437"/>
                  <a:pt x="99219" y="198437"/>
                </a:cubicBezTo>
                <a:close/>
                <a:moveTo>
                  <a:pt x="131930" y="82437"/>
                </a:moveTo>
                <a:lnTo>
                  <a:pt x="100924" y="132046"/>
                </a:lnTo>
                <a:cubicBezTo>
                  <a:pt x="99296" y="134643"/>
                  <a:pt x="96506" y="136271"/>
                  <a:pt x="93444" y="136426"/>
                </a:cubicBezTo>
                <a:cubicBezTo>
                  <a:pt x="90382" y="136581"/>
                  <a:pt x="87437" y="135186"/>
                  <a:pt x="85615" y="132705"/>
                </a:cubicBezTo>
                <a:lnTo>
                  <a:pt x="67011" y="107900"/>
                </a:lnTo>
                <a:cubicBezTo>
                  <a:pt x="63911" y="103792"/>
                  <a:pt x="64763" y="97979"/>
                  <a:pt x="68872" y="94878"/>
                </a:cubicBezTo>
                <a:cubicBezTo>
                  <a:pt x="72980" y="91777"/>
                  <a:pt x="78794" y="92630"/>
                  <a:pt x="81894" y="96738"/>
                </a:cubicBezTo>
                <a:lnTo>
                  <a:pt x="92359" y="110691"/>
                </a:lnTo>
                <a:lnTo>
                  <a:pt x="116156" y="72592"/>
                </a:lnTo>
                <a:cubicBezTo>
                  <a:pt x="118869" y="68252"/>
                  <a:pt x="124605" y="66895"/>
                  <a:pt x="128984" y="69647"/>
                </a:cubicBezTo>
                <a:cubicBezTo>
                  <a:pt x="133364" y="72399"/>
                  <a:pt x="134682" y="78096"/>
                  <a:pt x="131930" y="82476"/>
                </a:cubicBezTo>
                <a:close/>
              </a:path>
            </a:pathLst>
          </a:custGeom>
          <a:solidFill>
            <a:srgbClr val="00C950"/>
          </a:solidFill>
          <a:ln/>
        </p:spPr>
      </p:sp>
      <p:sp>
        <p:nvSpPr>
          <p:cNvPr id="17" name="Text 15"/>
          <p:cNvSpPr/>
          <p:nvPr/>
        </p:nvSpPr>
        <p:spPr>
          <a:xfrm>
            <a:off x="890984" y="5126831"/>
            <a:ext cx="1833563"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Simple formats work well</a:t>
            </a:r>
            <a:endParaRPr lang="en-US" sz="1600" dirty="0"/>
          </a:p>
        </p:txBody>
      </p:sp>
      <p:sp>
        <p:nvSpPr>
          <p:cNvPr id="18" name="Text 16"/>
          <p:cNvSpPr/>
          <p:nvPr/>
        </p:nvSpPr>
        <p:spPr>
          <a:xfrm>
            <a:off x="890984" y="5364956"/>
            <a:ext cx="1823641"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Text and JSON are effective</a:t>
            </a:r>
            <a:endParaRPr lang="en-US" sz="1600" dirty="0"/>
          </a:p>
        </p:txBody>
      </p:sp>
      <p:sp>
        <p:nvSpPr>
          <p:cNvPr id="19" name="Shape 17"/>
          <p:cNvSpPr/>
          <p:nvPr/>
        </p:nvSpPr>
        <p:spPr>
          <a:xfrm>
            <a:off x="539750" y="4644231"/>
            <a:ext cx="198438" cy="198438"/>
          </a:xfrm>
          <a:custGeom>
            <a:avLst/>
            <a:gdLst/>
            <a:ahLst/>
            <a:cxnLst/>
            <a:rect l="l" t="t" r="r" b="b"/>
            <a:pathLst>
              <a:path w="198438" h="198438">
                <a:moveTo>
                  <a:pt x="99219" y="198437"/>
                </a:moveTo>
                <a:cubicBezTo>
                  <a:pt x="153979" y="198437"/>
                  <a:pt x="198437" y="153979"/>
                  <a:pt x="198437" y="99219"/>
                </a:cubicBezTo>
                <a:cubicBezTo>
                  <a:pt x="198437" y="44458"/>
                  <a:pt x="153979" y="0"/>
                  <a:pt x="99219" y="0"/>
                </a:cubicBezTo>
                <a:cubicBezTo>
                  <a:pt x="44458" y="0"/>
                  <a:pt x="0" y="44458"/>
                  <a:pt x="0" y="99219"/>
                </a:cubicBezTo>
                <a:cubicBezTo>
                  <a:pt x="0" y="153979"/>
                  <a:pt x="44458" y="198437"/>
                  <a:pt x="99219" y="198437"/>
                </a:cubicBezTo>
                <a:close/>
                <a:moveTo>
                  <a:pt x="131930" y="82437"/>
                </a:moveTo>
                <a:lnTo>
                  <a:pt x="100924" y="132046"/>
                </a:lnTo>
                <a:cubicBezTo>
                  <a:pt x="99296" y="134643"/>
                  <a:pt x="96506" y="136271"/>
                  <a:pt x="93444" y="136426"/>
                </a:cubicBezTo>
                <a:cubicBezTo>
                  <a:pt x="90382" y="136581"/>
                  <a:pt x="87437" y="135186"/>
                  <a:pt x="85615" y="132705"/>
                </a:cubicBezTo>
                <a:lnTo>
                  <a:pt x="67011" y="107900"/>
                </a:lnTo>
                <a:cubicBezTo>
                  <a:pt x="63911" y="103792"/>
                  <a:pt x="64763" y="97979"/>
                  <a:pt x="68872" y="94878"/>
                </a:cubicBezTo>
                <a:cubicBezTo>
                  <a:pt x="72980" y="91777"/>
                  <a:pt x="78794" y="92630"/>
                  <a:pt x="81894" y="96738"/>
                </a:cubicBezTo>
                <a:lnTo>
                  <a:pt x="92359" y="110691"/>
                </a:lnTo>
                <a:lnTo>
                  <a:pt x="116156" y="72592"/>
                </a:lnTo>
                <a:cubicBezTo>
                  <a:pt x="118869" y="68252"/>
                  <a:pt x="124605" y="66895"/>
                  <a:pt x="128984" y="69647"/>
                </a:cubicBezTo>
                <a:cubicBezTo>
                  <a:pt x="133364" y="72399"/>
                  <a:pt x="134682" y="78096"/>
                  <a:pt x="131930" y="82476"/>
                </a:cubicBezTo>
                <a:close/>
              </a:path>
            </a:pathLst>
          </a:custGeom>
          <a:solidFill>
            <a:srgbClr val="00C950"/>
          </a:solidFill>
          <a:ln/>
        </p:spPr>
      </p:sp>
      <p:sp>
        <p:nvSpPr>
          <p:cNvPr id="20" name="Text 18"/>
          <p:cNvSpPr/>
          <p:nvPr/>
        </p:nvSpPr>
        <p:spPr>
          <a:xfrm>
            <a:off x="883047" y="4566444"/>
            <a:ext cx="2349500"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Cross-platform is achievable</a:t>
            </a:r>
            <a:endParaRPr lang="en-US" sz="1600" dirty="0"/>
          </a:p>
        </p:txBody>
      </p:sp>
      <p:sp>
        <p:nvSpPr>
          <p:cNvPr id="21" name="Text 19"/>
          <p:cNvSpPr/>
          <p:nvPr/>
        </p:nvSpPr>
        <p:spPr>
          <a:xfrm>
            <a:off x="883047" y="4804569"/>
            <a:ext cx="2339578"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OS-specific scripts handle differences</a:t>
            </a:r>
            <a:endParaRPr lang="en-US" sz="1600" dirty="0"/>
          </a:p>
        </p:txBody>
      </p:sp>
      <p:sp>
        <p:nvSpPr>
          <p:cNvPr id="22" name="Shape 20"/>
          <p:cNvSpPr/>
          <p:nvPr/>
        </p:nvSpPr>
        <p:spPr>
          <a:xfrm>
            <a:off x="547688" y="5736431"/>
            <a:ext cx="198438" cy="198438"/>
          </a:xfrm>
          <a:custGeom>
            <a:avLst/>
            <a:gdLst/>
            <a:ahLst/>
            <a:cxnLst/>
            <a:rect l="l" t="t" r="r" b="b"/>
            <a:pathLst>
              <a:path w="198438" h="198438">
                <a:moveTo>
                  <a:pt x="99219" y="198437"/>
                </a:moveTo>
                <a:cubicBezTo>
                  <a:pt x="153979" y="198437"/>
                  <a:pt x="198437" y="153979"/>
                  <a:pt x="198437" y="99219"/>
                </a:cubicBezTo>
                <a:cubicBezTo>
                  <a:pt x="198437" y="44458"/>
                  <a:pt x="153979" y="0"/>
                  <a:pt x="99219" y="0"/>
                </a:cubicBezTo>
                <a:cubicBezTo>
                  <a:pt x="44458" y="0"/>
                  <a:pt x="0" y="44458"/>
                  <a:pt x="0" y="99219"/>
                </a:cubicBezTo>
                <a:cubicBezTo>
                  <a:pt x="0" y="153979"/>
                  <a:pt x="44458" y="198437"/>
                  <a:pt x="99219" y="198437"/>
                </a:cubicBezTo>
                <a:close/>
                <a:moveTo>
                  <a:pt x="131930" y="82437"/>
                </a:moveTo>
                <a:lnTo>
                  <a:pt x="100924" y="132046"/>
                </a:lnTo>
                <a:cubicBezTo>
                  <a:pt x="99296" y="134643"/>
                  <a:pt x="96506" y="136271"/>
                  <a:pt x="93444" y="136426"/>
                </a:cubicBezTo>
                <a:cubicBezTo>
                  <a:pt x="90382" y="136581"/>
                  <a:pt x="87437" y="135186"/>
                  <a:pt x="85615" y="132705"/>
                </a:cubicBezTo>
                <a:lnTo>
                  <a:pt x="67011" y="107900"/>
                </a:lnTo>
                <a:cubicBezTo>
                  <a:pt x="63911" y="103792"/>
                  <a:pt x="64763" y="97979"/>
                  <a:pt x="68872" y="94878"/>
                </a:cubicBezTo>
                <a:cubicBezTo>
                  <a:pt x="72980" y="91777"/>
                  <a:pt x="78794" y="92630"/>
                  <a:pt x="81894" y="96738"/>
                </a:cubicBezTo>
                <a:lnTo>
                  <a:pt x="92359" y="110691"/>
                </a:lnTo>
                <a:lnTo>
                  <a:pt x="116156" y="72592"/>
                </a:lnTo>
                <a:cubicBezTo>
                  <a:pt x="118869" y="68252"/>
                  <a:pt x="124605" y="66895"/>
                  <a:pt x="128984" y="69647"/>
                </a:cubicBezTo>
                <a:cubicBezTo>
                  <a:pt x="133364" y="72399"/>
                  <a:pt x="134682" y="78096"/>
                  <a:pt x="131930" y="82476"/>
                </a:cubicBezTo>
                <a:close/>
              </a:path>
            </a:pathLst>
          </a:custGeom>
          <a:solidFill>
            <a:srgbClr val="00C950"/>
          </a:solidFill>
          <a:ln/>
        </p:spPr>
      </p:sp>
      <p:sp>
        <p:nvSpPr>
          <p:cNvPr id="23" name="Text 21"/>
          <p:cNvSpPr/>
          <p:nvPr/>
        </p:nvSpPr>
        <p:spPr>
          <a:xfrm>
            <a:off x="890984" y="5671344"/>
            <a:ext cx="1936750" cy="238125"/>
          </a:xfrm>
          <a:prstGeom prst="rect">
            <a:avLst/>
          </a:prstGeom>
          <a:noFill/>
          <a:ln/>
        </p:spPr>
        <p:txBody>
          <a:bodyPr wrap="square" lIns="0" tIns="0" rIns="0" bIns="0" rtlCol="0" anchor="ctr"/>
          <a:lstStyle/>
          <a:p>
            <a:pPr>
              <a:lnSpc>
                <a:spcPct val="130000"/>
              </a:lnSpc>
            </a:pPr>
            <a:r>
              <a:rPr lang="en-US" sz="1250" b="1" dirty="0">
                <a:solidFill>
                  <a:srgbClr val="1D293D"/>
                </a:solidFill>
                <a:latin typeface="Quattrocento Sans" pitchFamily="34" charset="0"/>
                <a:ea typeface="Quattrocento Sans" pitchFamily="34" charset="-122"/>
                <a:cs typeface="Quattrocento Sans" pitchFamily="34" charset="-120"/>
              </a:rPr>
              <a:t>Transparency matters</a:t>
            </a:r>
            <a:endParaRPr lang="en-US" sz="1600" dirty="0"/>
          </a:p>
        </p:txBody>
      </p:sp>
      <p:sp>
        <p:nvSpPr>
          <p:cNvPr id="24" name="Text 22"/>
          <p:cNvSpPr/>
          <p:nvPr/>
        </p:nvSpPr>
        <p:spPr>
          <a:xfrm>
            <a:off x="890984" y="5909469"/>
            <a:ext cx="1926828" cy="198438"/>
          </a:xfrm>
          <a:prstGeom prst="rect">
            <a:avLst/>
          </a:prstGeom>
          <a:noFill/>
          <a:ln/>
        </p:spPr>
        <p:txBody>
          <a:bodyPr wrap="square" lIns="0" tIns="0" rIns="0" bIns="0" rtlCol="0" anchor="ctr"/>
          <a:lstStyle/>
          <a:p>
            <a:pPr>
              <a:lnSpc>
                <a:spcPct val="120000"/>
              </a:lnSpc>
            </a:pPr>
            <a:r>
              <a:rPr lang="en-US" sz="1094" dirty="0">
                <a:solidFill>
                  <a:srgbClr val="45556C"/>
                </a:solidFill>
                <a:latin typeface="Quattrocento Sans" pitchFamily="34" charset="0"/>
                <a:ea typeface="Quattrocento Sans" pitchFamily="34" charset="-122"/>
                <a:cs typeface="Quattrocento Sans" pitchFamily="34" charset="-120"/>
              </a:rPr>
              <a:t>Easy to understand and modify</a:t>
            </a:r>
            <a:endParaRPr lang="en-US" sz="1600" dirty="0"/>
          </a:p>
        </p:txBody>
      </p:sp>
      <p:sp>
        <p:nvSpPr>
          <p:cNvPr id="25" name="Shape 23"/>
          <p:cNvSpPr/>
          <p:nvPr/>
        </p:nvSpPr>
        <p:spPr>
          <a:xfrm>
            <a:off x="6096000" y="3147219"/>
            <a:ext cx="5778500" cy="3550751"/>
          </a:xfrm>
          <a:custGeom>
            <a:avLst/>
            <a:gdLst/>
            <a:ahLst/>
            <a:cxnLst/>
            <a:rect l="l" t="t" r="r" b="b"/>
            <a:pathLst>
              <a:path w="5778500" h="3550751">
                <a:moveTo>
                  <a:pt x="39692" y="0"/>
                </a:moveTo>
                <a:lnTo>
                  <a:pt x="5738808" y="0"/>
                </a:lnTo>
                <a:cubicBezTo>
                  <a:pt x="5760729" y="0"/>
                  <a:pt x="5778500" y="62349"/>
                  <a:pt x="5778500" y="139260"/>
                </a:cubicBezTo>
                <a:lnTo>
                  <a:pt x="5778500" y="3411490"/>
                </a:lnTo>
                <a:cubicBezTo>
                  <a:pt x="5778500" y="3488402"/>
                  <a:pt x="5760729" y="3550751"/>
                  <a:pt x="5738808" y="3550751"/>
                </a:cubicBezTo>
                <a:lnTo>
                  <a:pt x="39692" y="3550751"/>
                </a:lnTo>
                <a:cubicBezTo>
                  <a:pt x="17771" y="3550751"/>
                  <a:pt x="0" y="3488402"/>
                  <a:pt x="0" y="3411490"/>
                </a:cubicBezTo>
                <a:lnTo>
                  <a:pt x="0" y="139260"/>
                </a:lnTo>
                <a:cubicBezTo>
                  <a:pt x="0" y="62401"/>
                  <a:pt x="17785" y="0"/>
                  <a:pt x="39692" y="0"/>
                </a:cubicBezTo>
                <a:close/>
              </a:path>
            </a:pathLst>
          </a:custGeom>
          <a:gradFill rotWithShape="1" flip="none">
            <a:gsLst>
              <a:gs pos="0">
                <a:srgbClr val="FAF5FF"/>
              </a:gs>
              <a:gs pos="100000">
                <a:srgbClr val="F3E8FF"/>
              </a:gs>
            </a:gsLst>
            <a:lin ang="0" scaled="1"/>
          </a:gradFill>
          <a:ln/>
        </p:spPr>
      </p:sp>
      <p:sp>
        <p:nvSpPr>
          <p:cNvPr id="26" name="Shape 24"/>
          <p:cNvSpPr/>
          <p:nvPr/>
        </p:nvSpPr>
        <p:spPr>
          <a:xfrm>
            <a:off x="6383338" y="3348831"/>
            <a:ext cx="555625" cy="555625"/>
          </a:xfrm>
          <a:custGeom>
            <a:avLst/>
            <a:gdLst/>
            <a:ahLst/>
            <a:cxnLst/>
            <a:rect l="l" t="t" r="r" b="b"/>
            <a:pathLst>
              <a:path w="555625" h="555625">
                <a:moveTo>
                  <a:pt x="277813" y="0"/>
                </a:moveTo>
                <a:lnTo>
                  <a:pt x="277813" y="0"/>
                </a:lnTo>
                <a:cubicBezTo>
                  <a:pt x="431141" y="0"/>
                  <a:pt x="555625" y="124484"/>
                  <a:pt x="555625" y="277813"/>
                </a:cubicBezTo>
                <a:lnTo>
                  <a:pt x="555625" y="277813"/>
                </a:lnTo>
                <a:cubicBezTo>
                  <a:pt x="555625" y="431141"/>
                  <a:pt x="431141" y="555625"/>
                  <a:pt x="277813" y="555625"/>
                </a:cubicBezTo>
                <a:lnTo>
                  <a:pt x="277813" y="555625"/>
                </a:lnTo>
                <a:cubicBezTo>
                  <a:pt x="124484" y="555625"/>
                  <a:pt x="0" y="431141"/>
                  <a:pt x="0" y="277813"/>
                </a:cubicBezTo>
                <a:lnTo>
                  <a:pt x="0" y="277813"/>
                </a:lnTo>
                <a:cubicBezTo>
                  <a:pt x="0" y="124484"/>
                  <a:pt x="124484" y="0"/>
                  <a:pt x="277813" y="0"/>
                </a:cubicBezTo>
                <a:close/>
              </a:path>
            </a:pathLst>
          </a:custGeom>
          <a:solidFill>
            <a:srgbClr val="AD46FF"/>
          </a:solidFill>
          <a:ln/>
        </p:spPr>
      </p:sp>
      <p:sp>
        <p:nvSpPr>
          <p:cNvPr id="27" name="Shape 25"/>
          <p:cNvSpPr/>
          <p:nvPr/>
        </p:nvSpPr>
        <p:spPr>
          <a:xfrm>
            <a:off x="6544072" y="3507581"/>
            <a:ext cx="238125" cy="238125"/>
          </a:xfrm>
          <a:custGeom>
            <a:avLst/>
            <a:gdLst/>
            <a:ahLst/>
            <a:cxnLst/>
            <a:rect l="l" t="t" r="r" b="b"/>
            <a:pathLst>
              <a:path w="238125" h="238125">
                <a:moveTo>
                  <a:pt x="59531" y="148828"/>
                </a:moveTo>
                <a:lnTo>
                  <a:pt x="11395" y="148828"/>
                </a:lnTo>
                <a:cubicBezTo>
                  <a:pt x="-186" y="148828"/>
                  <a:pt x="-7302" y="136224"/>
                  <a:pt x="-1349" y="126271"/>
                </a:cubicBezTo>
                <a:lnTo>
                  <a:pt x="23254" y="85251"/>
                </a:lnTo>
                <a:cubicBezTo>
                  <a:pt x="27301" y="78507"/>
                  <a:pt x="34556" y="74414"/>
                  <a:pt x="42416" y="74414"/>
                </a:cubicBezTo>
                <a:lnTo>
                  <a:pt x="86599" y="74414"/>
                </a:lnTo>
                <a:cubicBezTo>
                  <a:pt x="121993" y="14464"/>
                  <a:pt x="174780" y="11441"/>
                  <a:pt x="210080" y="16604"/>
                </a:cubicBezTo>
                <a:cubicBezTo>
                  <a:pt x="216033" y="17487"/>
                  <a:pt x="220684" y="22138"/>
                  <a:pt x="221521" y="28045"/>
                </a:cubicBezTo>
                <a:cubicBezTo>
                  <a:pt x="226684" y="63345"/>
                  <a:pt x="223661" y="116132"/>
                  <a:pt x="163711" y="151526"/>
                </a:cubicBezTo>
                <a:lnTo>
                  <a:pt x="163711" y="195709"/>
                </a:lnTo>
                <a:cubicBezTo>
                  <a:pt x="163711" y="203569"/>
                  <a:pt x="159618" y="210824"/>
                  <a:pt x="152874" y="214871"/>
                </a:cubicBezTo>
                <a:lnTo>
                  <a:pt x="111854" y="239474"/>
                </a:lnTo>
                <a:cubicBezTo>
                  <a:pt x="101947" y="245427"/>
                  <a:pt x="89297" y="238265"/>
                  <a:pt x="89297" y="226730"/>
                </a:cubicBezTo>
                <a:lnTo>
                  <a:pt x="89297" y="178594"/>
                </a:lnTo>
                <a:cubicBezTo>
                  <a:pt x="89297" y="162176"/>
                  <a:pt x="75949" y="148828"/>
                  <a:pt x="59531" y="148828"/>
                </a:cubicBezTo>
                <a:lnTo>
                  <a:pt x="59485" y="148828"/>
                </a:lnTo>
                <a:close/>
                <a:moveTo>
                  <a:pt x="186035" y="74414"/>
                </a:moveTo>
                <a:cubicBezTo>
                  <a:pt x="186035" y="62093"/>
                  <a:pt x="176032" y="52090"/>
                  <a:pt x="163711" y="52090"/>
                </a:cubicBezTo>
                <a:cubicBezTo>
                  <a:pt x="151390" y="52090"/>
                  <a:pt x="141387" y="62093"/>
                  <a:pt x="141387" y="74414"/>
                </a:cubicBezTo>
                <a:cubicBezTo>
                  <a:pt x="141387" y="86735"/>
                  <a:pt x="151390" y="96738"/>
                  <a:pt x="163711" y="96738"/>
                </a:cubicBezTo>
                <a:cubicBezTo>
                  <a:pt x="176032" y="96738"/>
                  <a:pt x="186035" y="86735"/>
                  <a:pt x="186035" y="74414"/>
                </a:cubicBezTo>
                <a:close/>
              </a:path>
            </a:pathLst>
          </a:custGeom>
          <a:solidFill>
            <a:srgbClr val="FFFFFF"/>
          </a:solidFill>
          <a:ln/>
        </p:spPr>
      </p:sp>
      <p:sp>
        <p:nvSpPr>
          <p:cNvPr id="28" name="Text 26"/>
          <p:cNvSpPr/>
          <p:nvPr/>
        </p:nvSpPr>
        <p:spPr>
          <a:xfrm>
            <a:off x="7097713" y="3467894"/>
            <a:ext cx="2532063" cy="317500"/>
          </a:xfrm>
          <a:prstGeom prst="rect">
            <a:avLst/>
          </a:prstGeom>
          <a:noFill/>
          <a:ln/>
        </p:spPr>
        <p:txBody>
          <a:bodyPr wrap="square" lIns="0" tIns="0" rIns="0" bIns="0" rtlCol="0" anchor="ctr"/>
          <a:lstStyle/>
          <a:p>
            <a:pPr>
              <a:lnSpc>
                <a:spcPct val="110000"/>
              </a:lnSpc>
            </a:pPr>
            <a:r>
              <a:rPr lang="en-US" sz="1875" b="1" dirty="0">
                <a:solidFill>
                  <a:srgbClr val="1D293D"/>
                </a:solidFill>
                <a:latin typeface="Quattrocento Sans" pitchFamily="34" charset="0"/>
                <a:ea typeface="Quattrocento Sans" pitchFamily="34" charset="-122"/>
                <a:cs typeface="Quattrocento Sans" pitchFamily="34" charset="-120"/>
              </a:rPr>
              <a:t>Possible Enhancements</a:t>
            </a:r>
            <a:endParaRPr lang="en-US" sz="1600" dirty="0"/>
          </a:p>
        </p:txBody>
      </p:sp>
      <p:sp>
        <p:nvSpPr>
          <p:cNvPr id="29" name="Shape 27"/>
          <p:cNvSpPr/>
          <p:nvPr/>
        </p:nvSpPr>
        <p:spPr>
          <a:xfrm>
            <a:off x="7107238" y="3847306"/>
            <a:ext cx="3611563" cy="796925"/>
          </a:xfrm>
          <a:custGeom>
            <a:avLst/>
            <a:gdLst/>
            <a:ahLst/>
            <a:cxnLst/>
            <a:rect l="l" t="t" r="r" b="b"/>
            <a:pathLst>
              <a:path w="3611563" h="796925">
                <a:moveTo>
                  <a:pt x="79378" y="0"/>
                </a:moveTo>
                <a:lnTo>
                  <a:pt x="3532184" y="0"/>
                </a:lnTo>
                <a:cubicBezTo>
                  <a:pt x="3576024" y="0"/>
                  <a:pt x="3611562" y="31027"/>
                  <a:pt x="3611562" y="69301"/>
                </a:cubicBezTo>
                <a:lnTo>
                  <a:pt x="3611563" y="727624"/>
                </a:lnTo>
                <a:cubicBezTo>
                  <a:pt x="3611562" y="765898"/>
                  <a:pt x="3576024" y="796925"/>
                  <a:pt x="3532184" y="796925"/>
                </a:cubicBezTo>
                <a:lnTo>
                  <a:pt x="79378" y="796925"/>
                </a:lnTo>
                <a:cubicBezTo>
                  <a:pt x="35539" y="796925"/>
                  <a:pt x="0" y="765898"/>
                  <a:pt x="0" y="727624"/>
                </a:cubicBezTo>
                <a:lnTo>
                  <a:pt x="0" y="69301"/>
                </a:lnTo>
                <a:cubicBezTo>
                  <a:pt x="0" y="31053"/>
                  <a:pt x="35568" y="0"/>
                  <a:pt x="7937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0" name="Shape 28"/>
          <p:cNvSpPr/>
          <p:nvPr/>
        </p:nvSpPr>
        <p:spPr>
          <a:xfrm>
            <a:off x="8797231" y="3915569"/>
            <a:ext cx="238125" cy="238125"/>
          </a:xfrm>
          <a:custGeom>
            <a:avLst/>
            <a:gdLst/>
            <a:ahLst/>
            <a:cxnLst/>
            <a:rect l="l" t="t" r="r" b="b"/>
            <a:pathLst>
              <a:path w="238125" h="238125">
                <a:moveTo>
                  <a:pt x="119062" y="238125"/>
                </a:moveTo>
                <a:cubicBezTo>
                  <a:pt x="184775" y="238125"/>
                  <a:pt x="238125" y="184775"/>
                  <a:pt x="238125" y="119062"/>
                </a:cubicBezTo>
                <a:cubicBezTo>
                  <a:pt x="238125" y="53350"/>
                  <a:pt x="184775" y="0"/>
                  <a:pt x="119062" y="0"/>
                </a:cubicBezTo>
                <a:cubicBezTo>
                  <a:pt x="53350" y="0"/>
                  <a:pt x="0" y="53350"/>
                  <a:pt x="0" y="119062"/>
                </a:cubicBezTo>
                <a:cubicBezTo>
                  <a:pt x="0" y="184775"/>
                  <a:pt x="53350" y="238125"/>
                  <a:pt x="119062" y="238125"/>
                </a:cubicBezTo>
                <a:close/>
                <a:moveTo>
                  <a:pt x="107900" y="159990"/>
                </a:moveTo>
                <a:lnTo>
                  <a:pt x="107900" y="130225"/>
                </a:lnTo>
                <a:lnTo>
                  <a:pt x="78135" y="130225"/>
                </a:lnTo>
                <a:cubicBezTo>
                  <a:pt x="71949" y="130225"/>
                  <a:pt x="66973" y="125248"/>
                  <a:pt x="66973" y="119062"/>
                </a:cubicBezTo>
                <a:cubicBezTo>
                  <a:pt x="66973" y="112877"/>
                  <a:pt x="71949" y="107900"/>
                  <a:pt x="78135" y="107900"/>
                </a:cubicBezTo>
                <a:lnTo>
                  <a:pt x="107900" y="107900"/>
                </a:lnTo>
                <a:lnTo>
                  <a:pt x="107900" y="78135"/>
                </a:lnTo>
                <a:cubicBezTo>
                  <a:pt x="107900" y="71949"/>
                  <a:pt x="112877" y="66973"/>
                  <a:pt x="119062" y="66973"/>
                </a:cubicBezTo>
                <a:cubicBezTo>
                  <a:pt x="125248" y="66973"/>
                  <a:pt x="130225" y="71949"/>
                  <a:pt x="130225" y="78135"/>
                </a:cubicBezTo>
                <a:lnTo>
                  <a:pt x="130225" y="107900"/>
                </a:lnTo>
                <a:lnTo>
                  <a:pt x="159990" y="107900"/>
                </a:lnTo>
                <a:cubicBezTo>
                  <a:pt x="166176" y="107900"/>
                  <a:pt x="171152" y="112877"/>
                  <a:pt x="171152" y="119062"/>
                </a:cubicBezTo>
                <a:cubicBezTo>
                  <a:pt x="171152" y="125248"/>
                  <a:pt x="166176" y="130225"/>
                  <a:pt x="159990" y="130225"/>
                </a:cubicBezTo>
                <a:lnTo>
                  <a:pt x="130225" y="130225"/>
                </a:lnTo>
                <a:lnTo>
                  <a:pt x="130225" y="159990"/>
                </a:lnTo>
                <a:cubicBezTo>
                  <a:pt x="130225" y="166176"/>
                  <a:pt x="125248" y="171152"/>
                  <a:pt x="119062" y="171152"/>
                </a:cubicBezTo>
                <a:cubicBezTo>
                  <a:pt x="112877" y="171152"/>
                  <a:pt x="107900" y="166176"/>
                  <a:pt x="107900" y="159990"/>
                </a:cubicBezTo>
                <a:close/>
              </a:path>
            </a:pathLst>
          </a:custGeom>
          <a:solidFill>
            <a:srgbClr val="AD46FF"/>
          </a:solidFill>
          <a:ln/>
        </p:spPr>
      </p:sp>
      <p:sp>
        <p:nvSpPr>
          <p:cNvPr id="31" name="Text 29"/>
          <p:cNvSpPr/>
          <p:nvPr/>
        </p:nvSpPr>
        <p:spPr>
          <a:xfrm>
            <a:off x="7191573" y="4156869"/>
            <a:ext cx="344289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More Tools</a:t>
            </a:r>
            <a:endParaRPr lang="en-US" sz="1600" dirty="0"/>
          </a:p>
        </p:txBody>
      </p:sp>
      <p:sp>
        <p:nvSpPr>
          <p:cNvPr id="32" name="Text 30"/>
          <p:cNvSpPr/>
          <p:nvPr/>
        </p:nvSpPr>
        <p:spPr>
          <a:xfrm>
            <a:off x="7196534" y="4355306"/>
            <a:ext cx="343296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Support for additional package managers</a:t>
            </a:r>
            <a:endParaRPr lang="en-US" sz="1600" dirty="0"/>
          </a:p>
        </p:txBody>
      </p:sp>
      <p:sp>
        <p:nvSpPr>
          <p:cNvPr id="33" name="Shape 31"/>
          <p:cNvSpPr/>
          <p:nvPr/>
        </p:nvSpPr>
        <p:spPr>
          <a:xfrm>
            <a:off x="7120930" y="4736306"/>
            <a:ext cx="3611563" cy="766762"/>
          </a:xfrm>
          <a:custGeom>
            <a:avLst/>
            <a:gdLst/>
            <a:ahLst/>
            <a:cxnLst/>
            <a:rect l="l" t="t" r="r" b="b"/>
            <a:pathLst>
              <a:path w="3611563" h="766762">
                <a:moveTo>
                  <a:pt x="79378" y="0"/>
                </a:moveTo>
                <a:lnTo>
                  <a:pt x="3532184" y="0"/>
                </a:lnTo>
                <a:cubicBezTo>
                  <a:pt x="3576024" y="0"/>
                  <a:pt x="3611562" y="29853"/>
                  <a:pt x="3611562" y="66678"/>
                </a:cubicBezTo>
                <a:lnTo>
                  <a:pt x="3611563" y="700084"/>
                </a:lnTo>
                <a:cubicBezTo>
                  <a:pt x="3611562" y="736909"/>
                  <a:pt x="3576024" y="766762"/>
                  <a:pt x="3532184" y="766762"/>
                </a:cubicBezTo>
                <a:lnTo>
                  <a:pt x="79378" y="766762"/>
                </a:lnTo>
                <a:cubicBezTo>
                  <a:pt x="35539" y="766762"/>
                  <a:pt x="0" y="736909"/>
                  <a:pt x="0" y="700084"/>
                </a:cubicBezTo>
                <a:lnTo>
                  <a:pt x="0" y="66678"/>
                </a:lnTo>
                <a:cubicBezTo>
                  <a:pt x="0" y="29877"/>
                  <a:pt x="35568" y="0"/>
                  <a:pt x="7937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4" name="Shape 32"/>
          <p:cNvSpPr/>
          <p:nvPr/>
        </p:nvSpPr>
        <p:spPr>
          <a:xfrm>
            <a:off x="8810923" y="4804569"/>
            <a:ext cx="238125" cy="238125"/>
          </a:xfrm>
          <a:custGeom>
            <a:avLst/>
            <a:gdLst/>
            <a:ahLst/>
            <a:cxnLst/>
            <a:rect l="l" t="t" r="r" b="b"/>
            <a:pathLst>
              <a:path w="238125" h="238125">
                <a:moveTo>
                  <a:pt x="30649" y="106273"/>
                </a:moveTo>
                <a:cubicBezTo>
                  <a:pt x="36835" y="63019"/>
                  <a:pt x="74089" y="29766"/>
                  <a:pt x="119062" y="29766"/>
                </a:cubicBezTo>
                <a:cubicBezTo>
                  <a:pt x="143712" y="29766"/>
                  <a:pt x="166036" y="39765"/>
                  <a:pt x="182221" y="55904"/>
                </a:cubicBezTo>
                <a:cubicBezTo>
                  <a:pt x="182314" y="55997"/>
                  <a:pt x="182407" y="56090"/>
                  <a:pt x="182500" y="56183"/>
                </a:cubicBezTo>
                <a:lnTo>
                  <a:pt x="186035" y="59531"/>
                </a:lnTo>
                <a:lnTo>
                  <a:pt x="163757" y="59531"/>
                </a:lnTo>
                <a:cubicBezTo>
                  <a:pt x="155525" y="59531"/>
                  <a:pt x="148875" y="66182"/>
                  <a:pt x="148875" y="74414"/>
                </a:cubicBezTo>
                <a:cubicBezTo>
                  <a:pt x="148875" y="82646"/>
                  <a:pt x="155525" y="89297"/>
                  <a:pt x="163757" y="89297"/>
                </a:cubicBezTo>
                <a:lnTo>
                  <a:pt x="223289" y="89297"/>
                </a:lnTo>
                <a:cubicBezTo>
                  <a:pt x="231521" y="89297"/>
                  <a:pt x="238172" y="82646"/>
                  <a:pt x="238172" y="74414"/>
                </a:cubicBezTo>
                <a:lnTo>
                  <a:pt x="238172" y="14883"/>
                </a:lnTo>
                <a:cubicBezTo>
                  <a:pt x="238172" y="6651"/>
                  <a:pt x="231521" y="0"/>
                  <a:pt x="223289" y="0"/>
                </a:cubicBezTo>
                <a:cubicBezTo>
                  <a:pt x="215057" y="0"/>
                  <a:pt x="208406" y="6651"/>
                  <a:pt x="208406" y="14883"/>
                </a:cubicBezTo>
                <a:lnTo>
                  <a:pt x="208406" y="39719"/>
                </a:lnTo>
                <a:lnTo>
                  <a:pt x="203150" y="34742"/>
                </a:lnTo>
                <a:cubicBezTo>
                  <a:pt x="181617" y="13302"/>
                  <a:pt x="151851" y="0"/>
                  <a:pt x="119062" y="0"/>
                </a:cubicBezTo>
                <a:cubicBezTo>
                  <a:pt x="59066" y="0"/>
                  <a:pt x="9441" y="44369"/>
                  <a:pt x="1209" y="102087"/>
                </a:cubicBezTo>
                <a:cubicBezTo>
                  <a:pt x="47" y="110226"/>
                  <a:pt x="5674" y="117760"/>
                  <a:pt x="13813" y="118923"/>
                </a:cubicBezTo>
                <a:cubicBezTo>
                  <a:pt x="21952" y="120086"/>
                  <a:pt x="29487" y="114412"/>
                  <a:pt x="30649" y="106319"/>
                </a:cubicBezTo>
                <a:close/>
                <a:moveTo>
                  <a:pt x="236916" y="136038"/>
                </a:moveTo>
                <a:cubicBezTo>
                  <a:pt x="238078" y="127899"/>
                  <a:pt x="232404" y="120365"/>
                  <a:pt x="224312" y="119202"/>
                </a:cubicBezTo>
                <a:cubicBezTo>
                  <a:pt x="216219" y="118039"/>
                  <a:pt x="208638" y="123713"/>
                  <a:pt x="207476" y="131806"/>
                </a:cubicBezTo>
                <a:cubicBezTo>
                  <a:pt x="201290" y="175059"/>
                  <a:pt x="164036" y="208313"/>
                  <a:pt x="119062" y="208313"/>
                </a:cubicBezTo>
                <a:cubicBezTo>
                  <a:pt x="94413" y="208313"/>
                  <a:pt x="72089" y="198313"/>
                  <a:pt x="55904" y="182175"/>
                </a:cubicBezTo>
                <a:cubicBezTo>
                  <a:pt x="55811" y="182082"/>
                  <a:pt x="55718" y="181989"/>
                  <a:pt x="55625" y="181896"/>
                </a:cubicBezTo>
                <a:lnTo>
                  <a:pt x="52090" y="178547"/>
                </a:lnTo>
                <a:lnTo>
                  <a:pt x="74368" y="178547"/>
                </a:lnTo>
                <a:cubicBezTo>
                  <a:pt x="82600" y="178547"/>
                  <a:pt x="89250" y="171896"/>
                  <a:pt x="89250" y="163664"/>
                </a:cubicBezTo>
                <a:cubicBezTo>
                  <a:pt x="89250" y="155432"/>
                  <a:pt x="82600" y="148782"/>
                  <a:pt x="74368" y="148782"/>
                </a:cubicBezTo>
                <a:lnTo>
                  <a:pt x="14883" y="148828"/>
                </a:lnTo>
                <a:cubicBezTo>
                  <a:pt x="10930" y="148828"/>
                  <a:pt x="7116" y="150409"/>
                  <a:pt x="4325" y="153246"/>
                </a:cubicBezTo>
                <a:cubicBezTo>
                  <a:pt x="1535" y="156083"/>
                  <a:pt x="-47" y="159851"/>
                  <a:pt x="0" y="163850"/>
                </a:cubicBezTo>
                <a:lnTo>
                  <a:pt x="465" y="222917"/>
                </a:lnTo>
                <a:cubicBezTo>
                  <a:pt x="512" y="231149"/>
                  <a:pt x="7255" y="237753"/>
                  <a:pt x="15487" y="237660"/>
                </a:cubicBezTo>
                <a:cubicBezTo>
                  <a:pt x="23719" y="237567"/>
                  <a:pt x="30324" y="230870"/>
                  <a:pt x="30231" y="222638"/>
                </a:cubicBezTo>
                <a:lnTo>
                  <a:pt x="30045" y="198686"/>
                </a:lnTo>
                <a:lnTo>
                  <a:pt x="35021" y="203383"/>
                </a:lnTo>
                <a:cubicBezTo>
                  <a:pt x="56555" y="224823"/>
                  <a:pt x="86274" y="238125"/>
                  <a:pt x="119062" y="238125"/>
                </a:cubicBezTo>
                <a:cubicBezTo>
                  <a:pt x="179059" y="238125"/>
                  <a:pt x="228684" y="193756"/>
                  <a:pt x="236916" y="136038"/>
                </a:cubicBezTo>
                <a:close/>
              </a:path>
            </a:pathLst>
          </a:custGeom>
          <a:solidFill>
            <a:srgbClr val="AD46FF"/>
          </a:solidFill>
          <a:ln/>
        </p:spPr>
      </p:sp>
      <p:sp>
        <p:nvSpPr>
          <p:cNvPr id="35" name="Text 33"/>
          <p:cNvSpPr/>
          <p:nvPr/>
        </p:nvSpPr>
        <p:spPr>
          <a:xfrm>
            <a:off x="7205266" y="5045869"/>
            <a:ext cx="344289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Automation</a:t>
            </a:r>
            <a:endParaRPr lang="en-US" sz="1600" dirty="0"/>
          </a:p>
        </p:txBody>
      </p:sp>
      <p:sp>
        <p:nvSpPr>
          <p:cNvPr id="36" name="Text 34"/>
          <p:cNvSpPr/>
          <p:nvPr/>
        </p:nvSpPr>
        <p:spPr>
          <a:xfrm>
            <a:off x="7210227" y="5244306"/>
            <a:ext cx="343296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Scheduled backups and sync</a:t>
            </a:r>
            <a:endParaRPr lang="en-US" sz="1600" dirty="0"/>
          </a:p>
        </p:txBody>
      </p:sp>
      <p:sp>
        <p:nvSpPr>
          <p:cNvPr id="37" name="Shape 35"/>
          <p:cNvSpPr/>
          <p:nvPr/>
        </p:nvSpPr>
        <p:spPr>
          <a:xfrm>
            <a:off x="7134721" y="5612606"/>
            <a:ext cx="3611563" cy="912813"/>
          </a:xfrm>
          <a:custGeom>
            <a:avLst/>
            <a:gdLst/>
            <a:ahLst/>
            <a:cxnLst/>
            <a:rect l="l" t="t" r="r" b="b"/>
            <a:pathLst>
              <a:path w="3611563" h="912813">
                <a:moveTo>
                  <a:pt x="79378" y="0"/>
                </a:moveTo>
                <a:lnTo>
                  <a:pt x="3532184" y="0"/>
                </a:lnTo>
                <a:cubicBezTo>
                  <a:pt x="3576024" y="0"/>
                  <a:pt x="3611562" y="35539"/>
                  <a:pt x="3611562" y="79378"/>
                </a:cubicBezTo>
                <a:lnTo>
                  <a:pt x="3611563" y="833434"/>
                </a:lnTo>
                <a:cubicBezTo>
                  <a:pt x="3611562" y="877274"/>
                  <a:pt x="3576024" y="912813"/>
                  <a:pt x="3532184" y="912813"/>
                </a:cubicBezTo>
                <a:lnTo>
                  <a:pt x="79378" y="912813"/>
                </a:lnTo>
                <a:cubicBezTo>
                  <a:pt x="35539" y="912813"/>
                  <a:pt x="0" y="877274"/>
                  <a:pt x="0" y="833434"/>
                </a:cubicBezTo>
                <a:lnTo>
                  <a:pt x="0" y="79378"/>
                </a:lnTo>
                <a:cubicBezTo>
                  <a:pt x="0" y="35568"/>
                  <a:pt x="35568" y="0"/>
                  <a:pt x="7937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8" name="Shape 36"/>
          <p:cNvSpPr/>
          <p:nvPr/>
        </p:nvSpPr>
        <p:spPr>
          <a:xfrm>
            <a:off x="8809832" y="5680869"/>
            <a:ext cx="267891" cy="238125"/>
          </a:xfrm>
          <a:custGeom>
            <a:avLst/>
            <a:gdLst/>
            <a:ahLst/>
            <a:cxnLst/>
            <a:rect l="l" t="t" r="r" b="b"/>
            <a:pathLst>
              <a:path w="267891" h="238125">
                <a:moveTo>
                  <a:pt x="66973" y="223242"/>
                </a:moveTo>
                <a:cubicBezTo>
                  <a:pt x="29998" y="223242"/>
                  <a:pt x="0" y="193244"/>
                  <a:pt x="0" y="156270"/>
                </a:cubicBezTo>
                <a:cubicBezTo>
                  <a:pt x="0" y="126783"/>
                  <a:pt x="19069" y="101761"/>
                  <a:pt x="45532" y="92785"/>
                </a:cubicBezTo>
                <a:cubicBezTo>
                  <a:pt x="44927" y="89204"/>
                  <a:pt x="44648" y="85576"/>
                  <a:pt x="44648" y="81855"/>
                </a:cubicBezTo>
                <a:cubicBezTo>
                  <a:pt x="44648" y="44881"/>
                  <a:pt x="74647" y="14883"/>
                  <a:pt x="111621" y="14883"/>
                </a:cubicBezTo>
                <a:cubicBezTo>
                  <a:pt x="137387" y="14883"/>
                  <a:pt x="159758" y="29440"/>
                  <a:pt x="170966" y="50741"/>
                </a:cubicBezTo>
                <a:cubicBezTo>
                  <a:pt x="177571" y="46881"/>
                  <a:pt x="185291" y="44648"/>
                  <a:pt x="193477" y="44648"/>
                </a:cubicBezTo>
                <a:cubicBezTo>
                  <a:pt x="218126" y="44648"/>
                  <a:pt x="238125" y="64647"/>
                  <a:pt x="238125" y="89297"/>
                </a:cubicBezTo>
                <a:cubicBezTo>
                  <a:pt x="238125" y="96599"/>
                  <a:pt x="236358" y="103529"/>
                  <a:pt x="233242" y="109621"/>
                </a:cubicBezTo>
                <a:cubicBezTo>
                  <a:pt x="253705" y="119062"/>
                  <a:pt x="267891" y="139712"/>
                  <a:pt x="267891" y="163711"/>
                </a:cubicBezTo>
                <a:cubicBezTo>
                  <a:pt x="267891" y="196593"/>
                  <a:pt x="241241" y="223242"/>
                  <a:pt x="208359" y="223242"/>
                </a:cubicBezTo>
                <a:lnTo>
                  <a:pt x="66973" y="223242"/>
                </a:lnTo>
                <a:close/>
                <a:moveTo>
                  <a:pt x="141852" y="88832"/>
                </a:moveTo>
                <a:cubicBezTo>
                  <a:pt x="137480" y="84460"/>
                  <a:pt x="130411" y="84460"/>
                  <a:pt x="126085" y="88832"/>
                </a:cubicBezTo>
                <a:lnTo>
                  <a:pt x="92599" y="122318"/>
                </a:lnTo>
                <a:cubicBezTo>
                  <a:pt x="88227" y="126690"/>
                  <a:pt x="88227" y="133759"/>
                  <a:pt x="92599" y="138085"/>
                </a:cubicBezTo>
                <a:cubicBezTo>
                  <a:pt x="96971" y="142410"/>
                  <a:pt x="104040" y="142456"/>
                  <a:pt x="108365" y="138085"/>
                </a:cubicBezTo>
                <a:lnTo>
                  <a:pt x="122783" y="123667"/>
                </a:lnTo>
                <a:lnTo>
                  <a:pt x="122783" y="171152"/>
                </a:lnTo>
                <a:cubicBezTo>
                  <a:pt x="122783" y="177338"/>
                  <a:pt x="127760" y="182314"/>
                  <a:pt x="133945" y="182314"/>
                </a:cubicBezTo>
                <a:cubicBezTo>
                  <a:pt x="140131" y="182314"/>
                  <a:pt x="145107" y="177338"/>
                  <a:pt x="145107" y="171152"/>
                </a:cubicBezTo>
                <a:lnTo>
                  <a:pt x="145107" y="123667"/>
                </a:lnTo>
                <a:lnTo>
                  <a:pt x="159525" y="138085"/>
                </a:lnTo>
                <a:cubicBezTo>
                  <a:pt x="163897" y="142456"/>
                  <a:pt x="170966" y="142456"/>
                  <a:pt x="175292" y="138085"/>
                </a:cubicBezTo>
                <a:cubicBezTo>
                  <a:pt x="179617" y="133713"/>
                  <a:pt x="179663" y="126643"/>
                  <a:pt x="175292" y="122318"/>
                </a:cubicBezTo>
                <a:lnTo>
                  <a:pt x="141805" y="88832"/>
                </a:lnTo>
                <a:close/>
              </a:path>
            </a:pathLst>
          </a:custGeom>
          <a:solidFill>
            <a:srgbClr val="AD46FF"/>
          </a:solidFill>
          <a:ln/>
        </p:spPr>
      </p:sp>
      <p:sp>
        <p:nvSpPr>
          <p:cNvPr id="39" name="Text 37"/>
          <p:cNvSpPr/>
          <p:nvPr/>
        </p:nvSpPr>
        <p:spPr>
          <a:xfrm>
            <a:off x="7219057" y="5909469"/>
            <a:ext cx="3442891" cy="198438"/>
          </a:xfrm>
          <a:prstGeom prst="rect">
            <a:avLst/>
          </a:prstGeom>
          <a:noFill/>
          <a:ln/>
        </p:spPr>
        <p:txBody>
          <a:bodyPr wrap="square" lIns="0" tIns="0" rIns="0" bIns="0" rtlCol="0" anchor="ctr"/>
          <a:lstStyle/>
          <a:p>
            <a:pPr algn="ctr">
              <a:lnSpc>
                <a:spcPct val="120000"/>
              </a:lnSpc>
            </a:pPr>
            <a:r>
              <a:rPr lang="en-US" sz="1094" b="1" dirty="0">
                <a:solidFill>
                  <a:srgbClr val="1D293D"/>
                </a:solidFill>
                <a:latin typeface="Quattrocento Sans" pitchFamily="34" charset="0"/>
                <a:ea typeface="Quattrocento Sans" pitchFamily="34" charset="-122"/>
                <a:cs typeface="Quattrocento Sans" pitchFamily="34" charset="-120"/>
              </a:rPr>
              <a:t>Cloud Storage</a:t>
            </a:r>
            <a:endParaRPr lang="en-US" sz="1600" dirty="0"/>
          </a:p>
        </p:txBody>
      </p:sp>
      <p:sp>
        <p:nvSpPr>
          <p:cNvPr id="40" name="Text 38"/>
          <p:cNvSpPr/>
          <p:nvPr/>
        </p:nvSpPr>
        <p:spPr>
          <a:xfrm>
            <a:off x="7224018" y="6107906"/>
            <a:ext cx="3432969" cy="158750"/>
          </a:xfrm>
          <a:prstGeom prst="rect">
            <a:avLst/>
          </a:prstGeom>
          <a:noFill/>
          <a:ln/>
        </p:spPr>
        <p:txBody>
          <a:bodyPr wrap="square" lIns="0" tIns="0" rIns="0" bIns="0" rtlCol="0" anchor="ctr"/>
          <a:lstStyle/>
          <a:p>
            <a:pPr algn="ctr">
              <a:lnSpc>
                <a:spcPct val="110000"/>
              </a:lnSpc>
            </a:pPr>
            <a:r>
              <a:rPr lang="en-US" sz="938" dirty="0">
                <a:solidFill>
                  <a:srgbClr val="45556C"/>
                </a:solidFill>
                <a:latin typeface="Quattrocento Sans" pitchFamily="34" charset="0"/>
                <a:ea typeface="Quattrocento Sans" pitchFamily="34" charset="-122"/>
                <a:cs typeface="Quattrocento Sans" pitchFamily="34" charset="-120"/>
              </a:rPr>
              <a:t>Optional remote backup support</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33020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8FAFC"/>
              </a:gs>
              <a:gs pos="100000">
                <a:srgbClr val="F1F5F9"/>
              </a:gs>
            </a:gsLst>
            <a:lin ang="2700000" scaled="1"/>
          </a:gradFill>
          <a:ln/>
        </p:spPr>
      </p:sp>
      <p:sp>
        <p:nvSpPr>
          <p:cNvPr id="3" name="Shape 1"/>
          <p:cNvSpPr/>
          <p:nvPr/>
        </p:nvSpPr>
        <p:spPr>
          <a:xfrm>
            <a:off x="317500" y="849313"/>
            <a:ext cx="1714500" cy="31750"/>
          </a:xfrm>
          <a:custGeom>
            <a:avLst/>
            <a:gdLst/>
            <a:ahLst/>
            <a:cxnLst/>
            <a:rect l="l" t="t" r="r" b="b"/>
            <a:pathLst>
              <a:path w="1714500" h="31750">
                <a:moveTo>
                  <a:pt x="0" y="0"/>
                </a:moveTo>
                <a:lnTo>
                  <a:pt x="1714500" y="0"/>
                </a:lnTo>
                <a:lnTo>
                  <a:pt x="1714500" y="31750"/>
                </a:lnTo>
                <a:lnTo>
                  <a:pt x="0" y="31750"/>
                </a:lnTo>
                <a:lnTo>
                  <a:pt x="0" y="0"/>
                </a:lnTo>
                <a:close/>
              </a:path>
            </a:pathLst>
          </a:custGeom>
          <a:solidFill>
            <a:srgbClr val="2B7FFF"/>
          </a:solidFill>
          <a:ln/>
        </p:spPr>
      </p:sp>
      <p:sp>
        <p:nvSpPr>
          <p:cNvPr id="4" name="Text 2"/>
          <p:cNvSpPr/>
          <p:nvPr/>
        </p:nvSpPr>
        <p:spPr>
          <a:xfrm>
            <a:off x="317500" y="317500"/>
            <a:ext cx="1893094" cy="515938"/>
          </a:xfrm>
          <a:prstGeom prst="rect">
            <a:avLst/>
          </a:prstGeom>
          <a:noFill/>
          <a:ln/>
        </p:spPr>
        <p:txBody>
          <a:bodyPr wrap="square" lIns="0" tIns="0" rIns="0" bIns="119063" rtlCol="0" anchor="ctr"/>
          <a:lstStyle/>
          <a:p>
            <a:pPr>
              <a:lnSpc>
                <a:spcPct val="90000"/>
              </a:lnSpc>
            </a:pPr>
            <a:r>
              <a:rPr lang="en-US" sz="2813" b="1" dirty="0">
                <a:solidFill>
                  <a:srgbClr val="1D293D"/>
                </a:solidFill>
                <a:latin typeface="Quattrocento Sans" pitchFamily="34" charset="0"/>
                <a:ea typeface="Quattrocento Sans" pitchFamily="34" charset="-122"/>
                <a:cs typeface="Quattrocento Sans" pitchFamily="34" charset="-120"/>
              </a:rPr>
              <a:t>References</a:t>
            </a:r>
            <a:endParaRPr lang="en-US" sz="1600" dirty="0"/>
          </a:p>
        </p:txBody>
      </p:sp>
      <p:sp>
        <p:nvSpPr>
          <p:cNvPr id="5" name="Shape 3"/>
          <p:cNvSpPr/>
          <p:nvPr/>
        </p:nvSpPr>
        <p:spPr>
          <a:xfrm>
            <a:off x="333375" y="1103313"/>
            <a:ext cx="11541125" cy="1000034"/>
          </a:xfrm>
          <a:custGeom>
            <a:avLst/>
            <a:gdLst/>
            <a:ahLst/>
            <a:cxnLst/>
            <a:rect l="l" t="t" r="r" b="b"/>
            <a:pathLst>
              <a:path w="11541125" h="1000034">
                <a:moveTo>
                  <a:pt x="31750" y="0"/>
                </a:moveTo>
                <a:lnTo>
                  <a:pt x="11461750" y="0"/>
                </a:lnTo>
                <a:cubicBezTo>
                  <a:pt x="11505558" y="0"/>
                  <a:pt x="11541125" y="28006"/>
                  <a:pt x="11541125" y="62502"/>
                </a:cubicBezTo>
                <a:lnTo>
                  <a:pt x="11541125" y="937532"/>
                </a:lnTo>
                <a:cubicBezTo>
                  <a:pt x="11541125" y="972028"/>
                  <a:pt x="11505558" y="1000034"/>
                  <a:pt x="11461750" y="1000034"/>
                </a:cubicBezTo>
                <a:lnTo>
                  <a:pt x="31750" y="1000034"/>
                </a:lnTo>
                <a:cubicBezTo>
                  <a:pt x="14227" y="1000034"/>
                  <a:pt x="0" y="988832"/>
                  <a:pt x="0" y="975033"/>
                </a:cubicBezTo>
                <a:lnTo>
                  <a:pt x="0" y="25001"/>
                </a:lnTo>
                <a:cubicBezTo>
                  <a:pt x="0" y="11203"/>
                  <a:pt x="14227" y="0"/>
                  <a:pt x="31750"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Shape 4"/>
          <p:cNvSpPr/>
          <p:nvPr/>
        </p:nvSpPr>
        <p:spPr>
          <a:xfrm>
            <a:off x="333375" y="1103313"/>
            <a:ext cx="31750" cy="1000034"/>
          </a:xfrm>
          <a:custGeom>
            <a:avLst/>
            <a:gdLst/>
            <a:ahLst/>
            <a:cxnLst/>
            <a:rect l="l" t="t" r="r" b="b"/>
            <a:pathLst>
              <a:path w="31750" h="1000034">
                <a:moveTo>
                  <a:pt x="31750" y="0"/>
                </a:moveTo>
                <a:lnTo>
                  <a:pt x="31750" y="0"/>
                </a:lnTo>
                <a:lnTo>
                  <a:pt x="31750" y="1000034"/>
                </a:lnTo>
                <a:lnTo>
                  <a:pt x="31750" y="1000034"/>
                </a:lnTo>
                <a:cubicBezTo>
                  <a:pt x="14227" y="1000034"/>
                  <a:pt x="0" y="988832"/>
                  <a:pt x="0" y="975033"/>
                </a:cubicBezTo>
                <a:lnTo>
                  <a:pt x="0" y="25001"/>
                </a:lnTo>
                <a:cubicBezTo>
                  <a:pt x="0" y="11203"/>
                  <a:pt x="14227" y="0"/>
                  <a:pt x="31750" y="0"/>
                </a:cubicBezTo>
                <a:close/>
              </a:path>
            </a:pathLst>
          </a:custGeom>
          <a:solidFill>
            <a:srgbClr val="2B7FFF"/>
          </a:solidFill>
          <a:ln/>
        </p:spPr>
      </p:sp>
      <p:sp>
        <p:nvSpPr>
          <p:cNvPr id="7" name="Shape 5"/>
          <p:cNvSpPr/>
          <p:nvPr/>
        </p:nvSpPr>
        <p:spPr>
          <a:xfrm>
            <a:off x="533995" y="1365205"/>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DBEAFE"/>
          </a:solidFill>
          <a:ln/>
        </p:spPr>
      </p:sp>
      <p:sp>
        <p:nvSpPr>
          <p:cNvPr id="8" name="Shape 6"/>
          <p:cNvSpPr/>
          <p:nvPr/>
        </p:nvSpPr>
        <p:spPr>
          <a:xfrm>
            <a:off x="672604" y="1504156"/>
            <a:ext cx="173633" cy="198438"/>
          </a:xfrm>
          <a:custGeom>
            <a:avLst/>
            <a:gdLst/>
            <a:ahLst/>
            <a:cxnLst/>
            <a:rect l="l" t="t" r="r" b="b"/>
            <a:pathLst>
              <a:path w="173633" h="198438">
                <a:moveTo>
                  <a:pt x="0" y="12402"/>
                </a:moveTo>
                <a:lnTo>
                  <a:pt x="83173" y="12402"/>
                </a:lnTo>
                <a:lnTo>
                  <a:pt x="83173" y="95576"/>
                </a:lnTo>
                <a:lnTo>
                  <a:pt x="0" y="95576"/>
                </a:lnTo>
                <a:lnTo>
                  <a:pt x="0" y="12402"/>
                </a:lnTo>
                <a:close/>
                <a:moveTo>
                  <a:pt x="90460" y="12402"/>
                </a:moveTo>
                <a:lnTo>
                  <a:pt x="173633" y="12402"/>
                </a:lnTo>
                <a:lnTo>
                  <a:pt x="173633" y="95576"/>
                </a:lnTo>
                <a:lnTo>
                  <a:pt x="90460" y="95576"/>
                </a:lnTo>
                <a:lnTo>
                  <a:pt x="90460" y="12402"/>
                </a:lnTo>
                <a:close/>
                <a:moveTo>
                  <a:pt x="0" y="102862"/>
                </a:moveTo>
                <a:lnTo>
                  <a:pt x="83173" y="102862"/>
                </a:lnTo>
                <a:lnTo>
                  <a:pt x="83173" y="186035"/>
                </a:lnTo>
                <a:lnTo>
                  <a:pt x="0" y="186035"/>
                </a:lnTo>
                <a:lnTo>
                  <a:pt x="0" y="102862"/>
                </a:lnTo>
                <a:close/>
                <a:moveTo>
                  <a:pt x="90460" y="102862"/>
                </a:moveTo>
                <a:lnTo>
                  <a:pt x="173633" y="102862"/>
                </a:lnTo>
                <a:lnTo>
                  <a:pt x="173633" y="186035"/>
                </a:lnTo>
                <a:lnTo>
                  <a:pt x="90460" y="186035"/>
                </a:lnTo>
                <a:lnTo>
                  <a:pt x="90460" y="102862"/>
                </a:lnTo>
                <a:close/>
              </a:path>
            </a:pathLst>
          </a:custGeom>
          <a:solidFill>
            <a:srgbClr val="155DFC"/>
          </a:solidFill>
          <a:ln/>
        </p:spPr>
      </p:sp>
      <p:sp>
        <p:nvSpPr>
          <p:cNvPr id="9" name="Text 7"/>
          <p:cNvSpPr/>
          <p:nvPr/>
        </p:nvSpPr>
        <p:spPr>
          <a:xfrm>
            <a:off x="1182688" y="1250950"/>
            <a:ext cx="1059259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PowerShell Documentation</a:t>
            </a:r>
            <a:endParaRPr lang="en-US" sz="1600" dirty="0"/>
          </a:p>
        </p:txBody>
      </p:sp>
      <p:sp>
        <p:nvSpPr>
          <p:cNvPr id="10" name="Text 8"/>
          <p:cNvSpPr/>
          <p:nvPr/>
        </p:nvSpPr>
        <p:spPr>
          <a:xfrm>
            <a:off x="1182688" y="1468438"/>
            <a:ext cx="5524352" cy="238125"/>
          </a:xfrm>
          <a:prstGeom prst="rect">
            <a:avLst/>
          </a:prstGeom>
          <a:noFill/>
          <a:ln/>
        </p:spPr>
        <p:txBody>
          <a:bodyPr wrap="square" lIns="0" tIns="0" rIns="0" bIns="0" rtlCol="0" anchor="ctr"/>
          <a:lstStyle/>
          <a:p>
            <a:pPr>
              <a:lnSpc>
                <a:spcPct val="130000"/>
              </a:lnSpc>
            </a:pPr>
            <a:r>
              <a:rPr lang="en-US" sz="1250" dirty="0">
                <a:solidFill>
                  <a:srgbClr val="45556C"/>
                </a:solidFill>
                <a:latin typeface="Quattrocento Sans" pitchFamily="34" charset="0"/>
                <a:ea typeface="Quattrocento Sans" pitchFamily="34" charset="-122"/>
                <a:cs typeface="Quattrocento Sans" pitchFamily="34" charset="-120"/>
              </a:rPr>
              <a:t>Official Microsoft documentation for PowerShell scripting language and cmdlets.</a:t>
            </a:r>
            <a:endParaRPr lang="en-US" sz="1600" dirty="0"/>
          </a:p>
        </p:txBody>
      </p:sp>
      <p:sp>
        <p:nvSpPr>
          <p:cNvPr id="11" name="Text 9"/>
          <p:cNvSpPr/>
          <p:nvPr/>
        </p:nvSpPr>
        <p:spPr>
          <a:xfrm>
            <a:off x="1182688" y="1671638"/>
            <a:ext cx="2054554" cy="198438"/>
          </a:xfrm>
          <a:prstGeom prst="rect">
            <a:avLst/>
          </a:prstGeom>
          <a:noFill/>
          <a:ln/>
        </p:spPr>
        <p:txBody>
          <a:bodyPr wrap="square" lIns="0" tIns="0" rIns="0" bIns="0" rtlCol="0" anchor="ctr"/>
          <a:lstStyle/>
          <a:p>
            <a:pPr>
              <a:lnSpc>
                <a:spcPct val="120000"/>
              </a:lnSpc>
            </a:pPr>
            <a:r>
              <a:rPr lang="en-US" sz="1094" dirty="0">
                <a:solidFill>
                  <a:srgbClr val="62748E"/>
                </a:solidFill>
                <a:latin typeface="Quattrocento Sans" pitchFamily="34" charset="0"/>
                <a:ea typeface="Quattrocento Sans" pitchFamily="34" charset="-122"/>
                <a:cs typeface="Quattrocento Sans" pitchFamily="34" charset="-120"/>
              </a:rPr>
              <a:t>docs.microsoft.com/powershell</a:t>
            </a:r>
            <a:endParaRPr lang="en-US" sz="1600" dirty="0"/>
          </a:p>
        </p:txBody>
      </p:sp>
      <p:sp>
        <p:nvSpPr>
          <p:cNvPr id="12" name="Shape 10"/>
          <p:cNvSpPr/>
          <p:nvPr/>
        </p:nvSpPr>
        <p:spPr>
          <a:xfrm>
            <a:off x="333375" y="2278063"/>
            <a:ext cx="11541125" cy="977899"/>
          </a:xfrm>
          <a:custGeom>
            <a:avLst/>
            <a:gdLst/>
            <a:ahLst/>
            <a:cxnLst/>
            <a:rect l="l" t="t" r="r" b="b"/>
            <a:pathLst>
              <a:path w="11541125" h="977899">
                <a:moveTo>
                  <a:pt x="31750" y="0"/>
                </a:moveTo>
                <a:lnTo>
                  <a:pt x="11461750" y="0"/>
                </a:lnTo>
                <a:cubicBezTo>
                  <a:pt x="11505558" y="0"/>
                  <a:pt x="11541125" y="27386"/>
                  <a:pt x="11541125" y="61119"/>
                </a:cubicBezTo>
                <a:lnTo>
                  <a:pt x="11541125" y="916780"/>
                </a:lnTo>
                <a:cubicBezTo>
                  <a:pt x="11541125" y="950513"/>
                  <a:pt x="11505558" y="977899"/>
                  <a:pt x="11461750" y="977899"/>
                </a:cubicBezTo>
                <a:lnTo>
                  <a:pt x="31750" y="977899"/>
                </a:lnTo>
                <a:cubicBezTo>
                  <a:pt x="14227" y="977899"/>
                  <a:pt x="0" y="966944"/>
                  <a:pt x="0" y="953452"/>
                </a:cubicBezTo>
                <a:lnTo>
                  <a:pt x="0" y="24447"/>
                </a:lnTo>
                <a:cubicBezTo>
                  <a:pt x="0" y="10955"/>
                  <a:pt x="14227" y="0"/>
                  <a:pt x="31750"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3" name="Shape 11"/>
          <p:cNvSpPr/>
          <p:nvPr/>
        </p:nvSpPr>
        <p:spPr>
          <a:xfrm>
            <a:off x="333375" y="2278063"/>
            <a:ext cx="31750" cy="977899"/>
          </a:xfrm>
          <a:custGeom>
            <a:avLst/>
            <a:gdLst/>
            <a:ahLst/>
            <a:cxnLst/>
            <a:rect l="l" t="t" r="r" b="b"/>
            <a:pathLst>
              <a:path w="31750" h="977899">
                <a:moveTo>
                  <a:pt x="31750" y="0"/>
                </a:moveTo>
                <a:lnTo>
                  <a:pt x="31750" y="0"/>
                </a:lnTo>
                <a:lnTo>
                  <a:pt x="31750" y="977899"/>
                </a:lnTo>
                <a:lnTo>
                  <a:pt x="31750" y="977899"/>
                </a:lnTo>
                <a:cubicBezTo>
                  <a:pt x="14227" y="977899"/>
                  <a:pt x="0" y="966944"/>
                  <a:pt x="0" y="953452"/>
                </a:cubicBezTo>
                <a:lnTo>
                  <a:pt x="0" y="24447"/>
                </a:lnTo>
                <a:cubicBezTo>
                  <a:pt x="0" y="10955"/>
                  <a:pt x="14227" y="0"/>
                  <a:pt x="31750" y="0"/>
                </a:cubicBezTo>
                <a:close/>
              </a:path>
            </a:pathLst>
          </a:custGeom>
          <a:solidFill>
            <a:srgbClr val="00C950"/>
          </a:solidFill>
          <a:ln/>
        </p:spPr>
      </p:sp>
      <p:sp>
        <p:nvSpPr>
          <p:cNvPr id="14" name="Shape 12"/>
          <p:cNvSpPr/>
          <p:nvPr/>
        </p:nvSpPr>
        <p:spPr>
          <a:xfrm>
            <a:off x="533995" y="2528887"/>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DCFCE7"/>
          </a:solidFill>
          <a:ln/>
        </p:spPr>
      </p:sp>
      <p:sp>
        <p:nvSpPr>
          <p:cNvPr id="15" name="Shape 13"/>
          <p:cNvSpPr/>
          <p:nvPr/>
        </p:nvSpPr>
        <p:spPr>
          <a:xfrm>
            <a:off x="672902" y="2667793"/>
            <a:ext cx="198438" cy="198438"/>
          </a:xfrm>
          <a:custGeom>
            <a:avLst/>
            <a:gdLst/>
            <a:ahLst/>
            <a:cxnLst/>
            <a:rect l="l" t="t" r="r" b="b"/>
            <a:pathLst>
              <a:path w="198438" h="198438">
                <a:moveTo>
                  <a:pt x="3643" y="45966"/>
                </a:moveTo>
                <a:cubicBezTo>
                  <a:pt x="-1201" y="41122"/>
                  <a:pt x="-1201" y="33254"/>
                  <a:pt x="3643" y="28409"/>
                </a:cubicBezTo>
                <a:cubicBezTo>
                  <a:pt x="8488" y="23564"/>
                  <a:pt x="16356" y="23564"/>
                  <a:pt x="21200" y="28409"/>
                </a:cubicBezTo>
                <a:lnTo>
                  <a:pt x="83212" y="90421"/>
                </a:lnTo>
                <a:cubicBezTo>
                  <a:pt x="88057" y="95266"/>
                  <a:pt x="88057" y="103133"/>
                  <a:pt x="83212" y="107978"/>
                </a:cubicBezTo>
                <a:lnTo>
                  <a:pt x="21200" y="169990"/>
                </a:lnTo>
                <a:cubicBezTo>
                  <a:pt x="16356" y="174834"/>
                  <a:pt x="8488" y="174834"/>
                  <a:pt x="3643" y="169990"/>
                </a:cubicBezTo>
                <a:cubicBezTo>
                  <a:pt x="-1201" y="165145"/>
                  <a:pt x="-1201" y="157277"/>
                  <a:pt x="3643" y="152433"/>
                </a:cubicBezTo>
                <a:lnTo>
                  <a:pt x="56857" y="99219"/>
                </a:lnTo>
                <a:lnTo>
                  <a:pt x="3643" y="45966"/>
                </a:lnTo>
                <a:close/>
                <a:moveTo>
                  <a:pt x="86816" y="148828"/>
                </a:moveTo>
                <a:lnTo>
                  <a:pt x="186035" y="148828"/>
                </a:lnTo>
                <a:cubicBezTo>
                  <a:pt x="192895" y="148828"/>
                  <a:pt x="198437" y="154370"/>
                  <a:pt x="198437" y="161230"/>
                </a:cubicBezTo>
                <a:cubicBezTo>
                  <a:pt x="198437" y="168091"/>
                  <a:pt x="192895" y="173633"/>
                  <a:pt x="186035" y="173633"/>
                </a:cubicBezTo>
                <a:lnTo>
                  <a:pt x="86816" y="173633"/>
                </a:lnTo>
                <a:cubicBezTo>
                  <a:pt x="79956" y="173633"/>
                  <a:pt x="74414" y="168091"/>
                  <a:pt x="74414" y="161230"/>
                </a:cubicBezTo>
                <a:cubicBezTo>
                  <a:pt x="74414" y="154370"/>
                  <a:pt x="79956" y="148828"/>
                  <a:pt x="86816" y="148828"/>
                </a:cubicBezTo>
                <a:close/>
              </a:path>
            </a:pathLst>
          </a:custGeom>
          <a:solidFill>
            <a:srgbClr val="00A63E"/>
          </a:solidFill>
          <a:ln/>
        </p:spPr>
      </p:sp>
      <p:sp>
        <p:nvSpPr>
          <p:cNvPr id="16" name="Text 14"/>
          <p:cNvSpPr/>
          <p:nvPr/>
        </p:nvSpPr>
        <p:spPr>
          <a:xfrm>
            <a:off x="1182688" y="2451100"/>
            <a:ext cx="2685211"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Bash Scripting Documentation</a:t>
            </a:r>
            <a:endParaRPr lang="en-US" sz="1600" dirty="0"/>
          </a:p>
        </p:txBody>
      </p:sp>
      <p:sp>
        <p:nvSpPr>
          <p:cNvPr id="17" name="Text 15"/>
          <p:cNvSpPr/>
          <p:nvPr/>
        </p:nvSpPr>
        <p:spPr>
          <a:xfrm>
            <a:off x="1182688" y="2668588"/>
            <a:ext cx="4913313" cy="238125"/>
          </a:xfrm>
          <a:prstGeom prst="rect">
            <a:avLst/>
          </a:prstGeom>
          <a:noFill/>
          <a:ln/>
        </p:spPr>
        <p:txBody>
          <a:bodyPr wrap="square" lIns="0" tIns="0" rIns="0" bIns="0" rtlCol="0" anchor="ctr"/>
          <a:lstStyle/>
          <a:p>
            <a:pPr>
              <a:lnSpc>
                <a:spcPct val="130000"/>
              </a:lnSpc>
            </a:pPr>
            <a:r>
              <a:rPr lang="en-US" sz="1250" dirty="0">
                <a:solidFill>
                  <a:srgbClr val="45556C"/>
                </a:solidFill>
                <a:latin typeface="Quattrocento Sans" pitchFamily="34" charset="0"/>
                <a:ea typeface="Quattrocento Sans" pitchFamily="34" charset="-122"/>
                <a:cs typeface="Quattrocento Sans" pitchFamily="34" charset="-120"/>
              </a:rPr>
              <a:t>GNU Bash reference manual and scripting guides for Unix-like systems.</a:t>
            </a:r>
            <a:endParaRPr lang="en-US" sz="1600" dirty="0"/>
          </a:p>
        </p:txBody>
      </p:sp>
      <p:sp>
        <p:nvSpPr>
          <p:cNvPr id="18" name="Text 16"/>
          <p:cNvSpPr/>
          <p:nvPr/>
        </p:nvSpPr>
        <p:spPr>
          <a:xfrm>
            <a:off x="1182688" y="2884488"/>
            <a:ext cx="10562828" cy="198438"/>
          </a:xfrm>
          <a:prstGeom prst="rect">
            <a:avLst/>
          </a:prstGeom>
          <a:noFill/>
          <a:ln/>
        </p:spPr>
        <p:txBody>
          <a:bodyPr wrap="square" lIns="0" tIns="0" rIns="0" bIns="0" rtlCol="0" anchor="ctr"/>
          <a:lstStyle/>
          <a:p>
            <a:pPr>
              <a:lnSpc>
                <a:spcPct val="120000"/>
              </a:lnSpc>
            </a:pPr>
            <a:r>
              <a:rPr lang="en-US" sz="1094" dirty="0">
                <a:solidFill>
                  <a:srgbClr val="62748E"/>
                </a:solidFill>
                <a:latin typeface="Quattrocento Sans" pitchFamily="34" charset="0"/>
                <a:ea typeface="Quattrocento Sans" pitchFamily="34" charset="-122"/>
                <a:cs typeface="Quattrocento Sans" pitchFamily="34" charset="-120"/>
              </a:rPr>
              <a:t>gnu.org/software/bash/manual</a:t>
            </a:r>
            <a:endParaRPr lang="en-US" sz="1600" dirty="0"/>
          </a:p>
        </p:txBody>
      </p:sp>
      <p:sp>
        <p:nvSpPr>
          <p:cNvPr id="19" name="Shape 17"/>
          <p:cNvSpPr/>
          <p:nvPr/>
        </p:nvSpPr>
        <p:spPr>
          <a:xfrm>
            <a:off x="333375" y="3414713"/>
            <a:ext cx="11541125" cy="973663"/>
          </a:xfrm>
          <a:custGeom>
            <a:avLst/>
            <a:gdLst/>
            <a:ahLst/>
            <a:cxnLst/>
            <a:rect l="l" t="t" r="r" b="b"/>
            <a:pathLst>
              <a:path w="11541125" h="973663">
                <a:moveTo>
                  <a:pt x="31750" y="0"/>
                </a:moveTo>
                <a:lnTo>
                  <a:pt x="11461750" y="0"/>
                </a:lnTo>
                <a:cubicBezTo>
                  <a:pt x="11505558" y="0"/>
                  <a:pt x="11541125" y="27268"/>
                  <a:pt x="11541125" y="60854"/>
                </a:cubicBezTo>
                <a:lnTo>
                  <a:pt x="11541125" y="912809"/>
                </a:lnTo>
                <a:cubicBezTo>
                  <a:pt x="11541125" y="946395"/>
                  <a:pt x="11505558" y="973663"/>
                  <a:pt x="11461750" y="973663"/>
                </a:cubicBezTo>
                <a:lnTo>
                  <a:pt x="31750" y="973663"/>
                </a:lnTo>
                <a:cubicBezTo>
                  <a:pt x="14227" y="973663"/>
                  <a:pt x="0" y="962756"/>
                  <a:pt x="0" y="949322"/>
                </a:cubicBezTo>
                <a:lnTo>
                  <a:pt x="0" y="24342"/>
                </a:lnTo>
                <a:cubicBezTo>
                  <a:pt x="0" y="10907"/>
                  <a:pt x="14227" y="0"/>
                  <a:pt x="31750"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0" name="Shape 18"/>
          <p:cNvSpPr/>
          <p:nvPr/>
        </p:nvSpPr>
        <p:spPr>
          <a:xfrm>
            <a:off x="333375" y="3414713"/>
            <a:ext cx="31750" cy="973663"/>
          </a:xfrm>
          <a:custGeom>
            <a:avLst/>
            <a:gdLst/>
            <a:ahLst/>
            <a:cxnLst/>
            <a:rect l="l" t="t" r="r" b="b"/>
            <a:pathLst>
              <a:path w="31750" h="973663">
                <a:moveTo>
                  <a:pt x="31750" y="0"/>
                </a:moveTo>
                <a:lnTo>
                  <a:pt x="31750" y="0"/>
                </a:lnTo>
                <a:lnTo>
                  <a:pt x="31750" y="973663"/>
                </a:lnTo>
                <a:lnTo>
                  <a:pt x="31750" y="973663"/>
                </a:lnTo>
                <a:cubicBezTo>
                  <a:pt x="14227" y="973663"/>
                  <a:pt x="0" y="962756"/>
                  <a:pt x="0" y="949322"/>
                </a:cubicBezTo>
                <a:lnTo>
                  <a:pt x="0" y="24342"/>
                </a:lnTo>
                <a:cubicBezTo>
                  <a:pt x="0" y="10907"/>
                  <a:pt x="14227" y="0"/>
                  <a:pt x="31750" y="0"/>
                </a:cubicBezTo>
                <a:close/>
              </a:path>
            </a:pathLst>
          </a:custGeom>
          <a:solidFill>
            <a:srgbClr val="FB2C36"/>
          </a:solidFill>
          <a:ln/>
        </p:spPr>
      </p:sp>
      <p:sp>
        <p:nvSpPr>
          <p:cNvPr id="21" name="Shape 19"/>
          <p:cNvSpPr/>
          <p:nvPr/>
        </p:nvSpPr>
        <p:spPr>
          <a:xfrm>
            <a:off x="547688" y="3613150"/>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FE2E2"/>
          </a:solidFill>
          <a:ln/>
        </p:spPr>
      </p:sp>
      <p:sp>
        <p:nvSpPr>
          <p:cNvPr id="22" name="Shape 20"/>
          <p:cNvSpPr/>
          <p:nvPr/>
        </p:nvSpPr>
        <p:spPr>
          <a:xfrm>
            <a:off x="673199" y="3764225"/>
            <a:ext cx="223242" cy="198438"/>
          </a:xfrm>
          <a:custGeom>
            <a:avLst/>
            <a:gdLst/>
            <a:ahLst/>
            <a:cxnLst/>
            <a:rect l="l" t="t" r="r" b="b"/>
            <a:pathLst>
              <a:path w="223242" h="198438">
                <a:moveTo>
                  <a:pt x="111621" y="111621"/>
                </a:moveTo>
                <a:lnTo>
                  <a:pt x="99219" y="111621"/>
                </a:lnTo>
                <a:lnTo>
                  <a:pt x="99219" y="86816"/>
                </a:lnTo>
                <a:lnTo>
                  <a:pt x="111621" y="86816"/>
                </a:lnTo>
                <a:lnTo>
                  <a:pt x="111621" y="111621"/>
                </a:lnTo>
                <a:close/>
                <a:moveTo>
                  <a:pt x="223242" y="62012"/>
                </a:moveTo>
                <a:lnTo>
                  <a:pt x="223242" y="136426"/>
                </a:lnTo>
                <a:lnTo>
                  <a:pt x="111621" y="136426"/>
                </a:lnTo>
                <a:lnTo>
                  <a:pt x="111621" y="148828"/>
                </a:lnTo>
                <a:lnTo>
                  <a:pt x="62012" y="148828"/>
                </a:lnTo>
                <a:lnTo>
                  <a:pt x="62012" y="136426"/>
                </a:lnTo>
                <a:lnTo>
                  <a:pt x="0" y="136426"/>
                </a:lnTo>
                <a:lnTo>
                  <a:pt x="0" y="62012"/>
                </a:lnTo>
                <a:lnTo>
                  <a:pt x="223242" y="62012"/>
                </a:lnTo>
                <a:close/>
                <a:moveTo>
                  <a:pt x="62012" y="74414"/>
                </a:moveTo>
                <a:lnTo>
                  <a:pt x="12402" y="74414"/>
                </a:lnTo>
                <a:lnTo>
                  <a:pt x="12402" y="124023"/>
                </a:lnTo>
                <a:lnTo>
                  <a:pt x="37207" y="124023"/>
                </a:lnTo>
                <a:lnTo>
                  <a:pt x="37207" y="86816"/>
                </a:lnTo>
                <a:lnTo>
                  <a:pt x="49609" y="86816"/>
                </a:lnTo>
                <a:lnTo>
                  <a:pt x="49609" y="124023"/>
                </a:lnTo>
                <a:lnTo>
                  <a:pt x="62012" y="124023"/>
                </a:lnTo>
                <a:lnTo>
                  <a:pt x="62012" y="74414"/>
                </a:lnTo>
                <a:close/>
                <a:moveTo>
                  <a:pt x="124023" y="74414"/>
                </a:moveTo>
                <a:lnTo>
                  <a:pt x="74414" y="74414"/>
                </a:lnTo>
                <a:lnTo>
                  <a:pt x="74414" y="136426"/>
                </a:lnTo>
                <a:lnTo>
                  <a:pt x="99219" y="136426"/>
                </a:lnTo>
                <a:lnTo>
                  <a:pt x="99219" y="124023"/>
                </a:lnTo>
                <a:lnTo>
                  <a:pt x="124023" y="124023"/>
                </a:lnTo>
                <a:lnTo>
                  <a:pt x="124023" y="74414"/>
                </a:lnTo>
                <a:close/>
                <a:moveTo>
                  <a:pt x="210840" y="74414"/>
                </a:moveTo>
                <a:lnTo>
                  <a:pt x="136426" y="74414"/>
                </a:lnTo>
                <a:lnTo>
                  <a:pt x="136426" y="124023"/>
                </a:lnTo>
                <a:lnTo>
                  <a:pt x="161230" y="124023"/>
                </a:lnTo>
                <a:lnTo>
                  <a:pt x="161230" y="86816"/>
                </a:lnTo>
                <a:lnTo>
                  <a:pt x="173633" y="86816"/>
                </a:lnTo>
                <a:lnTo>
                  <a:pt x="173633" y="124023"/>
                </a:lnTo>
                <a:lnTo>
                  <a:pt x="186035" y="124023"/>
                </a:lnTo>
                <a:lnTo>
                  <a:pt x="186035" y="86816"/>
                </a:lnTo>
                <a:lnTo>
                  <a:pt x="198437" y="86816"/>
                </a:lnTo>
                <a:lnTo>
                  <a:pt x="198437" y="124023"/>
                </a:lnTo>
                <a:lnTo>
                  <a:pt x="210840" y="124023"/>
                </a:lnTo>
                <a:lnTo>
                  <a:pt x="210840" y="74414"/>
                </a:lnTo>
                <a:close/>
              </a:path>
            </a:pathLst>
          </a:custGeom>
          <a:solidFill>
            <a:srgbClr val="E7000B"/>
          </a:solidFill>
          <a:ln/>
        </p:spPr>
      </p:sp>
      <p:sp>
        <p:nvSpPr>
          <p:cNvPr id="23" name="Text 21"/>
          <p:cNvSpPr/>
          <p:nvPr/>
        </p:nvSpPr>
        <p:spPr>
          <a:xfrm>
            <a:off x="1182688" y="3536950"/>
            <a:ext cx="1059259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npm Documentation</a:t>
            </a:r>
            <a:endParaRPr lang="en-US" sz="1600" dirty="0"/>
          </a:p>
        </p:txBody>
      </p:sp>
      <p:sp>
        <p:nvSpPr>
          <p:cNvPr id="24" name="Text 22"/>
          <p:cNvSpPr/>
          <p:nvPr/>
        </p:nvSpPr>
        <p:spPr>
          <a:xfrm>
            <a:off x="1182688" y="3754438"/>
            <a:ext cx="10572750" cy="238125"/>
          </a:xfrm>
          <a:prstGeom prst="rect">
            <a:avLst/>
          </a:prstGeom>
          <a:noFill/>
          <a:ln/>
        </p:spPr>
        <p:txBody>
          <a:bodyPr wrap="square" lIns="0" tIns="0" rIns="0" bIns="0" rtlCol="0" anchor="ctr"/>
          <a:lstStyle/>
          <a:p>
            <a:pPr>
              <a:lnSpc>
                <a:spcPct val="130000"/>
              </a:lnSpc>
            </a:pPr>
            <a:r>
              <a:rPr lang="en-US" sz="1250" dirty="0">
                <a:solidFill>
                  <a:srgbClr val="45556C"/>
                </a:solidFill>
                <a:latin typeface="Quattrocento Sans" pitchFamily="34" charset="0"/>
                <a:ea typeface="Quattrocento Sans" pitchFamily="34" charset="-122"/>
                <a:cs typeface="Quattrocento Sans" pitchFamily="34" charset="-120"/>
              </a:rPr>
              <a:t>Official npm documentation for package management and CLI commands.</a:t>
            </a:r>
            <a:endParaRPr lang="en-US" sz="1600" dirty="0"/>
          </a:p>
        </p:txBody>
      </p:sp>
      <p:sp>
        <p:nvSpPr>
          <p:cNvPr id="25" name="Text 23"/>
          <p:cNvSpPr/>
          <p:nvPr/>
        </p:nvSpPr>
        <p:spPr>
          <a:xfrm>
            <a:off x="1182688" y="3970338"/>
            <a:ext cx="10562828" cy="198438"/>
          </a:xfrm>
          <a:prstGeom prst="rect">
            <a:avLst/>
          </a:prstGeom>
          <a:noFill/>
          <a:ln/>
        </p:spPr>
        <p:txBody>
          <a:bodyPr wrap="square" lIns="0" tIns="0" rIns="0" bIns="0" rtlCol="0" anchor="ctr"/>
          <a:lstStyle/>
          <a:p>
            <a:pPr>
              <a:lnSpc>
                <a:spcPct val="120000"/>
              </a:lnSpc>
            </a:pPr>
            <a:r>
              <a:rPr lang="en-US" sz="1094" dirty="0">
                <a:solidFill>
                  <a:srgbClr val="62748E"/>
                </a:solidFill>
                <a:latin typeface="Quattrocento Sans" pitchFamily="34" charset="0"/>
                <a:ea typeface="Quattrocento Sans" pitchFamily="34" charset="-122"/>
                <a:cs typeface="Quattrocento Sans" pitchFamily="34" charset="-120"/>
              </a:rPr>
              <a:t>docs.npmjs.com</a:t>
            </a:r>
            <a:endParaRPr lang="en-US" sz="1600" dirty="0"/>
          </a:p>
        </p:txBody>
      </p:sp>
      <p:sp>
        <p:nvSpPr>
          <p:cNvPr id="26" name="Shape 24"/>
          <p:cNvSpPr/>
          <p:nvPr/>
        </p:nvSpPr>
        <p:spPr>
          <a:xfrm>
            <a:off x="325438" y="4556125"/>
            <a:ext cx="11541125" cy="957183"/>
          </a:xfrm>
          <a:custGeom>
            <a:avLst/>
            <a:gdLst/>
            <a:ahLst/>
            <a:cxnLst/>
            <a:rect l="l" t="t" r="r" b="b"/>
            <a:pathLst>
              <a:path w="11541125" h="957183">
                <a:moveTo>
                  <a:pt x="31750" y="0"/>
                </a:moveTo>
                <a:lnTo>
                  <a:pt x="11461750" y="0"/>
                </a:lnTo>
                <a:cubicBezTo>
                  <a:pt x="11505558" y="0"/>
                  <a:pt x="11541125" y="26806"/>
                  <a:pt x="11541125" y="59824"/>
                </a:cubicBezTo>
                <a:lnTo>
                  <a:pt x="11541125" y="897359"/>
                </a:lnTo>
                <a:cubicBezTo>
                  <a:pt x="11541125" y="930376"/>
                  <a:pt x="11505558" y="957183"/>
                  <a:pt x="11461750" y="957183"/>
                </a:cubicBezTo>
                <a:lnTo>
                  <a:pt x="31750" y="957183"/>
                </a:lnTo>
                <a:cubicBezTo>
                  <a:pt x="14227" y="957183"/>
                  <a:pt x="0" y="946460"/>
                  <a:pt x="0" y="933253"/>
                </a:cubicBezTo>
                <a:lnTo>
                  <a:pt x="0" y="23930"/>
                </a:lnTo>
                <a:cubicBezTo>
                  <a:pt x="0" y="10722"/>
                  <a:pt x="14227" y="0"/>
                  <a:pt x="31750"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27" name="Shape 25"/>
          <p:cNvSpPr/>
          <p:nvPr/>
        </p:nvSpPr>
        <p:spPr>
          <a:xfrm>
            <a:off x="333375" y="4564063"/>
            <a:ext cx="31750" cy="949245"/>
          </a:xfrm>
          <a:custGeom>
            <a:avLst/>
            <a:gdLst/>
            <a:ahLst/>
            <a:cxnLst/>
            <a:rect l="l" t="t" r="r" b="b"/>
            <a:pathLst>
              <a:path w="31750" h="949245">
                <a:moveTo>
                  <a:pt x="31750" y="0"/>
                </a:moveTo>
                <a:lnTo>
                  <a:pt x="31750" y="0"/>
                </a:lnTo>
                <a:lnTo>
                  <a:pt x="31750" y="949245"/>
                </a:lnTo>
                <a:lnTo>
                  <a:pt x="31750" y="949245"/>
                </a:lnTo>
                <a:cubicBezTo>
                  <a:pt x="14227" y="949245"/>
                  <a:pt x="0" y="938612"/>
                  <a:pt x="0" y="925514"/>
                </a:cubicBezTo>
                <a:lnTo>
                  <a:pt x="0" y="23731"/>
                </a:lnTo>
                <a:cubicBezTo>
                  <a:pt x="0" y="10634"/>
                  <a:pt x="14227" y="0"/>
                  <a:pt x="31750" y="0"/>
                </a:cubicBezTo>
                <a:close/>
              </a:path>
            </a:pathLst>
          </a:custGeom>
          <a:solidFill>
            <a:srgbClr val="F0B100"/>
          </a:solidFill>
          <a:ln/>
        </p:spPr>
      </p:sp>
      <p:sp>
        <p:nvSpPr>
          <p:cNvPr id="28" name="Shape 26"/>
          <p:cNvSpPr/>
          <p:nvPr/>
        </p:nvSpPr>
        <p:spPr>
          <a:xfrm>
            <a:off x="533995" y="4789263"/>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EF9C2"/>
          </a:solidFill>
          <a:ln/>
        </p:spPr>
      </p:sp>
      <p:sp>
        <p:nvSpPr>
          <p:cNvPr id="29" name="Shape 27"/>
          <p:cNvSpPr/>
          <p:nvPr/>
        </p:nvSpPr>
        <p:spPr>
          <a:xfrm>
            <a:off x="685304" y="4928169"/>
            <a:ext cx="173633" cy="198438"/>
          </a:xfrm>
          <a:custGeom>
            <a:avLst/>
            <a:gdLst/>
            <a:ahLst/>
            <a:cxnLst/>
            <a:rect l="l" t="t" r="r" b="b"/>
            <a:pathLst>
              <a:path w="173633" h="198438">
                <a:moveTo>
                  <a:pt x="170455" y="77708"/>
                </a:moveTo>
                <a:cubicBezTo>
                  <a:pt x="167470" y="65732"/>
                  <a:pt x="161812" y="56702"/>
                  <a:pt x="149758" y="56702"/>
                </a:cubicBezTo>
                <a:lnTo>
                  <a:pt x="134217" y="56702"/>
                </a:lnTo>
                <a:lnTo>
                  <a:pt x="134217" y="75073"/>
                </a:lnTo>
                <a:cubicBezTo>
                  <a:pt x="134217" y="89336"/>
                  <a:pt x="122124" y="101350"/>
                  <a:pt x="108327" y="101350"/>
                </a:cubicBezTo>
                <a:lnTo>
                  <a:pt x="66934" y="101350"/>
                </a:lnTo>
                <a:cubicBezTo>
                  <a:pt x="55617" y="101350"/>
                  <a:pt x="46237" y="111040"/>
                  <a:pt x="46237" y="122396"/>
                </a:cubicBezTo>
                <a:lnTo>
                  <a:pt x="46237" y="161851"/>
                </a:lnTo>
                <a:cubicBezTo>
                  <a:pt x="46237" y="173090"/>
                  <a:pt x="56004" y="179679"/>
                  <a:pt x="66934" y="182896"/>
                </a:cubicBezTo>
                <a:cubicBezTo>
                  <a:pt x="80034" y="186733"/>
                  <a:pt x="92630" y="187430"/>
                  <a:pt x="108327" y="182896"/>
                </a:cubicBezTo>
                <a:cubicBezTo>
                  <a:pt x="118752" y="179873"/>
                  <a:pt x="129023" y="173788"/>
                  <a:pt x="129023" y="161851"/>
                </a:cubicBezTo>
                <a:lnTo>
                  <a:pt x="129023" y="146076"/>
                </a:lnTo>
                <a:lnTo>
                  <a:pt x="87669" y="146076"/>
                </a:lnTo>
                <a:lnTo>
                  <a:pt x="87669" y="140805"/>
                </a:lnTo>
                <a:lnTo>
                  <a:pt x="149758" y="140805"/>
                </a:lnTo>
                <a:cubicBezTo>
                  <a:pt x="161812" y="140805"/>
                  <a:pt x="166269" y="132395"/>
                  <a:pt x="170455" y="119799"/>
                </a:cubicBezTo>
                <a:cubicBezTo>
                  <a:pt x="174796" y="106815"/>
                  <a:pt x="174602" y="94335"/>
                  <a:pt x="170455" y="77708"/>
                </a:cubicBezTo>
                <a:close/>
                <a:moveTo>
                  <a:pt x="110923" y="172354"/>
                </a:moveTo>
                <a:cubicBezTo>
                  <a:pt x="107974" y="172561"/>
                  <a:pt x="105155" y="171104"/>
                  <a:pt x="103617" y="168579"/>
                </a:cubicBezTo>
                <a:cubicBezTo>
                  <a:pt x="102079" y="166053"/>
                  <a:pt x="102079" y="162880"/>
                  <a:pt x="103617" y="160355"/>
                </a:cubicBezTo>
                <a:cubicBezTo>
                  <a:pt x="105155" y="157829"/>
                  <a:pt x="107974" y="156373"/>
                  <a:pt x="110923" y="156580"/>
                </a:cubicBezTo>
                <a:cubicBezTo>
                  <a:pt x="113873" y="156373"/>
                  <a:pt x="116692" y="157829"/>
                  <a:pt x="118230" y="160355"/>
                </a:cubicBezTo>
                <a:cubicBezTo>
                  <a:pt x="119768" y="162880"/>
                  <a:pt x="119768" y="166053"/>
                  <a:pt x="118230" y="168579"/>
                </a:cubicBezTo>
                <a:cubicBezTo>
                  <a:pt x="116692" y="171104"/>
                  <a:pt x="113873" y="172561"/>
                  <a:pt x="110923" y="172354"/>
                </a:cubicBezTo>
                <a:close/>
                <a:moveTo>
                  <a:pt x="65035" y="96157"/>
                </a:moveTo>
                <a:lnTo>
                  <a:pt x="106428" y="96157"/>
                </a:lnTo>
                <a:cubicBezTo>
                  <a:pt x="117939" y="96157"/>
                  <a:pt x="127124" y="86661"/>
                  <a:pt x="127124" y="75112"/>
                </a:cubicBezTo>
                <a:lnTo>
                  <a:pt x="127124" y="35618"/>
                </a:lnTo>
                <a:cubicBezTo>
                  <a:pt x="127124" y="24378"/>
                  <a:pt x="117667" y="15968"/>
                  <a:pt x="106428" y="14069"/>
                </a:cubicBezTo>
                <a:cubicBezTo>
                  <a:pt x="92552" y="11782"/>
                  <a:pt x="77476" y="11898"/>
                  <a:pt x="65035" y="14108"/>
                </a:cubicBezTo>
                <a:cubicBezTo>
                  <a:pt x="47516" y="17208"/>
                  <a:pt x="44338" y="23681"/>
                  <a:pt x="44338" y="35657"/>
                </a:cubicBezTo>
                <a:lnTo>
                  <a:pt x="44338" y="51431"/>
                </a:lnTo>
                <a:lnTo>
                  <a:pt x="85770" y="51431"/>
                </a:lnTo>
                <a:lnTo>
                  <a:pt x="85770" y="56702"/>
                </a:lnTo>
                <a:lnTo>
                  <a:pt x="28797" y="56702"/>
                </a:lnTo>
                <a:cubicBezTo>
                  <a:pt x="16743" y="56702"/>
                  <a:pt x="6201" y="63950"/>
                  <a:pt x="2907" y="77708"/>
                </a:cubicBezTo>
                <a:cubicBezTo>
                  <a:pt x="-891" y="93483"/>
                  <a:pt x="-1046" y="103327"/>
                  <a:pt x="2907" y="119799"/>
                </a:cubicBezTo>
                <a:cubicBezTo>
                  <a:pt x="5852" y="132046"/>
                  <a:pt x="12867" y="140805"/>
                  <a:pt x="24921" y="140805"/>
                </a:cubicBezTo>
                <a:lnTo>
                  <a:pt x="39145" y="140805"/>
                </a:lnTo>
                <a:lnTo>
                  <a:pt x="39145" y="121892"/>
                </a:lnTo>
                <a:cubicBezTo>
                  <a:pt x="39145" y="108210"/>
                  <a:pt x="50966" y="96157"/>
                  <a:pt x="65035" y="96157"/>
                </a:cubicBezTo>
                <a:close/>
                <a:moveTo>
                  <a:pt x="62477" y="25076"/>
                </a:moveTo>
                <a:cubicBezTo>
                  <a:pt x="66841" y="25076"/>
                  <a:pt x="70383" y="28619"/>
                  <a:pt x="70383" y="32982"/>
                </a:cubicBezTo>
                <a:cubicBezTo>
                  <a:pt x="70383" y="37346"/>
                  <a:pt x="66841" y="40889"/>
                  <a:pt x="62477" y="40889"/>
                </a:cubicBezTo>
                <a:cubicBezTo>
                  <a:pt x="58113" y="40889"/>
                  <a:pt x="54570" y="37346"/>
                  <a:pt x="54570" y="32982"/>
                </a:cubicBezTo>
                <a:cubicBezTo>
                  <a:pt x="54570" y="28619"/>
                  <a:pt x="58113" y="25076"/>
                  <a:pt x="62477" y="25076"/>
                </a:cubicBezTo>
                <a:close/>
              </a:path>
            </a:pathLst>
          </a:custGeom>
          <a:solidFill>
            <a:srgbClr val="D08700"/>
          </a:solidFill>
          <a:ln/>
        </p:spPr>
      </p:sp>
      <p:sp>
        <p:nvSpPr>
          <p:cNvPr id="30" name="Text 28"/>
          <p:cNvSpPr/>
          <p:nvPr/>
        </p:nvSpPr>
        <p:spPr>
          <a:xfrm>
            <a:off x="1182688" y="4648200"/>
            <a:ext cx="1059259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pip Documentation</a:t>
            </a:r>
            <a:endParaRPr lang="en-US" sz="1600" dirty="0"/>
          </a:p>
        </p:txBody>
      </p:sp>
      <p:sp>
        <p:nvSpPr>
          <p:cNvPr id="31" name="Text 29"/>
          <p:cNvSpPr/>
          <p:nvPr/>
        </p:nvSpPr>
        <p:spPr>
          <a:xfrm>
            <a:off x="1182688" y="4878388"/>
            <a:ext cx="10572750" cy="238125"/>
          </a:xfrm>
          <a:prstGeom prst="rect">
            <a:avLst/>
          </a:prstGeom>
          <a:noFill/>
          <a:ln/>
        </p:spPr>
        <p:txBody>
          <a:bodyPr wrap="square" lIns="0" tIns="0" rIns="0" bIns="0" rtlCol="0" anchor="ctr"/>
          <a:lstStyle/>
          <a:p>
            <a:pPr>
              <a:lnSpc>
                <a:spcPct val="130000"/>
              </a:lnSpc>
            </a:pPr>
            <a:r>
              <a:rPr lang="en-US" sz="1250" dirty="0">
                <a:solidFill>
                  <a:srgbClr val="45556C"/>
                </a:solidFill>
                <a:latin typeface="Quattrocento Sans" pitchFamily="34" charset="0"/>
                <a:ea typeface="Quattrocento Sans" pitchFamily="34" charset="-122"/>
                <a:cs typeface="Quattrocento Sans" pitchFamily="34" charset="-120"/>
              </a:rPr>
              <a:t>Python Packaging Authority documentation for pip package installer.</a:t>
            </a:r>
            <a:endParaRPr lang="en-US" sz="1600" dirty="0"/>
          </a:p>
        </p:txBody>
      </p:sp>
      <p:sp>
        <p:nvSpPr>
          <p:cNvPr id="32" name="Text 30"/>
          <p:cNvSpPr/>
          <p:nvPr/>
        </p:nvSpPr>
        <p:spPr>
          <a:xfrm>
            <a:off x="1182688" y="5081588"/>
            <a:ext cx="10562828" cy="198438"/>
          </a:xfrm>
          <a:prstGeom prst="rect">
            <a:avLst/>
          </a:prstGeom>
          <a:noFill/>
          <a:ln/>
        </p:spPr>
        <p:txBody>
          <a:bodyPr wrap="square" lIns="0" tIns="0" rIns="0" bIns="0" rtlCol="0" anchor="ctr"/>
          <a:lstStyle/>
          <a:p>
            <a:pPr>
              <a:lnSpc>
                <a:spcPct val="120000"/>
              </a:lnSpc>
            </a:pPr>
            <a:r>
              <a:rPr lang="en-US" sz="1094" dirty="0">
                <a:solidFill>
                  <a:srgbClr val="62748E"/>
                </a:solidFill>
                <a:latin typeface="Quattrocento Sans" pitchFamily="34" charset="0"/>
                <a:ea typeface="Quattrocento Sans" pitchFamily="34" charset="-122"/>
                <a:cs typeface="Quattrocento Sans" pitchFamily="34" charset="-120"/>
              </a:rPr>
              <a:t>pip.pypa.io</a:t>
            </a:r>
            <a:endParaRPr lang="en-US" sz="1600" dirty="0"/>
          </a:p>
        </p:txBody>
      </p:sp>
      <p:sp>
        <p:nvSpPr>
          <p:cNvPr id="33" name="Shape 31"/>
          <p:cNvSpPr/>
          <p:nvPr/>
        </p:nvSpPr>
        <p:spPr>
          <a:xfrm>
            <a:off x="333375" y="5662613"/>
            <a:ext cx="11541125" cy="937838"/>
          </a:xfrm>
          <a:custGeom>
            <a:avLst/>
            <a:gdLst/>
            <a:ahLst/>
            <a:cxnLst/>
            <a:rect l="l" t="t" r="r" b="b"/>
            <a:pathLst>
              <a:path w="11541125" h="937838">
                <a:moveTo>
                  <a:pt x="31750" y="0"/>
                </a:moveTo>
                <a:lnTo>
                  <a:pt x="11461750" y="0"/>
                </a:lnTo>
                <a:cubicBezTo>
                  <a:pt x="11505558" y="0"/>
                  <a:pt x="11541125" y="26264"/>
                  <a:pt x="11541125" y="58615"/>
                </a:cubicBezTo>
                <a:lnTo>
                  <a:pt x="11541125" y="879223"/>
                </a:lnTo>
                <a:cubicBezTo>
                  <a:pt x="11541125" y="911573"/>
                  <a:pt x="11505558" y="937838"/>
                  <a:pt x="11461750" y="937838"/>
                </a:cubicBezTo>
                <a:lnTo>
                  <a:pt x="31750" y="937838"/>
                </a:lnTo>
                <a:cubicBezTo>
                  <a:pt x="14227" y="937838"/>
                  <a:pt x="0" y="927332"/>
                  <a:pt x="0" y="914392"/>
                </a:cubicBezTo>
                <a:lnTo>
                  <a:pt x="0" y="23446"/>
                </a:lnTo>
                <a:cubicBezTo>
                  <a:pt x="0" y="10506"/>
                  <a:pt x="14227" y="0"/>
                  <a:pt x="31750"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34" name="Shape 32"/>
          <p:cNvSpPr/>
          <p:nvPr/>
        </p:nvSpPr>
        <p:spPr>
          <a:xfrm>
            <a:off x="333375" y="5675313"/>
            <a:ext cx="31750" cy="925138"/>
          </a:xfrm>
          <a:custGeom>
            <a:avLst/>
            <a:gdLst/>
            <a:ahLst/>
            <a:cxnLst/>
            <a:rect l="l" t="t" r="r" b="b"/>
            <a:pathLst>
              <a:path w="31750" h="925138">
                <a:moveTo>
                  <a:pt x="31750" y="0"/>
                </a:moveTo>
                <a:lnTo>
                  <a:pt x="31750" y="0"/>
                </a:lnTo>
                <a:lnTo>
                  <a:pt x="31750" y="925138"/>
                </a:lnTo>
                <a:lnTo>
                  <a:pt x="31750" y="925138"/>
                </a:lnTo>
                <a:cubicBezTo>
                  <a:pt x="14227" y="925138"/>
                  <a:pt x="0" y="914774"/>
                  <a:pt x="0" y="902009"/>
                </a:cubicBezTo>
                <a:lnTo>
                  <a:pt x="0" y="23128"/>
                </a:lnTo>
                <a:cubicBezTo>
                  <a:pt x="0" y="10364"/>
                  <a:pt x="14227" y="0"/>
                  <a:pt x="31750" y="0"/>
                </a:cubicBezTo>
                <a:close/>
              </a:path>
            </a:pathLst>
          </a:custGeom>
          <a:solidFill>
            <a:srgbClr val="AD46FF"/>
          </a:solidFill>
          <a:ln/>
        </p:spPr>
      </p:sp>
      <p:sp>
        <p:nvSpPr>
          <p:cNvPr id="35" name="Shape 33"/>
          <p:cNvSpPr/>
          <p:nvPr/>
        </p:nvSpPr>
        <p:spPr>
          <a:xfrm>
            <a:off x="533995" y="5893406"/>
            <a:ext cx="476250" cy="476250"/>
          </a:xfrm>
          <a:custGeom>
            <a:avLst/>
            <a:gdLst/>
            <a:ahLst/>
            <a:cxnLst/>
            <a:rect l="l" t="t" r="r" b="b"/>
            <a:pathLst>
              <a:path w="476250" h="476250">
                <a:moveTo>
                  <a:pt x="238125" y="0"/>
                </a:moveTo>
                <a:lnTo>
                  <a:pt x="238125" y="0"/>
                </a:lnTo>
                <a:cubicBezTo>
                  <a:pt x="369550" y="0"/>
                  <a:pt x="476250" y="106700"/>
                  <a:pt x="476250" y="238125"/>
                </a:cubicBezTo>
                <a:lnTo>
                  <a:pt x="476250" y="238125"/>
                </a:lnTo>
                <a:cubicBezTo>
                  <a:pt x="476250" y="369550"/>
                  <a:pt x="369550" y="476250"/>
                  <a:pt x="238125" y="476250"/>
                </a:cubicBezTo>
                <a:lnTo>
                  <a:pt x="238125" y="476250"/>
                </a:lnTo>
                <a:cubicBezTo>
                  <a:pt x="106700" y="476250"/>
                  <a:pt x="0" y="369550"/>
                  <a:pt x="0" y="238125"/>
                </a:cubicBezTo>
                <a:lnTo>
                  <a:pt x="0" y="238125"/>
                </a:lnTo>
                <a:cubicBezTo>
                  <a:pt x="0" y="106700"/>
                  <a:pt x="106700" y="0"/>
                  <a:pt x="238125" y="0"/>
                </a:cubicBezTo>
                <a:close/>
              </a:path>
            </a:pathLst>
          </a:custGeom>
          <a:solidFill>
            <a:srgbClr val="F3E8FF"/>
          </a:solidFill>
          <a:ln/>
        </p:spPr>
      </p:sp>
      <p:sp>
        <p:nvSpPr>
          <p:cNvPr id="36" name="Shape 34"/>
          <p:cNvSpPr/>
          <p:nvPr/>
        </p:nvSpPr>
        <p:spPr>
          <a:xfrm>
            <a:off x="685304" y="6025356"/>
            <a:ext cx="173633" cy="198438"/>
          </a:xfrm>
          <a:custGeom>
            <a:avLst/>
            <a:gdLst/>
            <a:ahLst/>
            <a:cxnLst/>
            <a:rect l="l" t="t" r="r" b="b"/>
            <a:pathLst>
              <a:path w="173633" h="198438">
                <a:moveTo>
                  <a:pt x="143170" y="49609"/>
                </a:moveTo>
                <a:lnTo>
                  <a:pt x="129876" y="31006"/>
                </a:lnTo>
                <a:lnTo>
                  <a:pt x="43796" y="31006"/>
                </a:lnTo>
                <a:lnTo>
                  <a:pt x="30502" y="49609"/>
                </a:lnTo>
                <a:lnTo>
                  <a:pt x="143170" y="49609"/>
                </a:lnTo>
                <a:close/>
                <a:moveTo>
                  <a:pt x="0" y="57555"/>
                </a:moveTo>
                <a:cubicBezTo>
                  <a:pt x="0" y="52400"/>
                  <a:pt x="1628" y="47361"/>
                  <a:pt x="4612" y="43137"/>
                </a:cubicBezTo>
                <a:lnTo>
                  <a:pt x="23603" y="16588"/>
                </a:lnTo>
                <a:cubicBezTo>
                  <a:pt x="28254" y="10077"/>
                  <a:pt x="35773" y="6201"/>
                  <a:pt x="43757" y="6201"/>
                </a:cubicBezTo>
                <a:lnTo>
                  <a:pt x="129837" y="6201"/>
                </a:lnTo>
                <a:cubicBezTo>
                  <a:pt x="137860" y="6201"/>
                  <a:pt x="145379" y="10077"/>
                  <a:pt x="150030" y="16588"/>
                </a:cubicBezTo>
                <a:lnTo>
                  <a:pt x="168982" y="43137"/>
                </a:lnTo>
                <a:cubicBezTo>
                  <a:pt x="172005" y="47361"/>
                  <a:pt x="173594" y="52400"/>
                  <a:pt x="173594" y="57555"/>
                </a:cubicBezTo>
                <a:lnTo>
                  <a:pt x="173633" y="161230"/>
                </a:lnTo>
                <a:cubicBezTo>
                  <a:pt x="173633" y="174912"/>
                  <a:pt x="162509" y="186035"/>
                  <a:pt x="148828" y="186035"/>
                </a:cubicBezTo>
                <a:lnTo>
                  <a:pt x="24805" y="186035"/>
                </a:lnTo>
                <a:cubicBezTo>
                  <a:pt x="11123" y="186035"/>
                  <a:pt x="0" y="174912"/>
                  <a:pt x="0" y="161230"/>
                </a:cubicBezTo>
                <a:lnTo>
                  <a:pt x="0" y="57555"/>
                </a:lnTo>
                <a:close/>
              </a:path>
            </a:pathLst>
          </a:custGeom>
          <a:solidFill>
            <a:srgbClr val="9810FA"/>
          </a:solidFill>
          <a:ln/>
        </p:spPr>
      </p:sp>
      <p:sp>
        <p:nvSpPr>
          <p:cNvPr id="37" name="Text 35"/>
          <p:cNvSpPr/>
          <p:nvPr/>
        </p:nvSpPr>
        <p:spPr>
          <a:xfrm>
            <a:off x="1174750" y="5802919"/>
            <a:ext cx="10592594" cy="277813"/>
          </a:xfrm>
          <a:prstGeom prst="rect">
            <a:avLst/>
          </a:prstGeom>
          <a:noFill/>
          <a:ln/>
        </p:spPr>
        <p:txBody>
          <a:bodyPr wrap="square" lIns="0" tIns="0" rIns="0" bIns="0" rtlCol="0" anchor="ctr"/>
          <a:lstStyle/>
          <a:p>
            <a:pPr>
              <a:lnSpc>
                <a:spcPct val="120000"/>
              </a:lnSpc>
            </a:pPr>
            <a:r>
              <a:rPr lang="en-US" sz="1563" b="1" dirty="0">
                <a:solidFill>
                  <a:srgbClr val="1D293D"/>
                </a:solidFill>
                <a:latin typeface="Quattrocento Sans" pitchFamily="34" charset="0"/>
                <a:ea typeface="Quattrocento Sans" pitchFamily="34" charset="-122"/>
                <a:cs typeface="Quattrocento Sans" pitchFamily="34" charset="-120"/>
              </a:rPr>
              <a:t>Composer Documentation</a:t>
            </a:r>
            <a:endParaRPr lang="en-US" sz="1600" dirty="0"/>
          </a:p>
        </p:txBody>
      </p:sp>
      <p:sp>
        <p:nvSpPr>
          <p:cNvPr id="38" name="Text 36"/>
          <p:cNvSpPr/>
          <p:nvPr/>
        </p:nvSpPr>
        <p:spPr>
          <a:xfrm>
            <a:off x="1182688" y="6015038"/>
            <a:ext cx="10572750" cy="238125"/>
          </a:xfrm>
          <a:prstGeom prst="rect">
            <a:avLst/>
          </a:prstGeom>
          <a:noFill/>
          <a:ln/>
        </p:spPr>
        <p:txBody>
          <a:bodyPr wrap="square" lIns="0" tIns="0" rIns="0" bIns="0" rtlCol="0" anchor="ctr"/>
          <a:lstStyle/>
          <a:p>
            <a:pPr>
              <a:lnSpc>
                <a:spcPct val="130000"/>
              </a:lnSpc>
            </a:pPr>
            <a:r>
              <a:rPr lang="en-US" sz="1250" dirty="0">
                <a:solidFill>
                  <a:srgbClr val="45556C"/>
                </a:solidFill>
                <a:latin typeface="Quattrocento Sans" pitchFamily="34" charset="0"/>
                <a:ea typeface="Quattrocento Sans" pitchFamily="34" charset="-122"/>
                <a:cs typeface="Quattrocento Sans" pitchFamily="34" charset="-120"/>
              </a:rPr>
              <a:t>Official documentation for PHP dependency manager and autoloader.</a:t>
            </a:r>
            <a:endParaRPr lang="en-US" sz="1600" dirty="0"/>
          </a:p>
        </p:txBody>
      </p:sp>
      <p:sp>
        <p:nvSpPr>
          <p:cNvPr id="39" name="Text 37"/>
          <p:cNvSpPr/>
          <p:nvPr/>
        </p:nvSpPr>
        <p:spPr>
          <a:xfrm>
            <a:off x="1182688" y="6218238"/>
            <a:ext cx="10562828" cy="198438"/>
          </a:xfrm>
          <a:prstGeom prst="rect">
            <a:avLst/>
          </a:prstGeom>
          <a:noFill/>
          <a:ln/>
        </p:spPr>
        <p:txBody>
          <a:bodyPr wrap="square" lIns="0" tIns="0" rIns="0" bIns="0" rtlCol="0" anchor="ctr"/>
          <a:lstStyle/>
          <a:p>
            <a:pPr>
              <a:lnSpc>
                <a:spcPct val="120000"/>
              </a:lnSpc>
            </a:pPr>
            <a:r>
              <a:rPr lang="en-US" sz="1094" dirty="0">
                <a:solidFill>
                  <a:srgbClr val="62748E"/>
                </a:solidFill>
                <a:latin typeface="Quattrocento Sans" pitchFamily="34" charset="0"/>
                <a:ea typeface="Quattrocento Sans" pitchFamily="34" charset="-122"/>
                <a:cs typeface="Quattrocento Sans" pitchFamily="34" charset="-120"/>
              </a:rPr>
              <a:t>getcomposer.org/doc</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Environment Manager - Seminar Presentation</dc:title>
  <dc:subject>Development Environment Manager - Seminar Presentation</dc:subject>
  <dc:creator>Kimi</dc:creator>
  <cp:lastModifiedBy>Kimi</cp:lastModifiedBy>
  <cp:revision>1</cp:revision>
  <dcterms:created xsi:type="dcterms:W3CDTF">2026-02-19T20:53:11Z</dcterms:created>
  <dcterms:modified xsi:type="dcterms:W3CDTF">2026-02-19T20:53:11Z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{"Label":"Development Environment Manager - Seminar Presentation","ContentProducer":"001191110108MACG2KBH8F10000","ProduceID":"19c3278d-3072-8b46-8000-0000167ce154","ReservedCode1":"","ContentPropagator":"001191110108MACG2KBH8F20000","PropagateID":"19c3278d-3072-8b46-8000-0000167ce154","ReservedCode2":""}</vt:lpwstr>
  </property>
</Properties>
</file>